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30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*</a:t>
            </a:r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/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BD8924-0547-4FD0-B3B2-719C1FBA969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2F0C3E-5DD1-4BB5-9BD0-0E3AFE7F540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3FCFDCC-58D7-48CF-95C0-ECA2CDAFC12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F95A1EF-6FDA-4E68-8113-395930C9B19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4B4343-84C4-4C3D-AC78-6F710BE083A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D91D227-3130-4676-86AF-F8D66CC0462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090FC74-B4A2-444D-8BA2-11E422C101B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2BE26BE-B8CF-4489-A80D-45D87E80376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BF69373-ED43-4CF9-8DA5-5FD798F816C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9408" y="6388608"/>
            <a:ext cx="3048" cy="309372"/>
          </a:xfrm>
          <a:custGeom>
            <a:avLst/>
            <a:gdLst/>
            <a:ahLst/>
            <a:cxnLst/>
            <a:rect l="l" t="t" r="r" b="b"/>
            <a:pathLst>
              <a:path w="3048" h="309371">
                <a:moveTo>
                  <a:pt x="0" y="309371"/>
                </a:moveTo>
                <a:lnTo>
                  <a:pt x="3048" y="309371"/>
                </a:lnTo>
                <a:lnTo>
                  <a:pt x="3048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155448"/>
            <a:ext cx="8839200" cy="1237488"/>
          </a:xfrm>
          <a:custGeom>
            <a:avLst/>
            <a:gdLst/>
            <a:ahLst/>
            <a:cxnLst/>
            <a:rect l="l" t="t" r="r" b="b"/>
            <a:pathLst>
              <a:path w="8839200" h="1237488">
                <a:moveTo>
                  <a:pt x="0" y="1237488"/>
                </a:moveTo>
                <a:lnTo>
                  <a:pt x="8839200" y="1237488"/>
                </a:lnTo>
                <a:lnTo>
                  <a:pt x="8839200" y="0"/>
                </a:lnTo>
                <a:lnTo>
                  <a:pt x="0" y="0"/>
                </a:lnTo>
                <a:lnTo>
                  <a:pt x="0" y="1237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" y="0"/>
            <a:ext cx="8839200" cy="155448"/>
          </a:xfrm>
          <a:custGeom>
            <a:avLst/>
            <a:gdLst/>
            <a:ahLst/>
            <a:cxnLst/>
            <a:rect l="l" t="t" r="r" b="b"/>
            <a:pathLst>
              <a:path w="8839200" h="155448">
                <a:moveTo>
                  <a:pt x="0" y="155448"/>
                </a:moveTo>
                <a:lnTo>
                  <a:pt x="8839200" y="155448"/>
                </a:lnTo>
                <a:lnTo>
                  <a:pt x="8839200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6304" y="6391656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2">
                <a:moveTo>
                  <a:pt x="0" y="309372"/>
                </a:moveTo>
                <a:lnTo>
                  <a:pt x="8833104" y="309372"/>
                </a:lnTo>
                <a:lnTo>
                  <a:pt x="883310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" y="158496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6972"/>
            <a:ext cx="8833866" cy="11201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2" name="object 2"/>
          <p:cNvSpPr txBox="1"/>
          <p:nvPr/>
        </p:nvSpPr>
        <p:spPr>
          <a:xfrm>
            <a:off x="152400" y="6390132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"/>
          <p:cNvSpPr txBox="1"/>
          <p:nvPr/>
        </p:nvSpPr>
        <p:spPr>
          <a:xfrm>
            <a:off x="1752600" y="685800"/>
            <a:ext cx="420497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800">
              <a:latin typeface="Calibri Light"/>
              <a:cs typeface="Calibri Light"/>
            </a:endParaRPr>
          </a:p>
        </p:txBody>
      </p:sp>
      <p:sp>
        <p:nvSpPr>
          <p:cNvPr id="22" name="object 4"/>
          <p:cNvSpPr txBox="1"/>
          <p:nvPr/>
        </p:nvSpPr>
        <p:spPr>
          <a:xfrm>
            <a:off x="4516932" y="6492909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p</a:t>
            </a:r>
            <a:endParaRPr kumimoji="0" lang="en-US" sz="1800" b="0" i="0" u="none" strike="noStrike" kern="1200" cap="none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1676400" y="2895600"/>
            <a:ext cx="6096000" cy="609600"/>
          </a:xfrm>
          <a:prstGeom prst="rect">
            <a:avLst/>
          </a:prstGeom>
        </p:spPr>
        <p:txBody>
          <a:bodyPr/>
          <a:lstStyle/>
          <a:p>
            <a: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kumimoji="0" lang="en-US" sz="2800" b="0" i="0" u="none" strike="noStrike" kern="1200" cap="none" spc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Department of Computer Engineering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endParaRPr kumimoji="0" lang="en-US" sz="3200" b="0" i="0" u="none" strike="noStrike" kern="1200" cap="none" spc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1676400" y="4267200"/>
            <a:ext cx="55626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Subject:- Theory of Computation Unit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9408" y="6388608"/>
            <a:ext cx="3048" cy="309372"/>
          </a:xfrm>
          <a:custGeom>
            <a:avLst/>
            <a:gdLst/>
            <a:ahLst/>
            <a:cxnLst/>
            <a:rect l="l" t="t" r="r" b="b"/>
            <a:pathLst>
              <a:path w="3048" h="309371">
                <a:moveTo>
                  <a:pt x="0" y="309371"/>
                </a:moveTo>
                <a:lnTo>
                  <a:pt x="3048" y="309371"/>
                </a:lnTo>
                <a:lnTo>
                  <a:pt x="3048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155448"/>
            <a:ext cx="8839200" cy="1237488"/>
          </a:xfrm>
          <a:custGeom>
            <a:avLst/>
            <a:gdLst/>
            <a:ahLst/>
            <a:cxnLst/>
            <a:rect l="l" t="t" r="r" b="b"/>
            <a:pathLst>
              <a:path w="8839200" h="1237488">
                <a:moveTo>
                  <a:pt x="0" y="1237488"/>
                </a:moveTo>
                <a:lnTo>
                  <a:pt x="8839200" y="1237488"/>
                </a:lnTo>
                <a:lnTo>
                  <a:pt x="8839200" y="0"/>
                </a:lnTo>
                <a:lnTo>
                  <a:pt x="0" y="0"/>
                </a:lnTo>
                <a:lnTo>
                  <a:pt x="0" y="1237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" y="0"/>
            <a:ext cx="8839200" cy="155448"/>
          </a:xfrm>
          <a:custGeom>
            <a:avLst/>
            <a:gdLst/>
            <a:ahLst/>
            <a:cxnLst/>
            <a:rect l="l" t="t" r="r" b="b"/>
            <a:pathLst>
              <a:path w="8839200" h="155448">
                <a:moveTo>
                  <a:pt x="0" y="155448"/>
                </a:moveTo>
                <a:lnTo>
                  <a:pt x="8839200" y="155448"/>
                </a:lnTo>
                <a:lnTo>
                  <a:pt x="8839200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6304" y="6391656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2">
                <a:moveTo>
                  <a:pt x="0" y="309372"/>
                </a:moveTo>
                <a:lnTo>
                  <a:pt x="8833104" y="309372"/>
                </a:lnTo>
                <a:lnTo>
                  <a:pt x="883310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" y="158496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6972"/>
            <a:ext cx="8833866" cy="11201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71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286351" marR="3432805" indent="-567" algn="ctr">
              <a:lnSpc>
                <a:spcPts val="3749"/>
              </a:lnSpc>
              <a:spcBef>
                <a:spcPts val="2362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Tract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ble </a:t>
            </a:r>
            <a:endParaRPr sz="3300">
              <a:latin typeface="Georgia"/>
              <a:cs typeface="Georgia"/>
            </a:endParaRPr>
          </a:p>
          <a:p>
            <a:pPr marL="3286351" marR="3432805" algn="ctr">
              <a:lnSpc>
                <a:spcPts val="3749"/>
              </a:lnSpc>
              <a:spcBef>
                <a:spcPts val="20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and </a:t>
            </a:r>
            <a:endParaRPr sz="3300">
              <a:latin typeface="Georgia"/>
              <a:cs typeface="Georgia"/>
            </a:endParaRPr>
          </a:p>
          <a:p>
            <a:pPr marL="3286351" marR="3432805" algn="ctr">
              <a:lnSpc>
                <a:spcPts val="3749"/>
              </a:lnSpc>
              <a:spcBef>
                <a:spcPts val="20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Intractab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l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endParaRPr sz="3300">
              <a:latin typeface="Georgia"/>
              <a:cs typeface="Georgia"/>
            </a:endParaRPr>
          </a:p>
          <a:p>
            <a:pPr marL="3591305" marR="3891893" algn="ctr">
              <a:lnSpc>
                <a:spcPct val="94685"/>
              </a:lnSpc>
              <a:spcBef>
                <a:spcPts val="8094"/>
              </a:spcBef>
            </a:pPr>
            <a:r>
              <a:rPr sz="2400" spc="0" dirty="0">
                <a:latin typeface="Georgia"/>
                <a:cs typeface="Georgia"/>
              </a:rPr>
              <a:t>U</a:t>
            </a:r>
            <a:r>
              <a:rPr sz="2400" spc="-9" dirty="0">
                <a:latin typeface="Georgia"/>
                <a:cs typeface="Georgia"/>
              </a:rPr>
              <a:t>N</a:t>
            </a:r>
            <a:r>
              <a:rPr sz="2400" spc="0" dirty="0">
                <a:latin typeface="Georgia"/>
                <a:cs typeface="Georgia"/>
              </a:rPr>
              <a:t>IT -</a:t>
            </a:r>
            <a:r>
              <a:rPr sz="2400" spc="-4" dirty="0">
                <a:latin typeface="Georgia"/>
                <a:cs typeface="Georgia"/>
              </a:rPr>
              <a:t>VI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90132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126869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Tr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ct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bi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l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ity</a:t>
            </a:r>
            <a:r>
              <a:rPr sz="3300" spc="-2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of a prob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l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em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2462" indent="-274320" algn="just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172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Tra</a:t>
            </a:r>
            <a:r>
              <a:rPr sz="2700" spc="-4" dirty="0">
                <a:latin typeface="Georgia"/>
                <a:cs typeface="Georgia"/>
              </a:rPr>
              <a:t>c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ability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of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problem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re</a:t>
            </a:r>
            <a:r>
              <a:rPr sz="2700" spc="-14" dirty="0">
                <a:latin typeface="Georgia"/>
                <a:cs typeface="Georgia"/>
              </a:rPr>
              <a:t>f</a:t>
            </a:r>
            <a:r>
              <a:rPr sz="2700" spc="0" dirty="0">
                <a:latin typeface="Georgia"/>
                <a:cs typeface="Georgia"/>
              </a:rPr>
              <a:t>ers</a:t>
            </a:r>
            <a:r>
              <a:rPr sz="2700" spc="4" dirty="0">
                <a:latin typeface="Georgia"/>
                <a:cs typeface="Georgia"/>
              </a:rPr>
              <a:t> 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dif</a:t>
            </a:r>
            <a:r>
              <a:rPr sz="2700" spc="-19" dirty="0">
                <a:latin typeface="Georgia"/>
                <a:cs typeface="Georgia"/>
              </a:rPr>
              <a:t>f</a:t>
            </a:r>
            <a:r>
              <a:rPr sz="2700" spc="0" dirty="0">
                <a:latin typeface="Georgia"/>
                <a:cs typeface="Georgia"/>
              </a:rPr>
              <a:t>icu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ty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level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</a:t>
            </a:r>
            <a:endParaRPr sz="2700">
              <a:latin typeface="Georgia"/>
              <a:cs typeface="Georgia"/>
            </a:endParaRPr>
          </a:p>
          <a:p>
            <a:pPr marL="515112" marR="212462" algn="just">
              <a:lnSpc>
                <a:spcPts val="3067"/>
              </a:lnSpc>
              <a:spcBef>
                <a:spcPts val="171"/>
              </a:spcBef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robl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-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. 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Difficulty  in 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rms 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am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unt </a:t>
            </a:r>
            <a:r>
              <a:rPr sz="2700" spc="2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</a:t>
            </a:r>
            <a:r>
              <a:rPr sz="2700" spc="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time 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it </a:t>
            </a:r>
            <a:endParaRPr sz="2700">
              <a:latin typeface="Georgia"/>
              <a:cs typeface="Georgia"/>
            </a:endParaRPr>
          </a:p>
          <a:p>
            <a:pPr marL="515112" marR="212462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ta</a:t>
            </a:r>
            <a:r>
              <a:rPr sz="2700" spc="4" dirty="0">
                <a:latin typeface="Georgia"/>
                <a:cs typeface="Georgia"/>
              </a:rPr>
              <a:t>k</a:t>
            </a:r>
            <a:r>
              <a:rPr sz="2700" spc="0" dirty="0">
                <a:latin typeface="Georgia"/>
                <a:cs typeface="Georgia"/>
              </a:rPr>
              <a:t>es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ve that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problem.</a:t>
            </a:r>
            <a:endParaRPr sz="2700">
              <a:latin typeface="Georgia"/>
              <a:cs typeface="Georgia"/>
            </a:endParaRPr>
          </a:p>
          <a:p>
            <a:pPr marL="515112" marR="214538" indent="-274320" algn="just">
              <a:lnSpc>
                <a:spcPts val="3067"/>
              </a:lnSpc>
              <a:spcBef>
                <a:spcPts val="82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700" spc="0" dirty="0">
                <a:latin typeface="Georgia"/>
                <a:cs typeface="Georgia"/>
              </a:rPr>
              <a:t>Tra</a:t>
            </a:r>
            <a:r>
              <a:rPr sz="2700" spc="-4" dirty="0">
                <a:latin typeface="Georgia"/>
                <a:cs typeface="Georgia"/>
              </a:rPr>
              <a:t>c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ability</a:t>
            </a:r>
            <a:r>
              <a:rPr sz="2700" spc="88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8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rel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8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with</a:t>
            </a:r>
            <a:r>
              <a:rPr sz="2700" spc="9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93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time</a:t>
            </a:r>
            <a:r>
              <a:rPr sz="2700" spc="9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compl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xity</a:t>
            </a:r>
            <a:r>
              <a:rPr sz="2700" spc="78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10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</a:t>
            </a:r>
            <a:endParaRPr sz="2700">
              <a:latin typeface="Georgia"/>
              <a:cs typeface="Georgia"/>
            </a:endParaRPr>
          </a:p>
          <a:p>
            <a:pPr marL="515112" marR="214538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sol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tion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gorith</a:t>
            </a:r>
            <a:r>
              <a:rPr sz="2700" spc="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9140" y="1831848"/>
            <a:ext cx="7696200" cy="39624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5216" marR="267475" algn="ctr">
              <a:lnSpc>
                <a:spcPts val="3510"/>
              </a:lnSpc>
              <a:spcBef>
                <a:spcPts val="175"/>
              </a:spcBef>
            </a:pP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Some com</a:t>
            </a:r>
            <a:r>
              <a:rPr sz="3200" spc="-9" dirty="0">
                <a:solidFill>
                  <a:srgbClr val="8B438F"/>
                </a:solidFill>
                <a:latin typeface="Georgia"/>
                <a:cs typeface="Georgia"/>
              </a:rPr>
              <a:t>m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on function</a:t>
            </a:r>
            <a:r>
              <a:rPr sz="3200" spc="-9" dirty="0">
                <a:solidFill>
                  <a:srgbClr val="8B438F"/>
                </a:solidFill>
                <a:latin typeface="Georgia"/>
                <a:cs typeface="Georgia"/>
              </a:rPr>
              <a:t>s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,</a:t>
            </a:r>
            <a:r>
              <a:rPr sz="3200" spc="-2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or</a:t>
            </a:r>
            <a:r>
              <a:rPr sz="3200" spc="-14" dirty="0">
                <a:solidFill>
                  <a:srgbClr val="8B438F"/>
                </a:solidFill>
                <a:latin typeface="Georgia"/>
                <a:cs typeface="Georgia"/>
              </a:rPr>
              <a:t>d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ered</a:t>
            </a:r>
            <a:r>
              <a:rPr sz="3200" spc="-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200" spc="9" dirty="0">
                <a:solidFill>
                  <a:srgbClr val="8B438F"/>
                </a:solidFill>
                <a:latin typeface="Georgia"/>
                <a:cs typeface="Georgia"/>
              </a:rPr>
              <a:t>b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y</a:t>
            </a:r>
            <a:r>
              <a:rPr sz="32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how</a:t>
            </a:r>
            <a:r>
              <a:rPr sz="32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fast</a:t>
            </a:r>
            <a:endParaRPr sz="3200">
              <a:latin typeface="Georgia"/>
              <a:cs typeface="Georgia"/>
            </a:endParaRPr>
          </a:p>
          <a:p>
            <a:pPr marL="3435819" marR="3437862" algn="ctr">
              <a:lnSpc>
                <a:spcPct val="94685"/>
              </a:lnSpc>
              <a:spcBef>
                <a:spcPts val="29"/>
              </a:spcBef>
            </a:pP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they</a:t>
            </a:r>
            <a:r>
              <a:rPr sz="32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200" spc="0" dirty="0">
                <a:solidFill>
                  <a:srgbClr val="8B438F"/>
                </a:solidFill>
                <a:latin typeface="Georgia"/>
                <a:cs typeface="Georgia"/>
              </a:rPr>
              <a:t>grow.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08997" marR="340931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Continue..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86714" indent="-274320">
              <a:lnSpc>
                <a:spcPts val="3090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b="1" spc="0" dirty="0">
                <a:latin typeface="Georgia"/>
                <a:cs typeface="Georgia"/>
              </a:rPr>
              <a:t>Polynom</a:t>
            </a:r>
            <a:r>
              <a:rPr sz="2700" b="1" spc="9" dirty="0">
                <a:latin typeface="Georgia"/>
                <a:cs typeface="Georgia"/>
              </a:rPr>
              <a:t>i</a:t>
            </a:r>
            <a:r>
              <a:rPr sz="2700" b="1" spc="0" dirty="0">
                <a:latin typeface="Georgia"/>
                <a:cs typeface="Georgia"/>
              </a:rPr>
              <a:t>al</a:t>
            </a:r>
            <a:r>
              <a:rPr sz="2700" b="1" spc="-25" dirty="0">
                <a:latin typeface="Georgia"/>
                <a:cs typeface="Georgia"/>
              </a:rPr>
              <a:t> </a:t>
            </a:r>
            <a:r>
              <a:rPr sz="2700" b="1" spc="0" dirty="0">
                <a:latin typeface="Georgia"/>
                <a:cs typeface="Georgia"/>
              </a:rPr>
              <a:t>functions:</a:t>
            </a:r>
            <a:r>
              <a:rPr sz="2700" b="1" spc="-4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Any function </a:t>
            </a:r>
            <a:r>
              <a:rPr sz="2700" spc="9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hat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</a:t>
            </a:r>
            <a:r>
              <a:rPr sz="2700" spc="-4" dirty="0">
                <a:latin typeface="Georgia"/>
                <a:cs typeface="Georgia"/>
              </a:rPr>
              <a:t>O(</a:t>
            </a:r>
            <a:r>
              <a:rPr sz="2700" spc="0" dirty="0">
                <a:latin typeface="Georgia"/>
                <a:cs typeface="Georgia"/>
              </a:rPr>
              <a:t>n</a:t>
            </a:r>
            <a:r>
              <a:rPr sz="2700" spc="-4" baseline="26000" dirty="0">
                <a:latin typeface="Georgia"/>
                <a:cs typeface="Georgia"/>
              </a:rPr>
              <a:t>k</a:t>
            </a:r>
            <a:r>
              <a:rPr sz="2700" spc="0" dirty="0">
                <a:latin typeface="Georgia"/>
                <a:cs typeface="Georgia"/>
              </a:rPr>
              <a:t>), </a:t>
            </a:r>
            <a:endParaRPr sz="2700">
              <a:latin typeface="Georgia"/>
              <a:cs typeface="Georgia"/>
            </a:endParaRPr>
          </a:p>
          <a:p>
            <a:pPr marL="515112" marR="286714">
              <a:lnSpc>
                <a:spcPts val="3067"/>
              </a:lnSpc>
              <a:spcBef>
                <a:spcPts val="173"/>
              </a:spcBef>
            </a:pPr>
            <a:r>
              <a:rPr sz="2700" spc="0" dirty="0">
                <a:latin typeface="Georgia"/>
                <a:cs typeface="Georgia"/>
              </a:rPr>
              <a:t>for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-9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constant  </a:t>
            </a:r>
            <a:r>
              <a:rPr sz="2700" spc="4" dirty="0">
                <a:latin typeface="Georgia"/>
                <a:cs typeface="Georgia"/>
              </a:rPr>
              <a:t>k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ts val="2503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z="1500" spc="326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E.g.</a:t>
            </a:r>
            <a:r>
              <a:rPr sz="2200" spc="-4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O(1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200" spc="-4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(log</a:t>
            </a:r>
            <a:r>
              <a:rPr sz="2200" spc="-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n),</a:t>
            </a:r>
            <a:r>
              <a:rPr sz="2200" spc="-2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O(n),</a:t>
            </a:r>
            <a:r>
              <a:rPr sz="2200" spc="-5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O(n</a:t>
            </a:r>
            <a:r>
              <a:rPr sz="2200" spc="-3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×</a:t>
            </a:r>
            <a:r>
              <a:rPr sz="2200" spc="-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log</a:t>
            </a:r>
            <a:r>
              <a:rPr sz="2200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n),</a:t>
            </a:r>
            <a:r>
              <a:rPr sz="2200" spc="-2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O(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175" spc="0" baseline="26000" dirty="0">
                <a:solidFill>
                  <a:srgbClr val="424455"/>
                </a:solidFill>
                <a:latin typeface="Georgia"/>
                <a:cs typeface="Georgia"/>
              </a:rPr>
              <a:t>2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),</a:t>
            </a:r>
            <a:r>
              <a:rPr sz="2200" spc="-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O(n</a:t>
            </a:r>
            <a:r>
              <a:rPr sz="2175" spc="-4" baseline="26000" dirty="0">
                <a:solidFill>
                  <a:srgbClr val="424455"/>
                </a:solidFill>
                <a:latin typeface="Georgia"/>
                <a:cs typeface="Georgia"/>
              </a:rPr>
              <a:t>3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endParaRPr sz="22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11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b="1" spc="0" dirty="0">
                <a:latin typeface="Georgia"/>
                <a:cs typeface="Georgia"/>
              </a:rPr>
              <a:t>Exponential</a:t>
            </a:r>
            <a:r>
              <a:rPr sz="2700" b="1" spc="24" dirty="0">
                <a:latin typeface="Georgia"/>
                <a:cs typeface="Georgia"/>
              </a:rPr>
              <a:t> </a:t>
            </a:r>
            <a:r>
              <a:rPr sz="2700" b="1" spc="0" dirty="0">
                <a:latin typeface="Georgia"/>
                <a:cs typeface="Georgia"/>
              </a:rPr>
              <a:t>functions:</a:t>
            </a:r>
            <a:r>
              <a:rPr sz="2700" b="1" spc="-4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rem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ining </a:t>
            </a:r>
            <a:r>
              <a:rPr sz="2700" spc="-9" dirty="0">
                <a:latin typeface="Georgia"/>
                <a:cs typeface="Georgia"/>
              </a:rPr>
              <a:t>f</a:t>
            </a:r>
            <a:r>
              <a:rPr sz="2700" spc="0" dirty="0">
                <a:latin typeface="Georgia"/>
                <a:cs typeface="Georgia"/>
              </a:rPr>
              <a:t>unctions.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ts val="2503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E.g.</a:t>
            </a:r>
            <a:r>
              <a:rPr sz="2200" spc="-3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2</a:t>
            </a:r>
            <a:r>
              <a:rPr sz="2175" spc="0" baseline="2600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),</a:t>
            </a:r>
            <a:r>
              <a:rPr sz="2200" spc="-4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O(n!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200" spc="-7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175" spc="0" baseline="2600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98913" marR="3499631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Tract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ble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48"/>
              </a:spcBef>
            </a:pPr>
            <a:endParaRPr sz="50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0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000" spc="189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latin typeface="Georgia"/>
                <a:cs typeface="Georgia"/>
              </a:rPr>
              <a:t>Pro</a:t>
            </a:r>
            <a:r>
              <a:rPr sz="2400" spc="4" dirty="0">
                <a:latin typeface="Georgia"/>
                <a:cs typeface="Georgia"/>
              </a:rPr>
              <a:t>b</a:t>
            </a:r>
            <a:r>
              <a:rPr sz="2400" spc="0" dirty="0">
                <a:latin typeface="Georgia"/>
                <a:cs typeface="Georgia"/>
              </a:rPr>
              <a:t>le</a:t>
            </a:r>
            <a:r>
              <a:rPr sz="2400" spc="9" dirty="0">
                <a:latin typeface="Georgia"/>
                <a:cs typeface="Georgia"/>
              </a:rPr>
              <a:t>m</a:t>
            </a:r>
            <a:r>
              <a:rPr sz="2400" spc="0" dirty="0">
                <a:latin typeface="Georgia"/>
                <a:cs typeface="Georgia"/>
              </a:rPr>
              <a:t>s </a:t>
            </a:r>
            <a:r>
              <a:rPr sz="2400" spc="26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that </a:t>
            </a:r>
            <a:r>
              <a:rPr sz="2400" spc="25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can </a:t>
            </a:r>
            <a:r>
              <a:rPr sz="2400" spc="254" dirty="0">
                <a:latin typeface="Georgia"/>
                <a:cs typeface="Georgia"/>
              </a:rPr>
              <a:t> </a:t>
            </a:r>
            <a:r>
              <a:rPr sz="2400" spc="9" dirty="0">
                <a:latin typeface="Georgia"/>
                <a:cs typeface="Georgia"/>
              </a:rPr>
              <a:t>b</a:t>
            </a:r>
            <a:r>
              <a:rPr sz="2400" spc="0" dirty="0">
                <a:latin typeface="Georgia"/>
                <a:cs typeface="Georgia"/>
              </a:rPr>
              <a:t>e </a:t>
            </a:r>
            <a:r>
              <a:rPr sz="2400" spc="26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sol</a:t>
            </a:r>
            <a:r>
              <a:rPr sz="2400" spc="-9" dirty="0">
                <a:latin typeface="Georgia"/>
                <a:cs typeface="Georgia"/>
              </a:rPr>
              <a:t>v</a:t>
            </a:r>
            <a:r>
              <a:rPr sz="2400" spc="0" dirty="0">
                <a:latin typeface="Georgia"/>
                <a:cs typeface="Georgia"/>
              </a:rPr>
              <a:t>ed </a:t>
            </a:r>
            <a:r>
              <a:rPr sz="2400" spc="264" dirty="0">
                <a:latin typeface="Georgia"/>
                <a:cs typeface="Georgia"/>
              </a:rPr>
              <a:t> 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n </a:t>
            </a:r>
            <a:r>
              <a:rPr sz="2400" spc="25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reason</a:t>
            </a:r>
            <a:r>
              <a:rPr sz="2400" spc="14" dirty="0">
                <a:latin typeface="Georgia"/>
                <a:cs typeface="Georgia"/>
              </a:rPr>
              <a:t>a</a:t>
            </a:r>
            <a:r>
              <a:rPr sz="2400" spc="0" dirty="0">
                <a:latin typeface="Georgia"/>
                <a:cs typeface="Georgia"/>
              </a:rPr>
              <a:t>ble </a:t>
            </a:r>
            <a:r>
              <a:rPr sz="2400" spc="26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time </a:t>
            </a:r>
            <a:r>
              <a:rPr sz="2400" spc="26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c</a:t>
            </a:r>
            <a:r>
              <a:rPr sz="2400" spc="4" dirty="0">
                <a:latin typeface="Georgia"/>
                <a:cs typeface="Georgia"/>
              </a:rPr>
              <a:t>a</a:t>
            </a:r>
            <a:r>
              <a:rPr sz="2400" spc="0" dirty="0">
                <a:latin typeface="Georgia"/>
                <a:cs typeface="Georgia"/>
              </a:rPr>
              <a:t>lled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50"/>
              </a:spcBef>
            </a:pPr>
            <a:r>
              <a:rPr sz="2400" spc="0" dirty="0">
                <a:latin typeface="Georgia"/>
                <a:cs typeface="Georgia"/>
              </a:rPr>
              <a:t>Tr</a:t>
            </a:r>
            <a:r>
              <a:rPr sz="2400" spc="4" dirty="0">
                <a:latin typeface="Georgia"/>
                <a:cs typeface="Georgia"/>
              </a:rPr>
              <a:t>a</a:t>
            </a:r>
            <a:r>
              <a:rPr sz="2400" spc="0" dirty="0">
                <a:latin typeface="Georgia"/>
                <a:cs typeface="Georgia"/>
              </a:rPr>
              <a:t>cta</a:t>
            </a:r>
            <a:r>
              <a:rPr sz="2400" spc="4" dirty="0">
                <a:latin typeface="Georgia"/>
                <a:cs typeface="Georgia"/>
              </a:rPr>
              <a:t>b</a:t>
            </a:r>
            <a:r>
              <a:rPr sz="2400" spc="0" dirty="0">
                <a:latin typeface="Georgia"/>
                <a:cs typeface="Georgia"/>
              </a:rPr>
              <a:t>l</a:t>
            </a:r>
            <a:r>
              <a:rPr sz="2400" spc="4" dirty="0">
                <a:latin typeface="Georgia"/>
                <a:cs typeface="Georgia"/>
              </a:rPr>
              <a:t>e</a:t>
            </a:r>
            <a:r>
              <a:rPr sz="2400" spc="0" dirty="0">
                <a:latin typeface="Georgia"/>
                <a:cs typeface="Georgia"/>
              </a:rPr>
              <a:t>.  OR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729"/>
              </a:spcBef>
            </a:pPr>
            <a:r>
              <a:rPr sz="20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000" spc="189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latin typeface="Georgia"/>
                <a:cs typeface="Georgia"/>
              </a:rPr>
              <a:t>A</a:t>
            </a:r>
            <a:r>
              <a:rPr sz="2400" spc="578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problem</a:t>
            </a:r>
            <a:r>
              <a:rPr sz="2400" spc="1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that 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s</a:t>
            </a:r>
            <a:r>
              <a:rPr sz="2400" spc="-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sol</a:t>
            </a:r>
            <a:r>
              <a:rPr sz="2400" spc="-9" dirty="0">
                <a:latin typeface="Georgia"/>
                <a:cs typeface="Georgia"/>
              </a:rPr>
              <a:t>v</a:t>
            </a:r>
            <a:r>
              <a:rPr sz="2400" spc="0" dirty="0">
                <a:latin typeface="Georgia"/>
                <a:cs typeface="Georgia"/>
              </a:rPr>
              <a:t>able</a:t>
            </a:r>
            <a:r>
              <a:rPr sz="2400" spc="2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by a poly</a:t>
            </a:r>
            <a:r>
              <a:rPr sz="2400" spc="-9" dirty="0">
                <a:latin typeface="Georgia"/>
                <a:cs typeface="Georgia"/>
              </a:rPr>
              <a:t>n</a:t>
            </a:r>
            <a:r>
              <a:rPr sz="2400" spc="0" dirty="0">
                <a:latin typeface="Georgia"/>
                <a:cs typeface="Georgia"/>
              </a:rPr>
              <a:t>omia</a:t>
            </a:r>
            <a:r>
              <a:rPr sz="2400" spc="9" dirty="0">
                <a:latin typeface="Georgia"/>
                <a:cs typeface="Georgia"/>
              </a:rPr>
              <a:t>l</a:t>
            </a:r>
            <a:r>
              <a:rPr sz="2400" spc="0" dirty="0">
                <a:latin typeface="Georgia"/>
                <a:cs typeface="Georgia"/>
              </a:rPr>
              <a:t>-time</a:t>
            </a:r>
            <a:r>
              <a:rPr sz="2400" spc="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algor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th</a:t>
            </a:r>
            <a:r>
              <a:rPr sz="2400" spc="-4" dirty="0">
                <a:latin typeface="Georgia"/>
                <a:cs typeface="Georgia"/>
              </a:rPr>
              <a:t>m</a:t>
            </a:r>
            <a:r>
              <a:rPr sz="2400" spc="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515112" marR="353693" indent="-274320">
              <a:lnSpc>
                <a:spcPts val="2726"/>
              </a:lnSpc>
              <a:spcBef>
                <a:spcPts val="731"/>
              </a:spcBef>
              <a:tabLst>
                <a:tab pos="508000" algn="l"/>
              </a:tabLst>
            </a:pPr>
            <a:r>
              <a:rPr sz="200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0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0" dirty="0">
                <a:latin typeface="Georgia"/>
                <a:cs typeface="Georgia"/>
              </a:rPr>
              <a:t>H</a:t>
            </a:r>
            <a:r>
              <a:rPr sz="2400" spc="4" dirty="0">
                <a:latin typeface="Georgia"/>
                <a:cs typeface="Georgia"/>
              </a:rPr>
              <a:t>e</a:t>
            </a:r>
            <a:r>
              <a:rPr sz="2400" spc="0" dirty="0">
                <a:latin typeface="Georgia"/>
                <a:cs typeface="Georgia"/>
              </a:rPr>
              <a:t>re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are</a:t>
            </a:r>
            <a:r>
              <a:rPr sz="2400" spc="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examples of tract</a:t>
            </a:r>
            <a:r>
              <a:rPr sz="2400" spc="4" dirty="0">
                <a:latin typeface="Georgia"/>
                <a:cs typeface="Georgia"/>
              </a:rPr>
              <a:t>a</a:t>
            </a:r>
            <a:r>
              <a:rPr sz="2400" spc="0" dirty="0">
                <a:latin typeface="Georgia"/>
                <a:cs typeface="Georgia"/>
              </a:rPr>
              <a:t>ble problems</a:t>
            </a:r>
            <a:r>
              <a:rPr sz="2400" spc="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(ones </a:t>
            </a:r>
            <a:r>
              <a:rPr sz="2400" spc="-9" dirty="0">
                <a:latin typeface="Georgia"/>
                <a:cs typeface="Georgia"/>
              </a:rPr>
              <a:t>w</a:t>
            </a:r>
            <a:r>
              <a:rPr sz="2400" spc="0" dirty="0">
                <a:latin typeface="Georgia"/>
                <a:cs typeface="Georgia"/>
              </a:rPr>
              <a:t>ith</a:t>
            </a:r>
            <a:r>
              <a:rPr sz="2400" spc="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kno</a:t>
            </a:r>
            <a:r>
              <a:rPr sz="2400" spc="-4" dirty="0">
                <a:latin typeface="Georgia"/>
                <a:cs typeface="Georgia"/>
              </a:rPr>
              <a:t>w</a:t>
            </a:r>
            <a:r>
              <a:rPr sz="2400" spc="0" dirty="0">
                <a:latin typeface="Georgia"/>
                <a:cs typeface="Georgia"/>
              </a:rPr>
              <a:t>n </a:t>
            </a:r>
            <a:endParaRPr sz="2400">
              <a:latin typeface="Georgia"/>
              <a:cs typeface="Georgia"/>
            </a:endParaRPr>
          </a:p>
          <a:p>
            <a:pPr marL="515112" marR="353693">
              <a:lnSpc>
                <a:spcPts val="2726"/>
              </a:lnSpc>
              <a:spcBef>
                <a:spcPts val="152"/>
              </a:spcBef>
              <a:tabLst>
                <a:tab pos="508000" algn="l"/>
              </a:tabLst>
            </a:pPr>
            <a:r>
              <a:rPr sz="2400" spc="0" dirty="0">
                <a:latin typeface="Georgia"/>
                <a:cs typeface="Georgia"/>
              </a:rPr>
              <a:t>polynomia</a:t>
            </a:r>
            <a:r>
              <a:rPr sz="2400" spc="-4" dirty="0">
                <a:latin typeface="Georgia"/>
                <a:cs typeface="Georgia"/>
              </a:rPr>
              <a:t>l</a:t>
            </a:r>
            <a:r>
              <a:rPr sz="2400" spc="0" dirty="0">
                <a:latin typeface="Georgia"/>
                <a:cs typeface="Georgia"/>
              </a:rPr>
              <a:t>-time</a:t>
            </a:r>
            <a:r>
              <a:rPr sz="2400" spc="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algor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th</a:t>
            </a:r>
            <a:r>
              <a:rPr sz="2400" spc="-4" dirty="0">
                <a:latin typeface="Georgia"/>
                <a:cs typeface="Georgia"/>
              </a:rPr>
              <a:t>m</a:t>
            </a:r>
            <a:r>
              <a:rPr sz="2400" spc="0" dirty="0">
                <a:latin typeface="Georgia"/>
                <a:cs typeface="Georgia"/>
              </a:rPr>
              <a:t>s):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72"/>
              </a:spcBef>
            </a:pPr>
            <a:r>
              <a:rPr sz="1300" spc="4" dirty="0">
                <a:solidFill>
                  <a:srgbClr val="438085"/>
                </a:solidFill>
                <a:latin typeface="Georgia"/>
                <a:cs typeface="Georgia"/>
              </a:rPr>
              <a:t>1</a:t>
            </a:r>
            <a:r>
              <a:rPr sz="1300" spc="0" dirty="0">
                <a:solidFill>
                  <a:srgbClr val="438085"/>
                </a:solidFill>
                <a:latin typeface="Georgia"/>
                <a:cs typeface="Georgia"/>
              </a:rPr>
              <a:t>.       </a:t>
            </a:r>
            <a:r>
              <a:rPr sz="1300" spc="181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Sea</a:t>
            </a:r>
            <a:r>
              <a:rPr sz="19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ching</a:t>
            </a:r>
            <a:r>
              <a:rPr sz="1900" spc="-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an unordered</a:t>
            </a:r>
            <a:r>
              <a:rPr sz="1900" spc="-8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st</a:t>
            </a:r>
            <a:endParaRPr sz="19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77"/>
              </a:spcBef>
            </a:pPr>
            <a:r>
              <a:rPr sz="1300" spc="0" dirty="0">
                <a:solidFill>
                  <a:srgbClr val="438085"/>
                </a:solidFill>
                <a:latin typeface="Georgia"/>
                <a:cs typeface="Georgia"/>
              </a:rPr>
              <a:t>2.       </a:t>
            </a:r>
            <a:r>
              <a:rPr sz="1300" spc="16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Searchi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19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19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order</a:t>
            </a:r>
            <a:r>
              <a:rPr sz="19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1900" spc="-7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1900" spc="-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st</a:t>
            </a:r>
            <a:endParaRPr sz="19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80"/>
              </a:spcBef>
            </a:pPr>
            <a:r>
              <a:rPr sz="1300" spc="-4" dirty="0">
                <a:solidFill>
                  <a:srgbClr val="438085"/>
                </a:solidFill>
                <a:latin typeface="Georgia"/>
                <a:cs typeface="Georgia"/>
              </a:rPr>
              <a:t>3</a:t>
            </a:r>
            <a:r>
              <a:rPr sz="1300" spc="0" dirty="0">
                <a:solidFill>
                  <a:srgbClr val="438085"/>
                </a:solidFill>
                <a:latin typeface="Georgia"/>
                <a:cs typeface="Georgia"/>
              </a:rPr>
              <a:t>.       </a:t>
            </a:r>
            <a:r>
              <a:rPr sz="1300" spc="26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Sor</a:t>
            </a:r>
            <a:r>
              <a:rPr sz="19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1900" spc="-5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a l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st</a:t>
            </a:r>
            <a:endParaRPr sz="19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77"/>
              </a:spcBef>
            </a:pPr>
            <a:r>
              <a:rPr sz="1300" spc="4" dirty="0">
                <a:solidFill>
                  <a:srgbClr val="438085"/>
                </a:solidFill>
                <a:latin typeface="Georgia"/>
                <a:cs typeface="Georgia"/>
              </a:rPr>
              <a:t>4</a:t>
            </a:r>
            <a:r>
              <a:rPr sz="1300" spc="0" dirty="0">
                <a:solidFill>
                  <a:srgbClr val="438085"/>
                </a:solidFill>
                <a:latin typeface="Georgia"/>
                <a:cs typeface="Georgia"/>
              </a:rPr>
              <a:t>.       </a:t>
            </a:r>
            <a:r>
              <a:rPr sz="1300" spc="1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1900" spc="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ultipl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1900" spc="4" dirty="0">
                <a:solidFill>
                  <a:srgbClr val="424455"/>
                </a:solidFill>
                <a:latin typeface="Georgia"/>
                <a:cs typeface="Georgia"/>
              </a:rPr>
              <a:t>at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ion</a:t>
            </a:r>
            <a:r>
              <a:rPr sz="1900" spc="-9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1900" spc="-1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1900" spc="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1900" spc="-9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ers</a:t>
            </a:r>
            <a:endParaRPr sz="19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77"/>
              </a:spcBef>
            </a:pPr>
            <a:r>
              <a:rPr sz="1300" spc="4" dirty="0">
                <a:solidFill>
                  <a:srgbClr val="438085"/>
                </a:solidFill>
                <a:latin typeface="Georgia"/>
                <a:cs typeface="Georgia"/>
              </a:rPr>
              <a:t>5</a:t>
            </a:r>
            <a:r>
              <a:rPr sz="1300" spc="0" dirty="0">
                <a:solidFill>
                  <a:srgbClr val="438085"/>
                </a:solidFill>
                <a:latin typeface="Georgia"/>
                <a:cs typeface="Georgia"/>
              </a:rPr>
              <a:t>.       </a:t>
            </a:r>
            <a:r>
              <a:rPr sz="1300" spc="5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Findi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1900" spc="-3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a m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mum</a:t>
            </a:r>
            <a:r>
              <a:rPr sz="1900" spc="-2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ann</a:t>
            </a:r>
            <a:r>
              <a:rPr sz="19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ng</a:t>
            </a:r>
            <a:r>
              <a:rPr sz="1900" spc="-3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ree</a:t>
            </a:r>
            <a:r>
              <a:rPr sz="1900" spc="-5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in</a:t>
            </a:r>
            <a:r>
              <a:rPr sz="1900" spc="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19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900" spc="0" dirty="0">
                <a:solidFill>
                  <a:srgbClr val="424455"/>
                </a:solidFill>
                <a:latin typeface="Georgia"/>
                <a:cs typeface="Georgia"/>
              </a:rPr>
              <a:t>graph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23"/>
              </a:spcBef>
            </a:pPr>
            <a:endParaRPr sz="600"/>
          </a:p>
          <a:p>
            <a:pPr marL="3480625" marR="3221696" algn="ctr">
              <a:lnSpc>
                <a:spcPct val="94685"/>
              </a:lnSpc>
              <a:spcBef>
                <a:spcPts val="3000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Intractab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l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698296" marR="217895" indent="-457504">
              <a:lnSpc>
                <a:spcPts val="2746"/>
              </a:lnSpc>
              <a:spcBef>
                <a:spcPts val="4004"/>
              </a:spcBef>
              <a:tabLst>
                <a:tab pos="685800" algn="l"/>
              </a:tabLst>
            </a:pPr>
            <a:r>
              <a:rPr sz="2150" spc="-4" dirty="0">
                <a:solidFill>
                  <a:srgbClr val="438085"/>
                </a:solidFill>
                <a:latin typeface="Georgia"/>
                <a:cs typeface="Georgia"/>
              </a:rPr>
              <a:t>1</a:t>
            </a:r>
            <a:r>
              <a:rPr sz="2150" spc="0" dirty="0">
                <a:solidFill>
                  <a:srgbClr val="438085"/>
                </a:solidFill>
                <a:latin typeface="Georgia"/>
                <a:cs typeface="Georgia"/>
              </a:rPr>
              <a:t>.	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Proble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1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hat</a:t>
            </a:r>
            <a:r>
              <a:rPr sz="2400" spc="14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“</a:t>
            </a:r>
            <a:r>
              <a:rPr sz="2400" b="1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400" b="1" spc="1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b="1" spc="9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400" b="1" spc="-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”</a:t>
            </a:r>
            <a:r>
              <a:rPr sz="2400" spc="1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sol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v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ed </a:t>
            </a:r>
            <a:r>
              <a:rPr sz="2400" spc="31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but</a:t>
            </a:r>
            <a:r>
              <a:rPr sz="2400" spc="1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400" spc="14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ount</a:t>
            </a:r>
            <a:r>
              <a:rPr sz="2400" spc="14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400" spc="1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ti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14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it </a:t>
            </a:r>
            <a:endParaRPr sz="2400">
              <a:latin typeface="Georgia"/>
              <a:cs typeface="Georgia"/>
            </a:endParaRPr>
          </a:p>
          <a:p>
            <a:pPr marL="698296" marR="217895">
              <a:lnSpc>
                <a:spcPts val="2726"/>
              </a:lnSpc>
              <a:spcBef>
                <a:spcPts val="153"/>
              </a:spcBef>
              <a:tabLst>
                <a:tab pos="685800" algn="l"/>
              </a:tabLst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takes to sol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v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too larg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698296" marR="220865" indent="-457504">
              <a:lnSpc>
                <a:spcPts val="2726"/>
              </a:lnSpc>
              <a:spcBef>
                <a:spcPts val="731"/>
              </a:spcBef>
              <a:tabLst>
                <a:tab pos="762000" algn="l"/>
              </a:tabLst>
            </a:pPr>
            <a:r>
              <a:rPr sz="2150" spc="4" dirty="0">
                <a:solidFill>
                  <a:srgbClr val="438085"/>
                </a:solidFill>
                <a:latin typeface="Georgia"/>
                <a:cs typeface="Georgia"/>
              </a:rPr>
              <a:t>2</a:t>
            </a:r>
            <a:r>
              <a:rPr sz="2150" spc="0" dirty="0">
                <a:solidFill>
                  <a:srgbClr val="438085"/>
                </a:solidFill>
                <a:latin typeface="Georgia"/>
                <a:cs typeface="Georgia"/>
              </a:rPr>
              <a:t>.		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48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oblem</a:t>
            </a:r>
            <a:r>
              <a:rPr sz="2400" spc="50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that</a:t>
            </a:r>
            <a:r>
              <a:rPr sz="2400" spc="48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ot</a:t>
            </a:r>
            <a:r>
              <a:rPr sz="2400" spc="49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400" spc="49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v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400" spc="49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by</a:t>
            </a:r>
            <a:r>
              <a:rPr sz="2400" spc="4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50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omia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-time </a:t>
            </a:r>
            <a:endParaRPr sz="2400">
              <a:latin typeface="Georgia"/>
              <a:cs typeface="Georgia"/>
            </a:endParaRPr>
          </a:p>
          <a:p>
            <a:pPr marL="698296" marR="220865">
              <a:lnSpc>
                <a:spcPts val="2726"/>
              </a:lnSpc>
              <a:spcBef>
                <a:spcPts val="152"/>
              </a:spcBef>
              <a:tabLst>
                <a:tab pos="762000" algn="l"/>
              </a:tabLst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algor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729"/>
              </a:spcBef>
            </a:pPr>
            <a:r>
              <a:rPr sz="2150" spc="-4" dirty="0">
                <a:solidFill>
                  <a:srgbClr val="438085"/>
                </a:solidFill>
                <a:latin typeface="Georgia"/>
                <a:cs typeface="Georgia"/>
              </a:rPr>
              <a:t>3</a:t>
            </a:r>
            <a:r>
              <a:rPr sz="2150" spc="0" dirty="0">
                <a:solidFill>
                  <a:srgbClr val="438085"/>
                </a:solidFill>
                <a:latin typeface="Georgia"/>
                <a:cs typeface="Georgia"/>
              </a:rPr>
              <a:t>.  </a:t>
            </a:r>
            <a:r>
              <a:rPr sz="2150" spc="278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400" spc="33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400" spc="34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ol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ved</a:t>
            </a:r>
            <a:r>
              <a:rPr sz="2400" spc="35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  </a:t>
            </a:r>
            <a:r>
              <a:rPr sz="2400" spc="10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reasonable</a:t>
            </a:r>
            <a:r>
              <a:rPr sz="2400" spc="36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time</a:t>
            </a:r>
            <a:r>
              <a:rPr sz="2400" spc="35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on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400" spc="3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34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ll</a:t>
            </a:r>
            <a:r>
              <a:rPr sz="2400" spc="3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in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ut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698296">
              <a:lnSpc>
                <a:spcPct val="94685"/>
              </a:lnSpc>
              <a:spcBef>
                <a:spcPts val="150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Or, can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not</a:t>
            </a:r>
            <a:r>
              <a:rPr sz="24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so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ved at al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698296" marR="217711" indent="-457504">
              <a:lnSpc>
                <a:spcPts val="2726"/>
              </a:lnSpc>
              <a:spcBef>
                <a:spcPts val="732"/>
              </a:spcBef>
              <a:tabLst>
                <a:tab pos="685800" algn="l"/>
              </a:tabLst>
            </a:pPr>
            <a:r>
              <a:rPr sz="2150" spc="4" dirty="0">
                <a:solidFill>
                  <a:srgbClr val="438085"/>
                </a:solidFill>
                <a:latin typeface="Georgia"/>
                <a:cs typeface="Georgia"/>
              </a:rPr>
              <a:t>4</a:t>
            </a:r>
            <a:r>
              <a:rPr sz="2150" spc="0" dirty="0">
                <a:solidFill>
                  <a:srgbClr val="438085"/>
                </a:solidFill>
                <a:latin typeface="Georgia"/>
                <a:cs typeface="Georgia"/>
              </a:rPr>
              <a:t>.	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As</a:t>
            </a:r>
            <a:r>
              <a:rPr sz="2400" spc="10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their</a:t>
            </a:r>
            <a:r>
              <a:rPr sz="2400" spc="1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put</a:t>
            </a:r>
            <a:r>
              <a:rPr sz="2400" spc="1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gro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1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arg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400" spc="1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1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1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unable</a:t>
            </a:r>
            <a:r>
              <a:rPr sz="2400" spc="1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to</a:t>
            </a:r>
            <a:r>
              <a:rPr sz="2400" spc="1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sol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v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1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them</a:t>
            </a:r>
            <a:r>
              <a:rPr sz="2400" spc="1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in </a:t>
            </a:r>
            <a:endParaRPr sz="2400">
              <a:latin typeface="Georgia"/>
              <a:cs typeface="Georgia"/>
            </a:endParaRPr>
          </a:p>
          <a:p>
            <a:pPr marL="698296" marR="217711">
              <a:lnSpc>
                <a:spcPts val="2726"/>
              </a:lnSpc>
              <a:spcBef>
                <a:spcPts val="152"/>
              </a:spcBef>
              <a:tabLst>
                <a:tab pos="685800" algn="l"/>
              </a:tabLst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reasonable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tim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729"/>
              </a:spcBef>
            </a:pPr>
            <a:r>
              <a:rPr sz="2150" spc="0" dirty="0">
                <a:solidFill>
                  <a:srgbClr val="438085"/>
                </a:solidFill>
                <a:latin typeface="Courier New"/>
                <a:cs typeface="Courier New"/>
              </a:rPr>
              <a:t>o</a:t>
            </a:r>
            <a:r>
              <a:rPr sz="2150" spc="10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g: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TSP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009520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Cl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ss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ficat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on</a:t>
            </a:r>
            <a:r>
              <a:rPr sz="3300" spc="-3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of Probl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48"/>
              </a:spcBef>
            </a:pPr>
            <a:endParaRPr sz="500"/>
          </a:p>
          <a:p>
            <a:pPr marL="515112" marR="220839" indent="-274320">
              <a:lnSpc>
                <a:spcPts val="2726"/>
              </a:lnSpc>
              <a:spcBef>
                <a:spcPts val="1000"/>
              </a:spcBef>
              <a:tabLst>
                <a:tab pos="508000" algn="l"/>
              </a:tabLst>
            </a:pPr>
            <a:r>
              <a:rPr sz="200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0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400" spc="0" dirty="0">
                <a:latin typeface="Georgia"/>
                <a:cs typeface="Georgia"/>
              </a:rPr>
              <a:t>Can</a:t>
            </a:r>
            <a:r>
              <a:rPr sz="2400" spc="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be</a:t>
            </a:r>
            <a:r>
              <a:rPr sz="2400" spc="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cla</a:t>
            </a:r>
            <a:r>
              <a:rPr sz="2400" spc="4" dirty="0">
                <a:latin typeface="Georgia"/>
                <a:cs typeface="Georgia"/>
              </a:rPr>
              <a:t>s</a:t>
            </a:r>
            <a:r>
              <a:rPr sz="2400" spc="0" dirty="0">
                <a:latin typeface="Georgia"/>
                <a:cs typeface="Georgia"/>
              </a:rPr>
              <a:t>sified 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n</a:t>
            </a:r>
            <a:r>
              <a:rPr sz="2400" spc="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v</a:t>
            </a:r>
            <a:r>
              <a:rPr sz="2400" spc="-14" dirty="0">
                <a:latin typeface="Georgia"/>
                <a:cs typeface="Georgia"/>
              </a:rPr>
              <a:t>a</a:t>
            </a:r>
            <a:r>
              <a:rPr sz="2400" spc="0" dirty="0">
                <a:latin typeface="Georgia"/>
                <a:cs typeface="Georgia"/>
              </a:rPr>
              <a:t>ri</a:t>
            </a:r>
            <a:r>
              <a:rPr sz="2400" spc="4" dirty="0">
                <a:latin typeface="Georgia"/>
                <a:cs typeface="Georgia"/>
              </a:rPr>
              <a:t>o</a:t>
            </a:r>
            <a:r>
              <a:rPr sz="2400" spc="0" dirty="0">
                <a:latin typeface="Georgia"/>
                <a:cs typeface="Georgia"/>
              </a:rPr>
              <a:t>us</a:t>
            </a:r>
            <a:r>
              <a:rPr sz="2400" spc="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c</a:t>
            </a:r>
            <a:r>
              <a:rPr sz="2400" spc="4" dirty="0">
                <a:latin typeface="Georgia"/>
                <a:cs typeface="Georgia"/>
              </a:rPr>
              <a:t>a</a:t>
            </a:r>
            <a:r>
              <a:rPr sz="2400" spc="0" dirty="0">
                <a:latin typeface="Georgia"/>
                <a:cs typeface="Georgia"/>
              </a:rPr>
              <a:t>t</a:t>
            </a:r>
            <a:r>
              <a:rPr sz="2400" spc="4" dirty="0">
                <a:latin typeface="Georgia"/>
                <a:cs typeface="Georgia"/>
              </a:rPr>
              <a:t>e</a:t>
            </a:r>
            <a:r>
              <a:rPr sz="2400" spc="-9" dirty="0">
                <a:latin typeface="Georgia"/>
                <a:cs typeface="Georgia"/>
              </a:rPr>
              <a:t>g</a:t>
            </a:r>
            <a:r>
              <a:rPr sz="2400" spc="0" dirty="0">
                <a:latin typeface="Georgia"/>
                <a:cs typeface="Georgia"/>
              </a:rPr>
              <a:t>o</a:t>
            </a:r>
            <a:r>
              <a:rPr sz="2400" spc="4" dirty="0">
                <a:latin typeface="Georgia"/>
                <a:cs typeface="Georgia"/>
              </a:rPr>
              <a:t>r</a:t>
            </a:r>
            <a:r>
              <a:rPr sz="2400" spc="0" dirty="0">
                <a:latin typeface="Georgia"/>
                <a:cs typeface="Georgia"/>
              </a:rPr>
              <a:t>i</a:t>
            </a:r>
            <a:r>
              <a:rPr sz="2400" spc="9" dirty="0">
                <a:latin typeface="Georgia"/>
                <a:cs typeface="Georgia"/>
              </a:rPr>
              <a:t>e</a:t>
            </a:r>
            <a:r>
              <a:rPr sz="2400" spc="0" dirty="0">
                <a:latin typeface="Georgia"/>
                <a:cs typeface="Georgia"/>
              </a:rPr>
              <a:t>s based</a:t>
            </a:r>
            <a:r>
              <a:rPr sz="2400" spc="2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on</a:t>
            </a:r>
            <a:r>
              <a:rPr sz="2400" spc="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their</a:t>
            </a:r>
            <a:r>
              <a:rPr sz="2400" spc="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degree </a:t>
            </a:r>
            <a:endParaRPr sz="2400">
              <a:latin typeface="Georgia"/>
              <a:cs typeface="Georgia"/>
            </a:endParaRPr>
          </a:p>
          <a:p>
            <a:pPr marL="515112" marR="220839">
              <a:lnSpc>
                <a:spcPts val="2726"/>
              </a:lnSpc>
              <a:spcBef>
                <a:spcPts val="152"/>
              </a:spcBef>
              <a:tabLst>
                <a:tab pos="508000" algn="l"/>
              </a:tabLst>
            </a:pPr>
            <a:r>
              <a:rPr sz="2400" spc="0" dirty="0">
                <a:latin typeface="Georgia"/>
                <a:cs typeface="Georgia"/>
              </a:rPr>
              <a:t>of d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ffi</a:t>
            </a:r>
            <a:r>
              <a:rPr sz="2400" spc="4" dirty="0">
                <a:latin typeface="Georgia"/>
                <a:cs typeface="Georgia"/>
              </a:rPr>
              <a:t>c</a:t>
            </a:r>
            <a:r>
              <a:rPr sz="2400" spc="-9" dirty="0">
                <a:latin typeface="Georgia"/>
                <a:cs typeface="Georgia"/>
              </a:rPr>
              <a:t>u</a:t>
            </a:r>
            <a:r>
              <a:rPr sz="2400" spc="0" dirty="0">
                <a:latin typeface="Georgia"/>
                <a:cs typeface="Georgia"/>
              </a:rPr>
              <a:t>lt</a:t>
            </a:r>
            <a:r>
              <a:rPr sz="2400" spc="-9" dirty="0">
                <a:latin typeface="Georgia"/>
                <a:cs typeface="Georgia"/>
              </a:rPr>
              <a:t>y</a:t>
            </a:r>
            <a:r>
              <a:rPr sz="2400" spc="0" dirty="0">
                <a:latin typeface="Georgia"/>
                <a:cs typeface="Georgia"/>
              </a:rPr>
              <a:t>,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4" dirty="0">
                <a:latin typeface="Georgia"/>
                <a:cs typeface="Georgia"/>
              </a:rPr>
              <a:t>e</a:t>
            </a:r>
            <a:r>
              <a:rPr sz="2400" spc="0" dirty="0">
                <a:latin typeface="Georgia"/>
                <a:cs typeface="Georgia"/>
              </a:rPr>
              <a:t>.</a:t>
            </a:r>
            <a:r>
              <a:rPr sz="2400" spc="4" dirty="0">
                <a:latin typeface="Georgia"/>
                <a:cs typeface="Georgia"/>
              </a:rPr>
              <a:t>g</a:t>
            </a:r>
            <a:r>
              <a:rPr sz="2400" spc="0" dirty="0">
                <a:latin typeface="Georgia"/>
                <a:cs typeface="Georgia"/>
              </a:rPr>
              <a:t>.,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1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NP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P-complete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P-hard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773426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Cl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ss P  Problems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84"/>
              </a:spcBef>
            </a:pPr>
            <a:endParaRPr sz="1300"/>
          </a:p>
          <a:p>
            <a:pPr marL="515112" marR="216538" indent="-274320">
              <a:lnSpc>
                <a:spcPts val="2700"/>
              </a:lnSpc>
              <a:spcBef>
                <a:spcPts val="135"/>
              </a:spcBef>
            </a:pPr>
            <a:r>
              <a:rPr sz="21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1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100" spc="103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spc="0" dirty="0">
                <a:latin typeface="Georgia"/>
                <a:cs typeface="Georgia"/>
              </a:rPr>
              <a:t>P  </a:t>
            </a:r>
            <a:r>
              <a:rPr sz="2500" spc="11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is  </a:t>
            </a:r>
            <a:r>
              <a:rPr sz="2500" spc="10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the  </a:t>
            </a:r>
            <a:r>
              <a:rPr sz="2500" spc="8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t  </a:t>
            </a:r>
            <a:r>
              <a:rPr sz="2500" spc="10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  </a:t>
            </a:r>
            <a:r>
              <a:rPr sz="2500" spc="8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l  </a:t>
            </a:r>
            <a:r>
              <a:rPr sz="2500" spc="9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de</a:t>
            </a:r>
            <a:r>
              <a:rPr sz="2500" spc="4" dirty="0">
                <a:latin typeface="Georgia"/>
                <a:cs typeface="Georgia"/>
              </a:rPr>
              <a:t>c</a:t>
            </a:r>
            <a:r>
              <a:rPr sz="2500" spc="0" dirty="0">
                <a:latin typeface="Georgia"/>
                <a:cs typeface="Georgia"/>
              </a:rPr>
              <a:t>is</a:t>
            </a:r>
            <a:r>
              <a:rPr sz="2500" spc="9" dirty="0">
                <a:latin typeface="Georgia"/>
                <a:cs typeface="Georgia"/>
              </a:rPr>
              <a:t>i</a:t>
            </a:r>
            <a:r>
              <a:rPr sz="2500" spc="0" dirty="0">
                <a:latin typeface="Georgia"/>
                <a:cs typeface="Georgia"/>
              </a:rPr>
              <a:t>on  </a:t>
            </a:r>
            <a:r>
              <a:rPr sz="2500" spc="6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pro</a:t>
            </a:r>
            <a:r>
              <a:rPr sz="2500" spc="-9" dirty="0">
                <a:latin typeface="Georgia"/>
                <a:cs typeface="Georgia"/>
              </a:rPr>
              <a:t>b</a:t>
            </a:r>
            <a:r>
              <a:rPr sz="2500" spc="0" dirty="0">
                <a:latin typeface="Georgia"/>
                <a:cs typeface="Georgia"/>
              </a:rPr>
              <a:t>l</a:t>
            </a:r>
            <a:r>
              <a:rPr sz="2500" spc="1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ms  </a:t>
            </a:r>
            <a:r>
              <a:rPr sz="2500" spc="2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solvable  </a:t>
            </a:r>
            <a:r>
              <a:rPr sz="2500" spc="45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by </a:t>
            </a:r>
            <a:r>
              <a:rPr sz="2500" spc="0" dirty="0">
                <a:latin typeface="Georgia"/>
                <a:cs typeface="Georgia"/>
              </a:rPr>
              <a:t>det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rministic</a:t>
            </a:r>
            <a:r>
              <a:rPr sz="2500" spc="-11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9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gori</a:t>
            </a:r>
            <a:r>
              <a:rPr sz="2500" spc="9" dirty="0">
                <a:latin typeface="Georgia"/>
                <a:cs typeface="Georgia"/>
              </a:rPr>
              <a:t>t</a:t>
            </a:r>
            <a:r>
              <a:rPr sz="2500" spc="0" dirty="0">
                <a:latin typeface="Georgia"/>
                <a:cs typeface="Georgia"/>
              </a:rPr>
              <a:t>hms</a:t>
            </a:r>
            <a:r>
              <a:rPr sz="2500" spc="-11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in po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ynomial</a:t>
            </a:r>
            <a:r>
              <a:rPr sz="2500" spc="-10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tim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.</a:t>
            </a:r>
            <a:endParaRPr sz="25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3632"/>
              </a:spcBef>
            </a:pPr>
            <a:r>
              <a:rPr sz="21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1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100" spc="98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spc="0" dirty="0">
                <a:latin typeface="Georgia"/>
                <a:cs typeface="Georgia"/>
              </a:rPr>
              <a:t>Po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ynomial time</a:t>
            </a:r>
            <a:r>
              <a:rPr sz="2500" spc="1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algorithms</a:t>
            </a:r>
            <a:endParaRPr sz="25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365"/>
              </a:spcBef>
            </a:pPr>
            <a:r>
              <a:rPr sz="1400" spc="0" dirty="0">
                <a:solidFill>
                  <a:srgbClr val="438085"/>
                </a:solidFill>
                <a:latin typeface="Courier New"/>
                <a:cs typeface="Courier New"/>
              </a:rPr>
              <a:t>o</a:t>
            </a:r>
            <a:r>
              <a:rPr sz="1400" spc="47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Dec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sion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ob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em</a:t>
            </a:r>
            <a:endParaRPr sz="20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365"/>
              </a:spcBef>
            </a:pPr>
            <a:r>
              <a:rPr sz="1400" spc="0" dirty="0">
                <a:solidFill>
                  <a:srgbClr val="438085"/>
                </a:solidFill>
                <a:latin typeface="Courier New"/>
                <a:cs typeface="Courier New"/>
              </a:rPr>
              <a:t>o</a:t>
            </a:r>
            <a:r>
              <a:rPr sz="1400" spc="47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De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erministic</a:t>
            </a:r>
            <a:r>
              <a:rPr sz="20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al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ori</a:t>
            </a:r>
            <a:r>
              <a:rPr sz="20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hm</a:t>
            </a:r>
            <a:endParaRPr sz="20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365"/>
              </a:spcBef>
            </a:pPr>
            <a:r>
              <a:rPr sz="1400" spc="0" dirty="0">
                <a:solidFill>
                  <a:srgbClr val="438085"/>
                </a:solidFill>
                <a:latin typeface="Courier New"/>
                <a:cs typeface="Courier New"/>
              </a:rPr>
              <a:t>o</a:t>
            </a:r>
            <a:r>
              <a:rPr sz="1400" spc="47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q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ue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tial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executio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0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 p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ll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0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oc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ssing</a:t>
            </a:r>
            <a:endParaRPr sz="20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3104"/>
              </a:spcBef>
            </a:pPr>
            <a:r>
              <a:rPr sz="21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1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sz="2100" spc="11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.g.</a:t>
            </a:r>
            <a:r>
              <a:rPr sz="2500" spc="-1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Binary</a:t>
            </a:r>
            <a:r>
              <a:rPr sz="2500" spc="-5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tree</a:t>
            </a:r>
            <a:r>
              <a:rPr sz="2500" spc="-3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arch</a:t>
            </a:r>
            <a:r>
              <a:rPr sz="2500" spc="-6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–</a:t>
            </a:r>
            <a:endParaRPr sz="25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365"/>
              </a:spcBef>
            </a:pPr>
            <a:r>
              <a:rPr sz="1400" spc="0" dirty="0">
                <a:solidFill>
                  <a:srgbClr val="438085"/>
                </a:solidFill>
                <a:latin typeface="Courier New"/>
                <a:cs typeface="Courier New"/>
              </a:rPr>
              <a:t>o </a:t>
            </a:r>
            <a:r>
              <a:rPr sz="1400" spc="12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Time</a:t>
            </a:r>
            <a:r>
              <a:rPr sz="20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complexity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O(log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endParaRPr sz="20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365"/>
              </a:spcBef>
            </a:pPr>
            <a:r>
              <a:rPr sz="1400" spc="0" dirty="0">
                <a:solidFill>
                  <a:srgbClr val="438085"/>
                </a:solidFill>
                <a:latin typeface="Courier New"/>
                <a:cs typeface="Courier New"/>
              </a:rPr>
              <a:t>o </a:t>
            </a:r>
            <a:r>
              <a:rPr sz="1400" spc="12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Only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one node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com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ison 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0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time</a:t>
            </a:r>
            <a:endParaRPr sz="20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370"/>
              </a:spcBef>
            </a:pPr>
            <a:r>
              <a:rPr sz="1400" spc="0" dirty="0">
                <a:solidFill>
                  <a:srgbClr val="438085"/>
                </a:solidFill>
                <a:latin typeface="Courier New"/>
                <a:cs typeface="Courier New"/>
              </a:rPr>
              <a:t>o </a:t>
            </a:r>
            <a:r>
              <a:rPr sz="1400" spc="129" dirty="0">
                <a:solidFill>
                  <a:srgbClr val="438085"/>
                </a:solidFill>
                <a:latin typeface="Courier New"/>
                <a:cs typeface="Courier New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No p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ll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0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compa</a:t>
            </a:r>
            <a:r>
              <a:rPr sz="20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isons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50729" marR="355327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Cl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ss NP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1685192" indent="-274320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Non det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rministica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ly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polynomia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(NP)</a:t>
            </a:r>
            <a:r>
              <a:rPr sz="2700" spc="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time </a:t>
            </a:r>
            <a:endParaRPr sz="2700">
              <a:latin typeface="Georgia"/>
              <a:cs typeface="Georgia"/>
            </a:endParaRPr>
          </a:p>
          <a:p>
            <a:pPr marL="515112" marR="1685192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algorithms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Decision</a:t>
            </a:r>
            <a:r>
              <a:rPr sz="2200" spc="-6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0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Nond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minist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-11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gor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thm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Paral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el</a:t>
            </a:r>
            <a:r>
              <a:rPr sz="2200" spc="-7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com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ut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ti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ns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lynomial</a:t>
            </a:r>
            <a:r>
              <a:rPr sz="2200" spc="-11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time</a:t>
            </a:r>
            <a:r>
              <a:rPr sz="2200" spc="-1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com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xity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ts val="2503"/>
              </a:lnSpc>
              <a:spcBef>
                <a:spcPts val="671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E.g.</a:t>
            </a:r>
            <a:r>
              <a:rPr sz="2200" spc="-4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trav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ing</a:t>
            </a:r>
            <a:r>
              <a:rPr sz="2200" spc="-6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es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2200" spc="-6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175" spc="0" baseline="26000" dirty="0">
                <a:solidFill>
                  <a:srgbClr val="424455"/>
                </a:solidFill>
                <a:latin typeface="Georgia"/>
                <a:cs typeface="Georgia"/>
              </a:rPr>
              <a:t>2</a:t>
            </a:r>
            <a:r>
              <a:rPr sz="2175" spc="106" baseline="2600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2</a:t>
            </a:r>
            <a:r>
              <a:rPr sz="2175" spc="0" baseline="2600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50729" marR="355327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Cl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ss NP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5"/>
              </a:spcBef>
            </a:pPr>
            <a:endParaRPr sz="550" dirty="0"/>
          </a:p>
          <a:p>
            <a:pPr marL="515112" marR="212626" indent="-274320">
              <a:lnSpc>
                <a:spcPts val="3181"/>
              </a:lnSpc>
              <a:spcBef>
                <a:spcPts val="1000"/>
              </a:spcBef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4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P</a:t>
            </a:r>
            <a:r>
              <a:rPr sz="2800" spc="366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i</a:t>
            </a:r>
            <a:r>
              <a:rPr sz="2800" spc="0" dirty="0">
                <a:latin typeface="Georgia"/>
                <a:cs typeface="Georgia"/>
              </a:rPr>
              <a:t>s</a:t>
            </a:r>
            <a:r>
              <a:rPr sz="2800" spc="40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the</a:t>
            </a:r>
            <a:r>
              <a:rPr sz="2800" spc="355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s</a:t>
            </a:r>
            <a:r>
              <a:rPr sz="2800" spc="4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t</a:t>
            </a:r>
            <a:r>
              <a:rPr sz="2800" spc="359" dirty="0">
                <a:latin typeface="Georgia"/>
                <a:cs typeface="Georgia"/>
              </a:rPr>
              <a:t> </a:t>
            </a:r>
            <a:r>
              <a:rPr sz="2800" spc="4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f</a:t>
            </a:r>
            <a:r>
              <a:rPr sz="2800" spc="385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all</a:t>
            </a:r>
            <a:r>
              <a:rPr sz="2800" spc="364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d</a:t>
            </a:r>
            <a:r>
              <a:rPr sz="2800" spc="4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ci</a:t>
            </a:r>
            <a:r>
              <a:rPr sz="2800" spc="14" dirty="0">
                <a:latin typeface="Georgia"/>
                <a:cs typeface="Georgia"/>
              </a:rPr>
              <a:t>s</a:t>
            </a:r>
            <a:r>
              <a:rPr sz="2800" spc="0" dirty="0">
                <a:latin typeface="Georgia"/>
                <a:cs typeface="Georgia"/>
              </a:rPr>
              <a:t>ion</a:t>
            </a:r>
            <a:r>
              <a:rPr sz="2800" spc="317" dirty="0">
                <a:latin typeface="Georgia"/>
                <a:cs typeface="Georgia"/>
              </a:rPr>
              <a:t> </a:t>
            </a:r>
            <a:r>
              <a:rPr sz="2800" spc="9" dirty="0">
                <a:latin typeface="Georgia"/>
                <a:cs typeface="Georgia"/>
              </a:rPr>
              <a:t>p</a:t>
            </a:r>
            <a:r>
              <a:rPr sz="2800" spc="0" dirty="0">
                <a:latin typeface="Georgia"/>
                <a:cs typeface="Georgia"/>
              </a:rPr>
              <a:t>roblems</a:t>
            </a:r>
            <a:r>
              <a:rPr sz="2800" spc="283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s</a:t>
            </a:r>
            <a:r>
              <a:rPr sz="2800" spc="4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lvable</a:t>
            </a:r>
            <a:r>
              <a:rPr sz="2800" spc="304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by </a:t>
            </a:r>
            <a:endParaRPr sz="2800" dirty="0">
              <a:latin typeface="Georgia"/>
              <a:cs typeface="Georgia"/>
            </a:endParaRPr>
          </a:p>
          <a:p>
            <a:pPr marL="515112" marR="212626">
              <a:lnSpc>
                <a:spcPts val="3181"/>
              </a:lnSpc>
              <a:spcBef>
                <a:spcPts val="178"/>
              </a:spcBef>
            </a:pP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9" dirty="0">
                <a:latin typeface="Georgia"/>
                <a:cs typeface="Georgia"/>
              </a:rPr>
              <a:t>d</a:t>
            </a:r>
            <a:r>
              <a:rPr sz="2800" spc="0" dirty="0">
                <a:latin typeface="Georgia"/>
                <a:cs typeface="Georgia"/>
              </a:rPr>
              <a:t>et</a:t>
            </a:r>
            <a:r>
              <a:rPr sz="2800" spc="4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rm</a:t>
            </a:r>
            <a:r>
              <a:rPr sz="2800" spc="-9" dirty="0">
                <a:latin typeface="Georgia"/>
                <a:cs typeface="Georgia"/>
              </a:rPr>
              <a:t>i</a:t>
            </a:r>
            <a:r>
              <a:rPr sz="2800" spc="0" dirty="0">
                <a:latin typeface="Georgia"/>
                <a:cs typeface="Georgia"/>
              </a:rPr>
              <a:t>nistic</a:t>
            </a:r>
            <a:r>
              <a:rPr sz="2800" spc="-153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alg</a:t>
            </a:r>
            <a:r>
              <a:rPr sz="2800" spc="4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r</a:t>
            </a:r>
            <a:r>
              <a:rPr sz="2800" spc="-4" dirty="0">
                <a:latin typeface="Georgia"/>
                <a:cs typeface="Georgia"/>
              </a:rPr>
              <a:t>i</a:t>
            </a:r>
            <a:r>
              <a:rPr sz="2800" spc="0" dirty="0">
                <a:latin typeface="Georgia"/>
                <a:cs typeface="Georgia"/>
              </a:rPr>
              <a:t>thms</a:t>
            </a:r>
            <a:r>
              <a:rPr sz="2800" spc="-89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i</a:t>
            </a: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14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po</a:t>
            </a:r>
            <a:r>
              <a:rPr sz="2800" spc="4" dirty="0">
                <a:latin typeface="Georgia"/>
                <a:cs typeface="Georgia"/>
              </a:rPr>
              <a:t>l</a:t>
            </a:r>
            <a:r>
              <a:rPr sz="2800" spc="0" dirty="0">
                <a:latin typeface="Georgia"/>
                <a:cs typeface="Georgia"/>
              </a:rPr>
              <a:t>yn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mi</a:t>
            </a:r>
            <a:r>
              <a:rPr sz="2800" spc="-9" dirty="0">
                <a:latin typeface="Georgia"/>
                <a:cs typeface="Georgia"/>
              </a:rPr>
              <a:t>a</a:t>
            </a:r>
            <a:r>
              <a:rPr sz="2800" spc="0" dirty="0">
                <a:latin typeface="Georgia"/>
                <a:cs typeface="Georgia"/>
              </a:rPr>
              <a:t>l</a:t>
            </a:r>
            <a:r>
              <a:rPr sz="2800" spc="-82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ti</a:t>
            </a:r>
            <a:r>
              <a:rPr sz="2800" spc="-9" dirty="0">
                <a:latin typeface="Georgia"/>
                <a:cs typeface="Georgia"/>
              </a:rPr>
              <a:t>m</a:t>
            </a:r>
            <a:r>
              <a:rPr sz="2800" spc="4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.</a:t>
            </a:r>
            <a:endParaRPr sz="2800" dirty="0">
              <a:latin typeface="Georgia"/>
              <a:cs typeface="Georgia"/>
            </a:endParaRPr>
          </a:p>
          <a:p>
            <a:pPr marL="3859672" marR="4383177" algn="ctr">
              <a:lnSpc>
                <a:spcPct val="94685"/>
              </a:lnSpc>
              <a:spcBef>
                <a:spcPts val="850"/>
              </a:spcBef>
            </a:pPr>
            <a:r>
              <a:rPr sz="2800" spc="-4" dirty="0">
                <a:latin typeface="Georgia"/>
                <a:cs typeface="Georgia"/>
              </a:rPr>
              <a:t>OR</a:t>
            </a:r>
            <a:endParaRPr sz="2800" dirty="0">
              <a:latin typeface="Georgia"/>
              <a:cs typeface="Georgia"/>
            </a:endParaRPr>
          </a:p>
          <a:p>
            <a:pPr marL="515112" marR="209678" indent="-274320">
              <a:lnSpc>
                <a:spcPts val="3181"/>
              </a:lnSpc>
              <a:spcBef>
                <a:spcPts val="852"/>
              </a:spcBef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latin typeface="Georgia"/>
                <a:cs typeface="Georgia"/>
              </a:rPr>
              <a:t>S</a:t>
            </a:r>
            <a:r>
              <a:rPr sz="2800" spc="9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t</a:t>
            </a:r>
            <a:r>
              <a:rPr sz="2800" spc="241" dirty="0">
                <a:latin typeface="Georgia"/>
                <a:cs typeface="Georgia"/>
              </a:rPr>
              <a:t> </a:t>
            </a:r>
            <a:r>
              <a:rPr sz="2800" spc="4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f</a:t>
            </a:r>
            <a:r>
              <a:rPr sz="2800" spc="265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all</a:t>
            </a:r>
            <a:r>
              <a:rPr sz="2800" spc="26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problems</a:t>
            </a:r>
            <a:r>
              <a:rPr sz="2800" spc="183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which</a:t>
            </a:r>
            <a:r>
              <a:rPr sz="2800" spc="225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c</a:t>
            </a:r>
            <a:r>
              <a:rPr sz="2800" spc="4" dirty="0">
                <a:latin typeface="Georgia"/>
                <a:cs typeface="Georgia"/>
              </a:rPr>
              <a:t>a</a:t>
            </a: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251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b</a:t>
            </a:r>
            <a:r>
              <a:rPr sz="2800" spc="0" dirty="0">
                <a:latin typeface="Georgia"/>
                <a:cs typeface="Georgia"/>
              </a:rPr>
              <a:t>e</a:t>
            </a:r>
            <a:r>
              <a:rPr sz="2800" spc="260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s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lved</a:t>
            </a:r>
            <a:r>
              <a:rPr sz="2800" spc="211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b</a:t>
            </a:r>
            <a:r>
              <a:rPr sz="2800" spc="0" dirty="0">
                <a:latin typeface="Georgia"/>
                <a:cs typeface="Georgia"/>
              </a:rPr>
              <a:t>y</a:t>
            </a:r>
            <a:r>
              <a:rPr sz="2800" spc="260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a</a:t>
            </a:r>
            <a:r>
              <a:rPr sz="2800" spc="279" dirty="0">
                <a:latin typeface="Georgia"/>
                <a:cs typeface="Georgia"/>
              </a:rPr>
              <a:t> </a:t>
            </a:r>
            <a:r>
              <a:rPr sz="2800" spc="14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o</a:t>
            </a:r>
            <a:r>
              <a:rPr sz="2800" spc="9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- </a:t>
            </a:r>
            <a:endParaRPr sz="2800" dirty="0">
              <a:latin typeface="Georgia"/>
              <a:cs typeface="Georgia"/>
            </a:endParaRPr>
          </a:p>
          <a:p>
            <a:pPr marL="515112" marR="209678">
              <a:lnSpc>
                <a:spcPts val="3181"/>
              </a:lnSpc>
              <a:spcBef>
                <a:spcPts val="178"/>
              </a:spcBef>
            </a:pPr>
            <a:r>
              <a:rPr sz="2800" spc="0" dirty="0">
                <a:latin typeface="Georgia"/>
                <a:cs typeface="Georgia"/>
              </a:rPr>
              <a:t>d</a:t>
            </a:r>
            <a:r>
              <a:rPr sz="2800" spc="9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terministic</a:t>
            </a:r>
            <a:r>
              <a:rPr sz="2800" spc="-144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Tu</a:t>
            </a:r>
            <a:r>
              <a:rPr sz="2800" spc="-4" dirty="0">
                <a:latin typeface="Georgia"/>
                <a:cs typeface="Georgia"/>
              </a:rPr>
              <a:t>r</a:t>
            </a:r>
            <a:r>
              <a:rPr sz="2800" spc="0" dirty="0">
                <a:latin typeface="Georgia"/>
                <a:cs typeface="Georgia"/>
              </a:rPr>
              <a:t>ing</a:t>
            </a:r>
            <a:r>
              <a:rPr sz="2800" spc="-1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m</a:t>
            </a:r>
            <a:r>
              <a:rPr sz="2800" spc="-9" dirty="0">
                <a:latin typeface="Georgia"/>
                <a:cs typeface="Georgia"/>
              </a:rPr>
              <a:t>a</a:t>
            </a:r>
            <a:r>
              <a:rPr sz="2800" spc="0" dirty="0">
                <a:latin typeface="Georgia"/>
                <a:cs typeface="Georgia"/>
              </a:rPr>
              <a:t>chine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i</a:t>
            </a:r>
            <a:r>
              <a:rPr sz="2800" spc="0" dirty="0">
                <a:latin typeface="Georgia"/>
                <a:cs typeface="Georgia"/>
              </a:rPr>
              <a:t>n po</a:t>
            </a:r>
            <a:r>
              <a:rPr sz="2800" spc="4" dirty="0">
                <a:latin typeface="Georgia"/>
                <a:cs typeface="Georgia"/>
              </a:rPr>
              <a:t>l</a:t>
            </a:r>
            <a:r>
              <a:rPr sz="2800" spc="0" dirty="0">
                <a:latin typeface="Georgia"/>
                <a:cs typeface="Georgia"/>
              </a:rPr>
              <a:t>yn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mi</a:t>
            </a:r>
            <a:r>
              <a:rPr sz="2800" spc="-9" dirty="0">
                <a:latin typeface="Georgia"/>
                <a:cs typeface="Georgia"/>
              </a:rPr>
              <a:t>a</a:t>
            </a:r>
            <a:r>
              <a:rPr sz="2800" spc="0" dirty="0">
                <a:latin typeface="Georgia"/>
                <a:cs typeface="Georgia"/>
              </a:rPr>
              <a:t>l</a:t>
            </a:r>
            <a:r>
              <a:rPr sz="2800" spc="-72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ti</a:t>
            </a:r>
            <a:r>
              <a:rPr sz="2800" spc="-9" dirty="0">
                <a:latin typeface="Georgia"/>
                <a:cs typeface="Georgia"/>
              </a:rPr>
              <a:t>m</a:t>
            </a:r>
            <a:r>
              <a:rPr sz="2800" spc="4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.</a:t>
            </a:r>
            <a:endParaRPr sz="2800" dirty="0">
              <a:latin typeface="Georgia"/>
              <a:cs typeface="Georgia"/>
            </a:endParaRPr>
          </a:p>
          <a:p>
            <a:pPr marL="3859672" marR="4383177" algn="ctr">
              <a:lnSpc>
                <a:spcPct val="94685"/>
              </a:lnSpc>
              <a:spcBef>
                <a:spcPts val="178"/>
              </a:spcBef>
            </a:pPr>
            <a:r>
              <a:rPr sz="2800" spc="-4" dirty="0">
                <a:latin typeface="Georgia"/>
                <a:cs typeface="Georgia"/>
              </a:rPr>
              <a:t>OR</a:t>
            </a:r>
            <a:endParaRPr sz="2800" dirty="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53"/>
              </a:spcBef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latin typeface="Georgia"/>
                <a:cs typeface="Georgia"/>
              </a:rPr>
              <a:t>The</a:t>
            </a:r>
            <a:r>
              <a:rPr sz="2800" spc="537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prob</a:t>
            </a:r>
            <a:r>
              <a:rPr sz="2800" spc="4" dirty="0">
                <a:latin typeface="Georgia"/>
                <a:cs typeface="Georgia"/>
              </a:rPr>
              <a:t>l</a:t>
            </a:r>
            <a:r>
              <a:rPr sz="2800" spc="0" dirty="0">
                <a:latin typeface="Georgia"/>
                <a:cs typeface="Georgia"/>
              </a:rPr>
              <a:t>ems</a:t>
            </a:r>
            <a:r>
              <a:rPr sz="2800" spc="468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whose</a:t>
            </a:r>
            <a:r>
              <a:rPr sz="2800" spc="502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s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luti</a:t>
            </a:r>
            <a:r>
              <a:rPr sz="2800" spc="14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474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can  </a:t>
            </a:r>
            <a:r>
              <a:rPr sz="2800" spc="431" dirty="0">
                <a:latin typeface="Georgia"/>
                <a:cs typeface="Georgia"/>
              </a:rPr>
              <a:t> </a:t>
            </a:r>
            <a:r>
              <a:rPr sz="2800" spc="4" dirty="0">
                <a:latin typeface="Georgia"/>
                <a:cs typeface="Georgia"/>
              </a:rPr>
              <a:t>b</a:t>
            </a:r>
            <a:r>
              <a:rPr sz="2800" spc="0" dirty="0">
                <a:latin typeface="Georgia"/>
                <a:cs typeface="Georgia"/>
              </a:rPr>
              <a:t>e</a:t>
            </a:r>
            <a:r>
              <a:rPr sz="2800" spc="550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verified</a:t>
            </a:r>
            <a:r>
              <a:rPr sz="2800" spc="500" dirty="0">
                <a:latin typeface="Georgia"/>
                <a:cs typeface="Georgia"/>
              </a:rPr>
              <a:t> </a:t>
            </a:r>
            <a:r>
              <a:rPr sz="2800" spc="-4" dirty="0">
                <a:latin typeface="Georgia"/>
                <a:cs typeface="Georgia"/>
              </a:rPr>
              <a:t>in</a:t>
            </a:r>
            <a:endParaRPr sz="2800" dirty="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5"/>
              </a:spcBef>
            </a:pPr>
            <a:r>
              <a:rPr sz="2800" spc="0" dirty="0">
                <a:latin typeface="Georgia"/>
                <a:cs typeface="Georgia"/>
              </a:rPr>
              <a:t>po</a:t>
            </a:r>
            <a:r>
              <a:rPr sz="2800" spc="4" dirty="0">
                <a:latin typeface="Georgia"/>
                <a:cs typeface="Georgia"/>
              </a:rPr>
              <a:t>l</a:t>
            </a:r>
            <a:r>
              <a:rPr sz="2800" spc="0" dirty="0">
                <a:latin typeface="Georgia"/>
                <a:cs typeface="Georgia"/>
              </a:rPr>
              <a:t>y</a:t>
            </a:r>
            <a:r>
              <a:rPr sz="2800" spc="9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omial</a:t>
            </a:r>
            <a:r>
              <a:rPr sz="2800" spc="-3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time </a:t>
            </a:r>
            <a:r>
              <a:rPr sz="2800" spc="4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-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a determ</a:t>
            </a:r>
            <a:r>
              <a:rPr sz="2800" spc="-14" dirty="0">
                <a:latin typeface="Georgia"/>
                <a:cs typeface="Georgia"/>
              </a:rPr>
              <a:t>i</a:t>
            </a:r>
            <a:r>
              <a:rPr sz="2800" spc="0" dirty="0">
                <a:latin typeface="Georgia"/>
                <a:cs typeface="Georgia"/>
              </a:rPr>
              <a:t>nistic</a:t>
            </a:r>
            <a:r>
              <a:rPr sz="2800" spc="44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m</a:t>
            </a:r>
            <a:r>
              <a:rPr sz="2800" spc="-9" dirty="0">
                <a:latin typeface="Georgia"/>
                <a:cs typeface="Georgia"/>
              </a:rPr>
              <a:t>a</a:t>
            </a:r>
            <a:r>
              <a:rPr sz="2800" spc="0" dirty="0">
                <a:latin typeface="Georgia"/>
                <a:cs typeface="Georgia"/>
              </a:rPr>
              <a:t>chin</a:t>
            </a:r>
            <a:r>
              <a:rPr sz="2800" spc="4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.</a:t>
            </a:r>
            <a:endParaRPr sz="2800" dirty="0">
              <a:latin typeface="Georgia"/>
              <a:cs typeface="Georgia"/>
            </a:endParaRPr>
          </a:p>
          <a:p>
            <a:pPr marL="789736" marR="217174" indent="-274624" algn="just">
              <a:lnSpc>
                <a:spcPts val="2880"/>
              </a:lnSpc>
              <a:spcBef>
                <a:spcPts val="780"/>
              </a:spcBef>
              <a:tabLst>
                <a:tab pos="1460500" algn="l"/>
              </a:tabLst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If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are</a:t>
            </a:r>
            <a:r>
              <a:rPr sz="2400" spc="38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given</a:t>
            </a:r>
            <a:r>
              <a:rPr sz="2400" spc="38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37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ate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37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solution,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400" spc="37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ver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fy that	the</a:t>
            </a:r>
            <a:r>
              <a:rPr sz="2400" spc="47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certi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ate</a:t>
            </a:r>
            <a:r>
              <a:rPr sz="2400" spc="46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45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corr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ct</a:t>
            </a:r>
            <a:r>
              <a:rPr sz="2400" spc="4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46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po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omial</a:t>
            </a:r>
            <a:r>
              <a:rPr sz="2400" spc="49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time</a:t>
            </a:r>
            <a:r>
              <a:rPr sz="2400" spc="45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46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he size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of input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to the problem(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4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TSP )</a:t>
            </a:r>
            <a:endParaRPr sz="2400" dirty="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08997" marR="340931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Continue..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2117" indent="-274320" algn="just">
              <a:lnSpc>
                <a:spcPts val="3090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b="1" spc="0" dirty="0">
                <a:latin typeface="Georgia"/>
                <a:cs typeface="Georgia"/>
              </a:rPr>
              <a:t>Nond</a:t>
            </a:r>
            <a:r>
              <a:rPr sz="2700" b="1" spc="9" dirty="0">
                <a:latin typeface="Georgia"/>
                <a:cs typeface="Georgia"/>
              </a:rPr>
              <a:t>e</a:t>
            </a:r>
            <a:r>
              <a:rPr sz="2700" b="1" spc="0" dirty="0">
                <a:latin typeface="Georgia"/>
                <a:cs typeface="Georgia"/>
              </a:rPr>
              <a:t>termi</a:t>
            </a:r>
            <a:r>
              <a:rPr sz="2700" b="1" spc="-4" dirty="0">
                <a:latin typeface="Georgia"/>
                <a:cs typeface="Georgia"/>
              </a:rPr>
              <a:t>n</a:t>
            </a:r>
            <a:r>
              <a:rPr sz="2700" b="1" spc="0" dirty="0">
                <a:latin typeface="Georgia"/>
                <a:cs typeface="Georgia"/>
              </a:rPr>
              <a:t>istic</a:t>
            </a:r>
            <a:r>
              <a:rPr sz="2700" b="1" spc="547" dirty="0">
                <a:latin typeface="Georgia"/>
                <a:cs typeface="Georgia"/>
              </a:rPr>
              <a:t> </a:t>
            </a:r>
            <a:r>
              <a:rPr sz="2700" b="1" spc="0" dirty="0">
                <a:latin typeface="Georgia"/>
                <a:cs typeface="Georgia"/>
              </a:rPr>
              <a:t>algor</a:t>
            </a:r>
            <a:r>
              <a:rPr sz="2700" b="1" spc="-9" dirty="0">
                <a:latin typeface="Georgia"/>
                <a:cs typeface="Georgia"/>
              </a:rPr>
              <a:t>i</a:t>
            </a:r>
            <a:r>
              <a:rPr sz="2700" b="1" spc="0" dirty="0">
                <a:latin typeface="Georgia"/>
                <a:cs typeface="Georgia"/>
              </a:rPr>
              <a:t>thms:</a:t>
            </a:r>
            <a:r>
              <a:rPr sz="2700" b="1" spc="562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are</a:t>
            </a:r>
            <a:r>
              <a:rPr sz="2700" spc="59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lowed</a:t>
            </a:r>
            <a:r>
              <a:rPr sz="2700" spc="582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to </a:t>
            </a:r>
            <a:endParaRPr sz="2700">
              <a:latin typeface="Georgia"/>
              <a:cs typeface="Georgia"/>
            </a:endParaRPr>
          </a:p>
          <a:p>
            <a:pPr marL="515112" marR="212117" algn="just">
              <a:lnSpc>
                <a:spcPts val="3067"/>
              </a:lnSpc>
              <a:spcBef>
                <a:spcPts val="173"/>
              </a:spcBef>
            </a:pPr>
            <a:r>
              <a:rPr sz="2700" spc="0" dirty="0">
                <a:latin typeface="Georgia"/>
                <a:cs typeface="Georgia"/>
              </a:rPr>
              <a:t>contain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per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tions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whose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-1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tcomes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are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limited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</a:t>
            </a:r>
            <a:endParaRPr sz="2700">
              <a:latin typeface="Georgia"/>
              <a:cs typeface="Georgia"/>
            </a:endParaRPr>
          </a:p>
          <a:p>
            <a:pPr marL="515112" marR="212117" algn="just">
              <a:lnSpc>
                <a:spcPts val="3067"/>
              </a:lnSpc>
              <a:spcBef>
                <a:spcPts val="171"/>
              </a:spcBef>
            </a:pP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iven</a:t>
            </a:r>
            <a:r>
              <a:rPr sz="2700" spc="64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set</a:t>
            </a:r>
            <a:r>
              <a:rPr sz="2700" spc="63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 pos</a:t>
            </a:r>
            <a:r>
              <a:rPr sz="2700" spc="-14" dirty="0">
                <a:latin typeface="Georgia"/>
                <a:cs typeface="Georgia"/>
              </a:rPr>
              <a:t>s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bilities  i</a:t>
            </a:r>
            <a:r>
              <a:rPr sz="2700" spc="-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stead</a:t>
            </a:r>
            <a:r>
              <a:rPr sz="2700" spc="640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 being</a:t>
            </a:r>
            <a:r>
              <a:rPr sz="2700" spc="65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un</a:t>
            </a:r>
            <a:r>
              <a:rPr sz="2700" spc="-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quely </a:t>
            </a:r>
            <a:endParaRPr sz="2700">
              <a:latin typeface="Georgia"/>
              <a:cs typeface="Georgia"/>
            </a:endParaRPr>
          </a:p>
          <a:p>
            <a:pPr marL="515112" marR="212117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defin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-4" dirty="0">
                <a:latin typeface="Georgia"/>
                <a:cs typeface="Georgia"/>
              </a:rPr>
              <a:t>d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4708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Machine </a:t>
            </a:r>
            <a:r>
              <a:rPr sz="2700" spc="35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pable </a:t>
            </a:r>
            <a:r>
              <a:rPr sz="2700" spc="350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</a:t>
            </a:r>
            <a:r>
              <a:rPr sz="2700" spc="35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exec</a:t>
            </a:r>
            <a:r>
              <a:rPr sz="2700" spc="-14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ng </a:t>
            </a:r>
            <a:r>
              <a:rPr sz="2700" spc="36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</a:t>
            </a:r>
            <a:r>
              <a:rPr sz="2700" spc="36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nonde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er</a:t>
            </a:r>
            <a:r>
              <a:rPr sz="2700" spc="-9" dirty="0">
                <a:latin typeface="Georgia"/>
                <a:cs typeface="Georgia"/>
              </a:rPr>
              <a:t>mi</a:t>
            </a:r>
            <a:r>
              <a:rPr sz="2700" spc="0" dirty="0">
                <a:latin typeface="Georgia"/>
                <a:cs typeface="Georgia"/>
              </a:rPr>
              <a:t>nis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ic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5"/>
              </a:spcBef>
            </a:pPr>
            <a:r>
              <a:rPr sz="2700" spc="0" dirty="0">
                <a:latin typeface="Georgia"/>
                <a:cs typeface="Georgia"/>
              </a:rPr>
              <a:t>algorithm</a:t>
            </a:r>
            <a:r>
              <a:rPr sz="2700" spc="64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ca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led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nondeterministic ma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hine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13120" y="2763594"/>
            <a:ext cx="2087864" cy="1503605"/>
          </a:xfrm>
          <a:custGeom>
            <a:avLst/>
            <a:gdLst/>
            <a:ahLst/>
            <a:cxnLst/>
            <a:rect l="l" t="t" r="r" b="b"/>
            <a:pathLst>
              <a:path w="2087864" h="1503605">
                <a:moveTo>
                  <a:pt x="5921" y="720254"/>
                </a:moveTo>
                <a:lnTo>
                  <a:pt x="2392" y="732580"/>
                </a:lnTo>
                <a:lnTo>
                  <a:pt x="0" y="741478"/>
                </a:lnTo>
                <a:lnTo>
                  <a:pt x="1032" y="753807"/>
                </a:lnTo>
                <a:lnTo>
                  <a:pt x="2174" y="766386"/>
                </a:lnTo>
                <a:lnTo>
                  <a:pt x="3492" y="779149"/>
                </a:lnTo>
                <a:lnTo>
                  <a:pt x="5051" y="792032"/>
                </a:lnTo>
                <a:lnTo>
                  <a:pt x="6918" y="804967"/>
                </a:lnTo>
                <a:lnTo>
                  <a:pt x="9159" y="817890"/>
                </a:lnTo>
                <a:lnTo>
                  <a:pt x="11839" y="830735"/>
                </a:lnTo>
                <a:lnTo>
                  <a:pt x="15024" y="843435"/>
                </a:lnTo>
                <a:lnTo>
                  <a:pt x="18781" y="855926"/>
                </a:lnTo>
                <a:lnTo>
                  <a:pt x="23176" y="868141"/>
                </a:lnTo>
                <a:lnTo>
                  <a:pt x="28274" y="880015"/>
                </a:lnTo>
                <a:lnTo>
                  <a:pt x="34141" y="891482"/>
                </a:lnTo>
                <a:lnTo>
                  <a:pt x="40844" y="902477"/>
                </a:lnTo>
                <a:lnTo>
                  <a:pt x="48449" y="912932"/>
                </a:lnTo>
                <a:lnTo>
                  <a:pt x="62043" y="928066"/>
                </a:lnTo>
                <a:lnTo>
                  <a:pt x="71845" y="936929"/>
                </a:lnTo>
                <a:lnTo>
                  <a:pt x="81795" y="944725"/>
                </a:lnTo>
                <a:lnTo>
                  <a:pt x="91828" y="951838"/>
                </a:lnTo>
                <a:lnTo>
                  <a:pt x="101884" y="958651"/>
                </a:lnTo>
                <a:lnTo>
                  <a:pt x="111899" y="965545"/>
                </a:lnTo>
                <a:lnTo>
                  <a:pt x="121811" y="972904"/>
                </a:lnTo>
                <a:lnTo>
                  <a:pt x="131557" y="981111"/>
                </a:lnTo>
                <a:lnTo>
                  <a:pt x="136651" y="985953"/>
                </a:lnTo>
                <a:lnTo>
                  <a:pt x="144886" y="995870"/>
                </a:lnTo>
                <a:lnTo>
                  <a:pt x="151820" y="1006808"/>
                </a:lnTo>
                <a:lnTo>
                  <a:pt x="158267" y="1018015"/>
                </a:lnTo>
                <a:lnTo>
                  <a:pt x="165037" y="1028739"/>
                </a:lnTo>
                <a:lnTo>
                  <a:pt x="172943" y="1038227"/>
                </a:lnTo>
                <a:lnTo>
                  <a:pt x="183568" y="1047789"/>
                </a:lnTo>
                <a:lnTo>
                  <a:pt x="192833" y="1055725"/>
                </a:lnTo>
                <a:lnTo>
                  <a:pt x="202506" y="1063695"/>
                </a:lnTo>
                <a:lnTo>
                  <a:pt x="212549" y="1071660"/>
                </a:lnTo>
                <a:lnTo>
                  <a:pt x="222923" y="1079578"/>
                </a:lnTo>
                <a:lnTo>
                  <a:pt x="233587" y="1087408"/>
                </a:lnTo>
                <a:lnTo>
                  <a:pt x="244504" y="1095111"/>
                </a:lnTo>
                <a:lnTo>
                  <a:pt x="255633" y="1102645"/>
                </a:lnTo>
                <a:lnTo>
                  <a:pt x="266936" y="1109969"/>
                </a:lnTo>
                <a:lnTo>
                  <a:pt x="278374" y="1117044"/>
                </a:lnTo>
                <a:lnTo>
                  <a:pt x="289906" y="1123828"/>
                </a:lnTo>
                <a:lnTo>
                  <a:pt x="301495" y="1130280"/>
                </a:lnTo>
                <a:lnTo>
                  <a:pt x="313100" y="1136360"/>
                </a:lnTo>
                <a:lnTo>
                  <a:pt x="324683" y="1142027"/>
                </a:lnTo>
                <a:lnTo>
                  <a:pt x="336205" y="1147241"/>
                </a:lnTo>
                <a:lnTo>
                  <a:pt x="347626" y="1151960"/>
                </a:lnTo>
                <a:lnTo>
                  <a:pt x="358907" y="1156145"/>
                </a:lnTo>
                <a:lnTo>
                  <a:pt x="370008" y="1159754"/>
                </a:lnTo>
                <a:lnTo>
                  <a:pt x="373252" y="1160705"/>
                </a:lnTo>
                <a:lnTo>
                  <a:pt x="380964" y="1165695"/>
                </a:lnTo>
                <a:lnTo>
                  <a:pt x="389990" y="1170815"/>
                </a:lnTo>
                <a:lnTo>
                  <a:pt x="400181" y="1176022"/>
                </a:lnTo>
                <a:lnTo>
                  <a:pt x="411386" y="1181277"/>
                </a:lnTo>
                <a:lnTo>
                  <a:pt x="423455" y="1186536"/>
                </a:lnTo>
                <a:lnTo>
                  <a:pt x="436237" y="1191759"/>
                </a:lnTo>
                <a:lnTo>
                  <a:pt x="449583" y="1196904"/>
                </a:lnTo>
                <a:lnTo>
                  <a:pt x="463342" y="1201929"/>
                </a:lnTo>
                <a:lnTo>
                  <a:pt x="477364" y="1206793"/>
                </a:lnTo>
                <a:lnTo>
                  <a:pt x="491498" y="1211455"/>
                </a:lnTo>
                <a:lnTo>
                  <a:pt x="505594" y="1215872"/>
                </a:lnTo>
                <a:lnTo>
                  <a:pt x="519502" y="1220003"/>
                </a:lnTo>
                <a:lnTo>
                  <a:pt x="533072" y="1223807"/>
                </a:lnTo>
                <a:lnTo>
                  <a:pt x="546153" y="1227242"/>
                </a:lnTo>
                <a:lnTo>
                  <a:pt x="558595" y="1230266"/>
                </a:lnTo>
                <a:lnTo>
                  <a:pt x="570247" y="1232839"/>
                </a:lnTo>
                <a:lnTo>
                  <a:pt x="580960" y="1234918"/>
                </a:lnTo>
                <a:lnTo>
                  <a:pt x="590583" y="1236461"/>
                </a:lnTo>
                <a:lnTo>
                  <a:pt x="593978" y="1236905"/>
                </a:lnTo>
                <a:lnTo>
                  <a:pt x="605859" y="1241292"/>
                </a:lnTo>
                <a:lnTo>
                  <a:pt x="617854" y="1245763"/>
                </a:lnTo>
                <a:lnTo>
                  <a:pt x="629923" y="1250234"/>
                </a:lnTo>
                <a:lnTo>
                  <a:pt x="642026" y="1254620"/>
                </a:lnTo>
                <a:lnTo>
                  <a:pt x="654123" y="1258837"/>
                </a:lnTo>
                <a:lnTo>
                  <a:pt x="666173" y="1262802"/>
                </a:lnTo>
                <a:lnTo>
                  <a:pt x="678136" y="1266429"/>
                </a:lnTo>
                <a:lnTo>
                  <a:pt x="686180" y="1268655"/>
                </a:lnTo>
                <a:lnTo>
                  <a:pt x="700616" y="1272567"/>
                </a:lnTo>
                <a:lnTo>
                  <a:pt x="716777" y="1276961"/>
                </a:lnTo>
                <a:lnTo>
                  <a:pt x="730620" y="1280730"/>
                </a:lnTo>
                <a:lnTo>
                  <a:pt x="738100" y="1282769"/>
                </a:lnTo>
                <a:lnTo>
                  <a:pt x="738504" y="1282879"/>
                </a:lnTo>
                <a:lnTo>
                  <a:pt x="747525" y="1288687"/>
                </a:lnTo>
                <a:lnTo>
                  <a:pt x="757696" y="1294602"/>
                </a:lnTo>
                <a:lnTo>
                  <a:pt x="768821" y="1300551"/>
                </a:lnTo>
                <a:lnTo>
                  <a:pt x="780704" y="1306462"/>
                </a:lnTo>
                <a:lnTo>
                  <a:pt x="793150" y="1312262"/>
                </a:lnTo>
                <a:lnTo>
                  <a:pt x="805963" y="1317878"/>
                </a:lnTo>
                <a:lnTo>
                  <a:pt x="818946" y="1323236"/>
                </a:lnTo>
                <a:lnTo>
                  <a:pt x="831905" y="1328264"/>
                </a:lnTo>
                <a:lnTo>
                  <a:pt x="844643" y="1332890"/>
                </a:lnTo>
                <a:lnTo>
                  <a:pt x="856965" y="1337039"/>
                </a:lnTo>
                <a:lnTo>
                  <a:pt x="868675" y="1340639"/>
                </a:lnTo>
                <a:lnTo>
                  <a:pt x="879577" y="1343618"/>
                </a:lnTo>
                <a:lnTo>
                  <a:pt x="884681" y="1344855"/>
                </a:lnTo>
                <a:lnTo>
                  <a:pt x="896615" y="1352787"/>
                </a:lnTo>
                <a:lnTo>
                  <a:pt x="906427" y="1359919"/>
                </a:lnTo>
                <a:lnTo>
                  <a:pt x="915238" y="1365673"/>
                </a:lnTo>
                <a:lnTo>
                  <a:pt x="924170" y="1369470"/>
                </a:lnTo>
                <a:lnTo>
                  <a:pt x="934343" y="1370734"/>
                </a:lnTo>
                <a:lnTo>
                  <a:pt x="946880" y="1368886"/>
                </a:lnTo>
                <a:lnTo>
                  <a:pt x="953007" y="1367080"/>
                </a:lnTo>
                <a:lnTo>
                  <a:pt x="965693" y="1371132"/>
                </a:lnTo>
                <a:lnTo>
                  <a:pt x="978125" y="1374777"/>
                </a:lnTo>
                <a:lnTo>
                  <a:pt x="990367" y="1378052"/>
                </a:lnTo>
                <a:lnTo>
                  <a:pt x="1002480" y="1380991"/>
                </a:lnTo>
                <a:lnTo>
                  <a:pt x="1014527" y="1383633"/>
                </a:lnTo>
                <a:lnTo>
                  <a:pt x="1026571" y="1386013"/>
                </a:lnTo>
                <a:lnTo>
                  <a:pt x="1038673" y="1388167"/>
                </a:lnTo>
                <a:lnTo>
                  <a:pt x="1050897" y="1390131"/>
                </a:lnTo>
                <a:lnTo>
                  <a:pt x="1063305" y="1391942"/>
                </a:lnTo>
                <a:lnTo>
                  <a:pt x="1075960" y="1393637"/>
                </a:lnTo>
                <a:lnTo>
                  <a:pt x="1088923" y="1395250"/>
                </a:lnTo>
                <a:lnTo>
                  <a:pt x="1102257" y="1396818"/>
                </a:lnTo>
                <a:lnTo>
                  <a:pt x="1105407" y="1397179"/>
                </a:lnTo>
                <a:lnTo>
                  <a:pt x="1117062" y="1399936"/>
                </a:lnTo>
                <a:lnTo>
                  <a:pt x="1129275" y="1402553"/>
                </a:lnTo>
                <a:lnTo>
                  <a:pt x="1141909" y="1405101"/>
                </a:lnTo>
                <a:lnTo>
                  <a:pt x="1154830" y="1407650"/>
                </a:lnTo>
                <a:lnTo>
                  <a:pt x="1167902" y="1410272"/>
                </a:lnTo>
                <a:lnTo>
                  <a:pt x="1180990" y="1413034"/>
                </a:lnTo>
                <a:lnTo>
                  <a:pt x="1193957" y="1416008"/>
                </a:lnTo>
                <a:lnTo>
                  <a:pt x="1206668" y="1419264"/>
                </a:lnTo>
                <a:lnTo>
                  <a:pt x="1218988" y="1422872"/>
                </a:lnTo>
                <a:lnTo>
                  <a:pt x="1230781" y="1426902"/>
                </a:lnTo>
                <a:lnTo>
                  <a:pt x="1241912" y="1431424"/>
                </a:lnTo>
                <a:lnTo>
                  <a:pt x="1249933" y="1435279"/>
                </a:lnTo>
                <a:lnTo>
                  <a:pt x="1264283" y="1442541"/>
                </a:lnTo>
                <a:lnTo>
                  <a:pt x="1275563" y="1448422"/>
                </a:lnTo>
                <a:lnTo>
                  <a:pt x="1284278" y="1453101"/>
                </a:lnTo>
                <a:lnTo>
                  <a:pt x="1290931" y="1456758"/>
                </a:lnTo>
                <a:lnTo>
                  <a:pt x="1296027" y="1459571"/>
                </a:lnTo>
                <a:lnTo>
                  <a:pt x="1300068" y="1461719"/>
                </a:lnTo>
                <a:lnTo>
                  <a:pt x="1303560" y="1463380"/>
                </a:lnTo>
                <a:lnTo>
                  <a:pt x="1307005" y="1464734"/>
                </a:lnTo>
                <a:lnTo>
                  <a:pt x="1310908" y="1465960"/>
                </a:lnTo>
                <a:lnTo>
                  <a:pt x="1315772" y="1467236"/>
                </a:lnTo>
                <a:lnTo>
                  <a:pt x="1322102" y="1468741"/>
                </a:lnTo>
                <a:lnTo>
                  <a:pt x="1330399" y="1470654"/>
                </a:lnTo>
                <a:lnTo>
                  <a:pt x="1341170" y="1473153"/>
                </a:lnTo>
                <a:lnTo>
                  <a:pt x="1342135" y="1473379"/>
                </a:lnTo>
                <a:lnTo>
                  <a:pt x="1353801" y="1480714"/>
                </a:lnTo>
                <a:lnTo>
                  <a:pt x="1364847" y="1486724"/>
                </a:lnTo>
                <a:lnTo>
                  <a:pt x="1375736" y="1491739"/>
                </a:lnTo>
                <a:lnTo>
                  <a:pt x="1386930" y="1496090"/>
                </a:lnTo>
                <a:lnTo>
                  <a:pt x="1398891" y="1500108"/>
                </a:lnTo>
                <a:lnTo>
                  <a:pt x="1410334" y="1503605"/>
                </a:lnTo>
                <a:lnTo>
                  <a:pt x="1427256" y="1502865"/>
                </a:lnTo>
                <a:lnTo>
                  <a:pt x="1443016" y="1502134"/>
                </a:lnTo>
                <a:lnTo>
                  <a:pt x="1457735" y="1501395"/>
                </a:lnTo>
                <a:lnTo>
                  <a:pt x="1471533" y="1500631"/>
                </a:lnTo>
                <a:lnTo>
                  <a:pt x="1484528" y="1499824"/>
                </a:lnTo>
                <a:lnTo>
                  <a:pt x="1496840" y="1498958"/>
                </a:lnTo>
                <a:lnTo>
                  <a:pt x="1508589" y="1498014"/>
                </a:lnTo>
                <a:lnTo>
                  <a:pt x="1519894" y="1496975"/>
                </a:lnTo>
                <a:lnTo>
                  <a:pt x="1530874" y="1495825"/>
                </a:lnTo>
                <a:lnTo>
                  <a:pt x="1541650" y="1494545"/>
                </a:lnTo>
                <a:lnTo>
                  <a:pt x="1552340" y="1493119"/>
                </a:lnTo>
                <a:lnTo>
                  <a:pt x="1563064" y="1491529"/>
                </a:lnTo>
                <a:lnTo>
                  <a:pt x="1573942" y="1489759"/>
                </a:lnTo>
                <a:lnTo>
                  <a:pt x="1585093" y="1487789"/>
                </a:lnTo>
                <a:lnTo>
                  <a:pt x="1596636" y="1485604"/>
                </a:lnTo>
                <a:lnTo>
                  <a:pt x="1608691" y="1483186"/>
                </a:lnTo>
                <a:lnTo>
                  <a:pt x="1621377" y="1480518"/>
                </a:lnTo>
                <a:lnTo>
                  <a:pt x="1634815" y="1477581"/>
                </a:lnTo>
                <a:lnTo>
                  <a:pt x="1649123" y="1474360"/>
                </a:lnTo>
                <a:lnTo>
                  <a:pt x="1662585" y="1465507"/>
                </a:lnTo>
                <a:lnTo>
                  <a:pt x="1672682" y="1458212"/>
                </a:lnTo>
                <a:lnTo>
                  <a:pt x="1683556" y="1451496"/>
                </a:lnTo>
                <a:lnTo>
                  <a:pt x="1695057" y="1445359"/>
                </a:lnTo>
                <a:lnTo>
                  <a:pt x="1707038" y="1439805"/>
                </a:lnTo>
                <a:lnTo>
                  <a:pt x="1719350" y="1434834"/>
                </a:lnTo>
                <a:lnTo>
                  <a:pt x="1731843" y="1430448"/>
                </a:lnTo>
                <a:lnTo>
                  <a:pt x="1744371" y="1426649"/>
                </a:lnTo>
                <a:lnTo>
                  <a:pt x="1756784" y="1423437"/>
                </a:lnTo>
                <a:lnTo>
                  <a:pt x="1767712" y="1421055"/>
                </a:lnTo>
                <a:lnTo>
                  <a:pt x="1778162" y="1413904"/>
                </a:lnTo>
                <a:lnTo>
                  <a:pt x="1788439" y="1406574"/>
                </a:lnTo>
                <a:lnTo>
                  <a:pt x="1798609" y="1399134"/>
                </a:lnTo>
                <a:lnTo>
                  <a:pt x="1808741" y="1391652"/>
                </a:lnTo>
                <a:lnTo>
                  <a:pt x="1818901" y="1384197"/>
                </a:lnTo>
                <a:lnTo>
                  <a:pt x="1829157" y="1376837"/>
                </a:lnTo>
                <a:lnTo>
                  <a:pt x="1839576" y="1369641"/>
                </a:lnTo>
                <a:lnTo>
                  <a:pt x="1850226" y="1362678"/>
                </a:lnTo>
                <a:lnTo>
                  <a:pt x="1861173" y="1356015"/>
                </a:lnTo>
                <a:lnTo>
                  <a:pt x="1872485" y="1349721"/>
                </a:lnTo>
                <a:lnTo>
                  <a:pt x="1882139" y="1344855"/>
                </a:lnTo>
                <a:lnTo>
                  <a:pt x="1888158" y="1333383"/>
                </a:lnTo>
                <a:lnTo>
                  <a:pt x="1894326" y="1322101"/>
                </a:lnTo>
                <a:lnTo>
                  <a:pt x="1900635" y="1310990"/>
                </a:lnTo>
                <a:lnTo>
                  <a:pt x="1907078" y="1300032"/>
                </a:lnTo>
                <a:lnTo>
                  <a:pt x="1913647" y="1289206"/>
                </a:lnTo>
                <a:lnTo>
                  <a:pt x="1920336" y="1278494"/>
                </a:lnTo>
                <a:lnTo>
                  <a:pt x="1927135" y="1267875"/>
                </a:lnTo>
                <a:lnTo>
                  <a:pt x="1934038" y="1257330"/>
                </a:lnTo>
                <a:lnTo>
                  <a:pt x="1941037" y="1246841"/>
                </a:lnTo>
                <a:lnTo>
                  <a:pt x="1948125" y="1236387"/>
                </a:lnTo>
                <a:lnTo>
                  <a:pt x="1955293" y="1225950"/>
                </a:lnTo>
                <a:lnTo>
                  <a:pt x="1962534" y="1215509"/>
                </a:lnTo>
                <a:lnTo>
                  <a:pt x="1969842" y="1205045"/>
                </a:lnTo>
                <a:lnTo>
                  <a:pt x="1974214" y="1198805"/>
                </a:lnTo>
                <a:lnTo>
                  <a:pt x="1981649" y="1187250"/>
                </a:lnTo>
                <a:lnTo>
                  <a:pt x="1989651" y="1173696"/>
                </a:lnTo>
                <a:lnTo>
                  <a:pt x="1997821" y="1159066"/>
                </a:lnTo>
                <a:lnTo>
                  <a:pt x="2005764" y="1144282"/>
                </a:lnTo>
                <a:lnTo>
                  <a:pt x="2013082" y="1130265"/>
                </a:lnTo>
                <a:lnTo>
                  <a:pt x="2019378" y="1117938"/>
                </a:lnTo>
                <a:lnTo>
                  <a:pt x="2024254" y="1108223"/>
                </a:lnTo>
                <a:lnTo>
                  <a:pt x="2027314" y="1102041"/>
                </a:lnTo>
                <a:lnTo>
                  <a:pt x="2030296" y="1087609"/>
                </a:lnTo>
                <a:lnTo>
                  <a:pt x="2031898" y="1077579"/>
                </a:lnTo>
                <a:lnTo>
                  <a:pt x="2033062" y="1069895"/>
                </a:lnTo>
                <a:lnTo>
                  <a:pt x="2033854" y="1064292"/>
                </a:lnTo>
                <a:lnTo>
                  <a:pt x="2034668" y="1057297"/>
                </a:lnTo>
                <a:lnTo>
                  <a:pt x="2034598" y="1060914"/>
                </a:lnTo>
                <a:lnTo>
                  <a:pt x="2035268" y="1063469"/>
                </a:lnTo>
                <a:lnTo>
                  <a:pt x="2038654" y="1062235"/>
                </a:lnTo>
                <a:lnTo>
                  <a:pt x="2040685" y="1059405"/>
                </a:lnTo>
                <a:lnTo>
                  <a:pt x="2043277" y="1054922"/>
                </a:lnTo>
                <a:lnTo>
                  <a:pt x="2046498" y="1048519"/>
                </a:lnTo>
                <a:lnTo>
                  <a:pt x="2050414" y="1039928"/>
                </a:lnTo>
                <a:lnTo>
                  <a:pt x="2054725" y="1028419"/>
                </a:lnTo>
                <a:lnTo>
                  <a:pt x="2058487" y="1016468"/>
                </a:lnTo>
                <a:lnTo>
                  <a:pt x="2061821" y="1004183"/>
                </a:lnTo>
                <a:lnTo>
                  <a:pt x="2064847" y="991666"/>
                </a:lnTo>
                <a:lnTo>
                  <a:pt x="2067684" y="979024"/>
                </a:lnTo>
                <a:lnTo>
                  <a:pt x="2070453" y="966361"/>
                </a:lnTo>
                <a:lnTo>
                  <a:pt x="2073273" y="953782"/>
                </a:lnTo>
                <a:lnTo>
                  <a:pt x="2076264" y="941392"/>
                </a:lnTo>
                <a:lnTo>
                  <a:pt x="2079547" y="929295"/>
                </a:lnTo>
                <a:lnTo>
                  <a:pt x="2080640" y="925628"/>
                </a:lnTo>
                <a:lnTo>
                  <a:pt x="2084297" y="897059"/>
                </a:lnTo>
                <a:lnTo>
                  <a:pt x="2086701" y="868523"/>
                </a:lnTo>
                <a:lnTo>
                  <a:pt x="2087864" y="840053"/>
                </a:lnTo>
                <a:lnTo>
                  <a:pt x="2087796" y="811684"/>
                </a:lnTo>
                <a:lnTo>
                  <a:pt x="2086508" y="783448"/>
                </a:lnTo>
                <a:lnTo>
                  <a:pt x="2084011" y="755379"/>
                </a:lnTo>
                <a:lnTo>
                  <a:pt x="2080316" y="727509"/>
                </a:lnTo>
                <a:lnTo>
                  <a:pt x="2075432" y="699873"/>
                </a:lnTo>
                <a:lnTo>
                  <a:pt x="2069372" y="672504"/>
                </a:lnTo>
                <a:lnTo>
                  <a:pt x="2062146" y="645435"/>
                </a:lnTo>
                <a:lnTo>
                  <a:pt x="2053764" y="618699"/>
                </a:lnTo>
                <a:lnTo>
                  <a:pt x="2044238" y="592330"/>
                </a:lnTo>
                <a:lnTo>
                  <a:pt x="2033578" y="566361"/>
                </a:lnTo>
                <a:lnTo>
                  <a:pt x="2021795" y="540825"/>
                </a:lnTo>
                <a:lnTo>
                  <a:pt x="2008899" y="515756"/>
                </a:lnTo>
                <a:lnTo>
                  <a:pt x="1994902" y="491187"/>
                </a:lnTo>
                <a:lnTo>
                  <a:pt x="1979814" y="467151"/>
                </a:lnTo>
                <a:lnTo>
                  <a:pt x="1963646" y="443683"/>
                </a:lnTo>
                <a:lnTo>
                  <a:pt x="1946409" y="420814"/>
                </a:lnTo>
                <a:lnTo>
                  <a:pt x="1928113" y="398578"/>
                </a:lnTo>
                <a:lnTo>
                  <a:pt x="1910338" y="380261"/>
                </a:lnTo>
                <a:lnTo>
                  <a:pt x="1891069" y="363484"/>
                </a:lnTo>
                <a:lnTo>
                  <a:pt x="1870993" y="347609"/>
                </a:lnTo>
                <a:lnTo>
                  <a:pt x="1860867" y="339809"/>
                </a:lnTo>
                <a:lnTo>
                  <a:pt x="1850797" y="331995"/>
                </a:lnTo>
                <a:lnTo>
                  <a:pt x="1840868" y="324087"/>
                </a:lnTo>
                <a:lnTo>
                  <a:pt x="1831167" y="316004"/>
                </a:lnTo>
                <a:lnTo>
                  <a:pt x="1821779" y="307667"/>
                </a:lnTo>
                <a:lnTo>
                  <a:pt x="1813813" y="300026"/>
                </a:lnTo>
                <a:lnTo>
                  <a:pt x="1804668" y="290510"/>
                </a:lnTo>
                <a:lnTo>
                  <a:pt x="1796174" y="281032"/>
                </a:lnTo>
                <a:lnTo>
                  <a:pt x="1788050" y="271641"/>
                </a:lnTo>
                <a:lnTo>
                  <a:pt x="1780015" y="262384"/>
                </a:lnTo>
                <a:lnTo>
                  <a:pt x="1771789" y="253312"/>
                </a:lnTo>
                <a:lnTo>
                  <a:pt x="1763091" y="244473"/>
                </a:lnTo>
                <a:lnTo>
                  <a:pt x="1753641" y="235914"/>
                </a:lnTo>
                <a:lnTo>
                  <a:pt x="1743157" y="227686"/>
                </a:lnTo>
                <a:lnTo>
                  <a:pt x="1737613" y="223826"/>
                </a:lnTo>
                <a:lnTo>
                  <a:pt x="1732928" y="214136"/>
                </a:lnTo>
                <a:lnTo>
                  <a:pt x="1725977" y="204567"/>
                </a:lnTo>
                <a:lnTo>
                  <a:pt x="1717162" y="195240"/>
                </a:lnTo>
                <a:lnTo>
                  <a:pt x="1706888" y="186277"/>
                </a:lnTo>
                <a:lnTo>
                  <a:pt x="1695555" y="177797"/>
                </a:lnTo>
                <a:lnTo>
                  <a:pt x="1683569" y="169924"/>
                </a:lnTo>
                <a:lnTo>
                  <a:pt x="1671330" y="162777"/>
                </a:lnTo>
                <a:lnTo>
                  <a:pt x="1659243" y="156478"/>
                </a:lnTo>
                <a:lnTo>
                  <a:pt x="1647711" y="151147"/>
                </a:lnTo>
                <a:lnTo>
                  <a:pt x="1639061" y="147626"/>
                </a:lnTo>
                <a:lnTo>
                  <a:pt x="1628501" y="139932"/>
                </a:lnTo>
                <a:lnTo>
                  <a:pt x="1617778" y="132543"/>
                </a:lnTo>
                <a:lnTo>
                  <a:pt x="1606896" y="125459"/>
                </a:lnTo>
                <a:lnTo>
                  <a:pt x="1595862" y="118676"/>
                </a:lnTo>
                <a:lnTo>
                  <a:pt x="1584680" y="112191"/>
                </a:lnTo>
                <a:lnTo>
                  <a:pt x="1573354" y="106004"/>
                </a:lnTo>
                <a:lnTo>
                  <a:pt x="1561890" y="100111"/>
                </a:lnTo>
                <a:lnTo>
                  <a:pt x="1550292" y="94510"/>
                </a:lnTo>
                <a:lnTo>
                  <a:pt x="1538565" y="89198"/>
                </a:lnTo>
                <a:lnTo>
                  <a:pt x="1526714" y="84174"/>
                </a:lnTo>
                <a:lnTo>
                  <a:pt x="1514744" y="79435"/>
                </a:lnTo>
                <a:lnTo>
                  <a:pt x="1502660" y="74977"/>
                </a:lnTo>
                <a:lnTo>
                  <a:pt x="1490467" y="70800"/>
                </a:lnTo>
                <a:lnTo>
                  <a:pt x="1478169" y="66901"/>
                </a:lnTo>
                <a:lnTo>
                  <a:pt x="1465772" y="63277"/>
                </a:lnTo>
                <a:lnTo>
                  <a:pt x="1453280" y="59925"/>
                </a:lnTo>
                <a:lnTo>
                  <a:pt x="1440698" y="56845"/>
                </a:lnTo>
                <a:lnTo>
                  <a:pt x="1428031" y="54032"/>
                </a:lnTo>
                <a:lnTo>
                  <a:pt x="1415283" y="51485"/>
                </a:lnTo>
                <a:lnTo>
                  <a:pt x="1402460" y="49201"/>
                </a:lnTo>
                <a:lnTo>
                  <a:pt x="1388942" y="44754"/>
                </a:lnTo>
                <a:lnTo>
                  <a:pt x="1374662" y="40907"/>
                </a:lnTo>
                <a:lnTo>
                  <a:pt x="1359718" y="37618"/>
                </a:lnTo>
                <a:lnTo>
                  <a:pt x="1344206" y="34844"/>
                </a:lnTo>
                <a:lnTo>
                  <a:pt x="1328223" y="32543"/>
                </a:lnTo>
                <a:lnTo>
                  <a:pt x="1311865" y="30670"/>
                </a:lnTo>
                <a:lnTo>
                  <a:pt x="1295229" y="29184"/>
                </a:lnTo>
                <a:lnTo>
                  <a:pt x="1278411" y="28040"/>
                </a:lnTo>
                <a:lnTo>
                  <a:pt x="1261508" y="27197"/>
                </a:lnTo>
                <a:lnTo>
                  <a:pt x="1244615" y="26611"/>
                </a:lnTo>
                <a:lnTo>
                  <a:pt x="1227831" y="26240"/>
                </a:lnTo>
                <a:lnTo>
                  <a:pt x="1211250" y="26040"/>
                </a:lnTo>
                <a:lnTo>
                  <a:pt x="1121457" y="26032"/>
                </a:lnTo>
                <a:lnTo>
                  <a:pt x="1109007" y="25828"/>
                </a:lnTo>
                <a:lnTo>
                  <a:pt x="1097533" y="25452"/>
                </a:lnTo>
                <a:lnTo>
                  <a:pt x="1079268" y="23018"/>
                </a:lnTo>
                <a:lnTo>
                  <a:pt x="1060726" y="20507"/>
                </a:lnTo>
                <a:lnTo>
                  <a:pt x="1041940" y="17962"/>
                </a:lnTo>
                <a:lnTo>
                  <a:pt x="1022941" y="15426"/>
                </a:lnTo>
                <a:lnTo>
                  <a:pt x="1003762" y="12941"/>
                </a:lnTo>
                <a:lnTo>
                  <a:pt x="984435" y="10551"/>
                </a:lnTo>
                <a:lnTo>
                  <a:pt x="964992" y="8299"/>
                </a:lnTo>
                <a:lnTo>
                  <a:pt x="945465" y="6228"/>
                </a:lnTo>
                <a:lnTo>
                  <a:pt x="925886" y="4380"/>
                </a:lnTo>
                <a:lnTo>
                  <a:pt x="906287" y="2799"/>
                </a:lnTo>
                <a:lnTo>
                  <a:pt x="886701" y="1527"/>
                </a:lnTo>
                <a:lnTo>
                  <a:pt x="867160" y="608"/>
                </a:lnTo>
                <a:lnTo>
                  <a:pt x="847694" y="85"/>
                </a:lnTo>
                <a:lnTo>
                  <a:pt x="828338" y="0"/>
                </a:lnTo>
                <a:lnTo>
                  <a:pt x="809122" y="396"/>
                </a:lnTo>
                <a:lnTo>
                  <a:pt x="790080" y="1316"/>
                </a:lnTo>
                <a:lnTo>
                  <a:pt x="771242" y="2804"/>
                </a:lnTo>
                <a:lnTo>
                  <a:pt x="752641" y="4902"/>
                </a:lnTo>
                <a:lnTo>
                  <a:pt x="734310" y="7654"/>
                </a:lnTo>
                <a:lnTo>
                  <a:pt x="716279" y="11101"/>
                </a:lnTo>
                <a:lnTo>
                  <a:pt x="699037" y="12137"/>
                </a:lnTo>
                <a:lnTo>
                  <a:pt x="683514" y="13105"/>
                </a:lnTo>
                <a:lnTo>
                  <a:pt x="669456" y="14052"/>
                </a:lnTo>
                <a:lnTo>
                  <a:pt x="656607" y="15020"/>
                </a:lnTo>
                <a:lnTo>
                  <a:pt x="644711" y="16056"/>
                </a:lnTo>
                <a:lnTo>
                  <a:pt x="633514" y="17202"/>
                </a:lnTo>
                <a:lnTo>
                  <a:pt x="622760" y="18503"/>
                </a:lnTo>
                <a:lnTo>
                  <a:pt x="612193" y="20004"/>
                </a:lnTo>
                <a:lnTo>
                  <a:pt x="601559" y="21749"/>
                </a:lnTo>
                <a:lnTo>
                  <a:pt x="590602" y="23783"/>
                </a:lnTo>
                <a:lnTo>
                  <a:pt x="579067" y="26149"/>
                </a:lnTo>
                <a:lnTo>
                  <a:pt x="566697" y="28893"/>
                </a:lnTo>
                <a:lnTo>
                  <a:pt x="553239" y="32057"/>
                </a:lnTo>
                <a:lnTo>
                  <a:pt x="534207" y="36891"/>
                </a:lnTo>
                <a:lnTo>
                  <a:pt x="518429" y="40837"/>
                </a:lnTo>
                <a:lnTo>
                  <a:pt x="502043" y="44857"/>
                </a:lnTo>
                <a:lnTo>
                  <a:pt x="486420" y="48639"/>
                </a:lnTo>
                <a:lnTo>
                  <a:pt x="472930" y="51874"/>
                </a:lnTo>
                <a:lnTo>
                  <a:pt x="462945" y="54251"/>
                </a:lnTo>
                <a:lnTo>
                  <a:pt x="457836" y="55461"/>
                </a:lnTo>
                <a:lnTo>
                  <a:pt x="457453" y="55551"/>
                </a:lnTo>
                <a:lnTo>
                  <a:pt x="446650" y="62374"/>
                </a:lnTo>
                <a:lnTo>
                  <a:pt x="435893" y="69175"/>
                </a:lnTo>
                <a:lnTo>
                  <a:pt x="425161" y="75937"/>
                </a:lnTo>
                <a:lnTo>
                  <a:pt x="414428" y="82645"/>
                </a:lnTo>
                <a:lnTo>
                  <a:pt x="403674" y="89283"/>
                </a:lnTo>
                <a:lnTo>
                  <a:pt x="392874" y="95833"/>
                </a:lnTo>
                <a:lnTo>
                  <a:pt x="382005" y="102280"/>
                </a:lnTo>
                <a:lnTo>
                  <a:pt x="371044" y="108607"/>
                </a:lnTo>
                <a:lnTo>
                  <a:pt x="359968" y="114799"/>
                </a:lnTo>
                <a:lnTo>
                  <a:pt x="348754" y="120837"/>
                </a:lnTo>
                <a:lnTo>
                  <a:pt x="337379" y="126707"/>
                </a:lnTo>
                <a:lnTo>
                  <a:pt x="327151" y="131751"/>
                </a:lnTo>
                <a:lnTo>
                  <a:pt x="317860" y="141966"/>
                </a:lnTo>
                <a:lnTo>
                  <a:pt x="309168" y="152131"/>
                </a:lnTo>
                <a:lnTo>
                  <a:pt x="301031" y="162281"/>
                </a:lnTo>
                <a:lnTo>
                  <a:pt x="293403" y="172451"/>
                </a:lnTo>
                <a:lnTo>
                  <a:pt x="286242" y="182675"/>
                </a:lnTo>
                <a:lnTo>
                  <a:pt x="279501" y="192988"/>
                </a:lnTo>
                <a:lnTo>
                  <a:pt x="273138" y="203423"/>
                </a:lnTo>
                <a:lnTo>
                  <a:pt x="267107" y="214017"/>
                </a:lnTo>
                <a:lnTo>
                  <a:pt x="261364" y="224803"/>
                </a:lnTo>
                <a:lnTo>
                  <a:pt x="255864" y="235815"/>
                </a:lnTo>
                <a:lnTo>
                  <a:pt x="250564" y="247090"/>
                </a:lnTo>
                <a:lnTo>
                  <a:pt x="245418" y="258660"/>
                </a:lnTo>
                <a:lnTo>
                  <a:pt x="240382" y="270560"/>
                </a:lnTo>
                <a:lnTo>
                  <a:pt x="235411" y="282826"/>
                </a:lnTo>
                <a:lnTo>
                  <a:pt x="230462" y="295492"/>
                </a:lnTo>
                <a:lnTo>
                  <a:pt x="227333" y="311954"/>
                </a:lnTo>
                <a:lnTo>
                  <a:pt x="226023" y="324351"/>
                </a:lnTo>
                <a:lnTo>
                  <a:pt x="224674" y="337082"/>
                </a:lnTo>
                <a:lnTo>
                  <a:pt x="223163" y="350016"/>
                </a:lnTo>
                <a:lnTo>
                  <a:pt x="221367" y="363019"/>
                </a:lnTo>
                <a:lnTo>
                  <a:pt x="219163" y="375958"/>
                </a:lnTo>
                <a:lnTo>
                  <a:pt x="216430" y="388700"/>
                </a:lnTo>
                <a:lnTo>
                  <a:pt x="213044" y="401112"/>
                </a:lnTo>
                <a:lnTo>
                  <a:pt x="208883" y="413060"/>
                </a:lnTo>
                <a:lnTo>
                  <a:pt x="204850" y="422327"/>
                </a:lnTo>
                <a:lnTo>
                  <a:pt x="198511" y="434144"/>
                </a:lnTo>
                <a:lnTo>
                  <a:pt x="191381" y="444852"/>
                </a:lnTo>
                <a:lnTo>
                  <a:pt x="183554" y="454669"/>
                </a:lnTo>
                <a:lnTo>
                  <a:pt x="175121" y="463816"/>
                </a:lnTo>
                <a:lnTo>
                  <a:pt x="166175" y="472509"/>
                </a:lnTo>
                <a:lnTo>
                  <a:pt x="156807" y="480970"/>
                </a:lnTo>
                <a:lnTo>
                  <a:pt x="147110" y="489416"/>
                </a:lnTo>
                <a:lnTo>
                  <a:pt x="137174" y="498067"/>
                </a:lnTo>
                <a:lnTo>
                  <a:pt x="136651" y="498527"/>
                </a:lnTo>
                <a:lnTo>
                  <a:pt x="127285" y="506801"/>
                </a:lnTo>
                <a:lnTo>
                  <a:pt x="118092" y="515497"/>
                </a:lnTo>
                <a:lnTo>
                  <a:pt x="109093" y="524576"/>
                </a:lnTo>
                <a:lnTo>
                  <a:pt x="100306" y="534002"/>
                </a:lnTo>
                <a:lnTo>
                  <a:pt x="91749" y="543737"/>
                </a:lnTo>
                <a:lnTo>
                  <a:pt x="83441" y="553744"/>
                </a:lnTo>
                <a:lnTo>
                  <a:pt x="75401" y="563983"/>
                </a:lnTo>
                <a:lnTo>
                  <a:pt x="67648" y="574420"/>
                </a:lnTo>
                <a:lnTo>
                  <a:pt x="60200" y="585014"/>
                </a:lnTo>
                <a:lnTo>
                  <a:pt x="53075" y="595729"/>
                </a:lnTo>
                <a:lnTo>
                  <a:pt x="46293" y="606528"/>
                </a:lnTo>
                <a:lnTo>
                  <a:pt x="39872" y="617372"/>
                </a:lnTo>
                <a:lnTo>
                  <a:pt x="33830" y="628224"/>
                </a:lnTo>
                <a:lnTo>
                  <a:pt x="30225" y="635052"/>
                </a:lnTo>
                <a:lnTo>
                  <a:pt x="27296" y="647528"/>
                </a:lnTo>
                <a:lnTo>
                  <a:pt x="24067" y="659802"/>
                </a:lnTo>
                <a:lnTo>
                  <a:pt x="20609" y="671935"/>
                </a:lnTo>
                <a:lnTo>
                  <a:pt x="16994" y="683987"/>
                </a:lnTo>
                <a:lnTo>
                  <a:pt x="13294" y="696017"/>
                </a:lnTo>
                <a:lnTo>
                  <a:pt x="9579" y="708086"/>
                </a:lnTo>
                <a:lnTo>
                  <a:pt x="5921" y="720254"/>
                </a:lnTo>
                <a:close/>
              </a:path>
            </a:pathLst>
          </a:custGeom>
          <a:solidFill>
            <a:srgbClr val="DBB6D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13120" y="2763594"/>
            <a:ext cx="2087864" cy="1503605"/>
          </a:xfrm>
          <a:custGeom>
            <a:avLst/>
            <a:gdLst/>
            <a:ahLst/>
            <a:cxnLst/>
            <a:rect l="l" t="t" r="r" b="b"/>
            <a:pathLst>
              <a:path w="2087864" h="1503605">
                <a:moveTo>
                  <a:pt x="716279" y="11101"/>
                </a:moveTo>
                <a:lnTo>
                  <a:pt x="699037" y="12137"/>
                </a:lnTo>
                <a:lnTo>
                  <a:pt x="683514" y="13105"/>
                </a:lnTo>
                <a:lnTo>
                  <a:pt x="669456" y="14052"/>
                </a:lnTo>
                <a:lnTo>
                  <a:pt x="656607" y="15020"/>
                </a:lnTo>
                <a:lnTo>
                  <a:pt x="644711" y="16056"/>
                </a:lnTo>
                <a:lnTo>
                  <a:pt x="633514" y="17202"/>
                </a:lnTo>
                <a:lnTo>
                  <a:pt x="622760" y="18503"/>
                </a:lnTo>
                <a:lnTo>
                  <a:pt x="612193" y="20004"/>
                </a:lnTo>
                <a:lnTo>
                  <a:pt x="601559" y="21749"/>
                </a:lnTo>
                <a:lnTo>
                  <a:pt x="590602" y="23783"/>
                </a:lnTo>
                <a:lnTo>
                  <a:pt x="579067" y="26149"/>
                </a:lnTo>
                <a:lnTo>
                  <a:pt x="566697" y="28893"/>
                </a:lnTo>
                <a:lnTo>
                  <a:pt x="553239" y="32057"/>
                </a:lnTo>
                <a:lnTo>
                  <a:pt x="534207" y="36891"/>
                </a:lnTo>
                <a:lnTo>
                  <a:pt x="518429" y="40837"/>
                </a:lnTo>
                <a:lnTo>
                  <a:pt x="502043" y="44857"/>
                </a:lnTo>
                <a:lnTo>
                  <a:pt x="486420" y="48639"/>
                </a:lnTo>
                <a:lnTo>
                  <a:pt x="472930" y="51874"/>
                </a:lnTo>
                <a:lnTo>
                  <a:pt x="462945" y="54251"/>
                </a:lnTo>
                <a:lnTo>
                  <a:pt x="457836" y="55461"/>
                </a:lnTo>
                <a:lnTo>
                  <a:pt x="457453" y="55551"/>
                </a:lnTo>
                <a:lnTo>
                  <a:pt x="446650" y="62374"/>
                </a:lnTo>
                <a:lnTo>
                  <a:pt x="435893" y="69175"/>
                </a:lnTo>
                <a:lnTo>
                  <a:pt x="425161" y="75937"/>
                </a:lnTo>
                <a:lnTo>
                  <a:pt x="414428" y="82645"/>
                </a:lnTo>
                <a:lnTo>
                  <a:pt x="403674" y="89283"/>
                </a:lnTo>
                <a:lnTo>
                  <a:pt x="392874" y="95833"/>
                </a:lnTo>
                <a:lnTo>
                  <a:pt x="382005" y="102280"/>
                </a:lnTo>
                <a:lnTo>
                  <a:pt x="371044" y="108607"/>
                </a:lnTo>
                <a:lnTo>
                  <a:pt x="359968" y="114799"/>
                </a:lnTo>
                <a:lnTo>
                  <a:pt x="348754" y="120837"/>
                </a:lnTo>
                <a:lnTo>
                  <a:pt x="337379" y="126707"/>
                </a:lnTo>
                <a:lnTo>
                  <a:pt x="327151" y="131751"/>
                </a:lnTo>
                <a:lnTo>
                  <a:pt x="317860" y="141966"/>
                </a:lnTo>
                <a:lnTo>
                  <a:pt x="309168" y="152131"/>
                </a:lnTo>
                <a:lnTo>
                  <a:pt x="301031" y="162281"/>
                </a:lnTo>
                <a:lnTo>
                  <a:pt x="293403" y="172451"/>
                </a:lnTo>
                <a:lnTo>
                  <a:pt x="286242" y="182675"/>
                </a:lnTo>
                <a:lnTo>
                  <a:pt x="279501" y="192988"/>
                </a:lnTo>
                <a:lnTo>
                  <a:pt x="273138" y="203423"/>
                </a:lnTo>
                <a:lnTo>
                  <a:pt x="267107" y="214017"/>
                </a:lnTo>
                <a:lnTo>
                  <a:pt x="261364" y="224803"/>
                </a:lnTo>
                <a:lnTo>
                  <a:pt x="255864" y="235815"/>
                </a:lnTo>
                <a:lnTo>
                  <a:pt x="250564" y="247090"/>
                </a:lnTo>
                <a:lnTo>
                  <a:pt x="245418" y="258660"/>
                </a:lnTo>
                <a:lnTo>
                  <a:pt x="240382" y="270560"/>
                </a:lnTo>
                <a:lnTo>
                  <a:pt x="235411" y="282826"/>
                </a:lnTo>
                <a:lnTo>
                  <a:pt x="230462" y="295492"/>
                </a:lnTo>
                <a:lnTo>
                  <a:pt x="227333" y="311954"/>
                </a:lnTo>
                <a:lnTo>
                  <a:pt x="226023" y="324351"/>
                </a:lnTo>
                <a:lnTo>
                  <a:pt x="224674" y="337082"/>
                </a:lnTo>
                <a:lnTo>
                  <a:pt x="223163" y="350016"/>
                </a:lnTo>
                <a:lnTo>
                  <a:pt x="221367" y="363019"/>
                </a:lnTo>
                <a:lnTo>
                  <a:pt x="219163" y="375958"/>
                </a:lnTo>
                <a:lnTo>
                  <a:pt x="216430" y="388700"/>
                </a:lnTo>
                <a:lnTo>
                  <a:pt x="213044" y="401112"/>
                </a:lnTo>
                <a:lnTo>
                  <a:pt x="208883" y="413060"/>
                </a:lnTo>
                <a:lnTo>
                  <a:pt x="204850" y="422327"/>
                </a:lnTo>
                <a:lnTo>
                  <a:pt x="198511" y="434144"/>
                </a:lnTo>
                <a:lnTo>
                  <a:pt x="191381" y="444852"/>
                </a:lnTo>
                <a:lnTo>
                  <a:pt x="183554" y="454669"/>
                </a:lnTo>
                <a:lnTo>
                  <a:pt x="175121" y="463816"/>
                </a:lnTo>
                <a:lnTo>
                  <a:pt x="166175" y="472509"/>
                </a:lnTo>
                <a:lnTo>
                  <a:pt x="156807" y="480970"/>
                </a:lnTo>
                <a:lnTo>
                  <a:pt x="147110" y="489416"/>
                </a:lnTo>
                <a:lnTo>
                  <a:pt x="137174" y="498067"/>
                </a:lnTo>
                <a:lnTo>
                  <a:pt x="136651" y="498527"/>
                </a:lnTo>
                <a:lnTo>
                  <a:pt x="127285" y="506801"/>
                </a:lnTo>
                <a:lnTo>
                  <a:pt x="118092" y="515497"/>
                </a:lnTo>
                <a:lnTo>
                  <a:pt x="109093" y="524576"/>
                </a:lnTo>
                <a:lnTo>
                  <a:pt x="100306" y="534002"/>
                </a:lnTo>
                <a:lnTo>
                  <a:pt x="91749" y="543737"/>
                </a:lnTo>
                <a:lnTo>
                  <a:pt x="83441" y="553744"/>
                </a:lnTo>
                <a:lnTo>
                  <a:pt x="75401" y="563983"/>
                </a:lnTo>
                <a:lnTo>
                  <a:pt x="67648" y="574420"/>
                </a:lnTo>
                <a:lnTo>
                  <a:pt x="60200" y="585014"/>
                </a:lnTo>
                <a:lnTo>
                  <a:pt x="53075" y="595729"/>
                </a:lnTo>
                <a:lnTo>
                  <a:pt x="46293" y="606528"/>
                </a:lnTo>
                <a:lnTo>
                  <a:pt x="39872" y="617372"/>
                </a:lnTo>
                <a:lnTo>
                  <a:pt x="33830" y="628224"/>
                </a:lnTo>
                <a:lnTo>
                  <a:pt x="30225" y="635052"/>
                </a:lnTo>
                <a:lnTo>
                  <a:pt x="27296" y="647528"/>
                </a:lnTo>
                <a:lnTo>
                  <a:pt x="24067" y="659802"/>
                </a:lnTo>
                <a:lnTo>
                  <a:pt x="20609" y="671935"/>
                </a:lnTo>
                <a:lnTo>
                  <a:pt x="16994" y="683987"/>
                </a:lnTo>
                <a:lnTo>
                  <a:pt x="13294" y="696017"/>
                </a:lnTo>
                <a:lnTo>
                  <a:pt x="9579" y="708086"/>
                </a:lnTo>
                <a:lnTo>
                  <a:pt x="5921" y="720254"/>
                </a:lnTo>
                <a:lnTo>
                  <a:pt x="2392" y="732580"/>
                </a:lnTo>
                <a:lnTo>
                  <a:pt x="0" y="741478"/>
                </a:lnTo>
                <a:lnTo>
                  <a:pt x="1032" y="753807"/>
                </a:lnTo>
                <a:lnTo>
                  <a:pt x="2174" y="766386"/>
                </a:lnTo>
                <a:lnTo>
                  <a:pt x="3492" y="779149"/>
                </a:lnTo>
                <a:lnTo>
                  <a:pt x="5051" y="792032"/>
                </a:lnTo>
                <a:lnTo>
                  <a:pt x="6918" y="804967"/>
                </a:lnTo>
                <a:lnTo>
                  <a:pt x="9159" y="817890"/>
                </a:lnTo>
                <a:lnTo>
                  <a:pt x="11839" y="830735"/>
                </a:lnTo>
                <a:lnTo>
                  <a:pt x="15024" y="843435"/>
                </a:lnTo>
                <a:lnTo>
                  <a:pt x="18781" y="855926"/>
                </a:lnTo>
                <a:lnTo>
                  <a:pt x="23176" y="868141"/>
                </a:lnTo>
                <a:lnTo>
                  <a:pt x="28274" y="880015"/>
                </a:lnTo>
                <a:lnTo>
                  <a:pt x="34141" y="891482"/>
                </a:lnTo>
                <a:lnTo>
                  <a:pt x="40844" y="902477"/>
                </a:lnTo>
                <a:lnTo>
                  <a:pt x="48449" y="912932"/>
                </a:lnTo>
                <a:lnTo>
                  <a:pt x="62043" y="928066"/>
                </a:lnTo>
                <a:lnTo>
                  <a:pt x="71845" y="936929"/>
                </a:lnTo>
                <a:lnTo>
                  <a:pt x="81795" y="944725"/>
                </a:lnTo>
                <a:lnTo>
                  <a:pt x="91828" y="951838"/>
                </a:lnTo>
                <a:lnTo>
                  <a:pt x="101884" y="958651"/>
                </a:lnTo>
                <a:lnTo>
                  <a:pt x="111899" y="965545"/>
                </a:lnTo>
                <a:lnTo>
                  <a:pt x="121811" y="972904"/>
                </a:lnTo>
                <a:lnTo>
                  <a:pt x="131557" y="981111"/>
                </a:lnTo>
                <a:lnTo>
                  <a:pt x="136651" y="985953"/>
                </a:lnTo>
                <a:lnTo>
                  <a:pt x="144886" y="995870"/>
                </a:lnTo>
                <a:lnTo>
                  <a:pt x="151820" y="1006808"/>
                </a:lnTo>
                <a:lnTo>
                  <a:pt x="158267" y="1018015"/>
                </a:lnTo>
                <a:lnTo>
                  <a:pt x="165037" y="1028739"/>
                </a:lnTo>
                <a:lnTo>
                  <a:pt x="172943" y="1038227"/>
                </a:lnTo>
                <a:lnTo>
                  <a:pt x="183568" y="1047789"/>
                </a:lnTo>
                <a:lnTo>
                  <a:pt x="192833" y="1055725"/>
                </a:lnTo>
                <a:lnTo>
                  <a:pt x="202506" y="1063695"/>
                </a:lnTo>
                <a:lnTo>
                  <a:pt x="212549" y="1071660"/>
                </a:lnTo>
                <a:lnTo>
                  <a:pt x="222923" y="1079578"/>
                </a:lnTo>
                <a:lnTo>
                  <a:pt x="233587" y="1087408"/>
                </a:lnTo>
                <a:lnTo>
                  <a:pt x="244504" y="1095111"/>
                </a:lnTo>
                <a:lnTo>
                  <a:pt x="255633" y="1102645"/>
                </a:lnTo>
                <a:lnTo>
                  <a:pt x="266936" y="1109969"/>
                </a:lnTo>
                <a:lnTo>
                  <a:pt x="278374" y="1117044"/>
                </a:lnTo>
                <a:lnTo>
                  <a:pt x="289906" y="1123828"/>
                </a:lnTo>
                <a:lnTo>
                  <a:pt x="301495" y="1130280"/>
                </a:lnTo>
                <a:lnTo>
                  <a:pt x="313100" y="1136360"/>
                </a:lnTo>
                <a:lnTo>
                  <a:pt x="324683" y="1142027"/>
                </a:lnTo>
                <a:lnTo>
                  <a:pt x="336205" y="1147241"/>
                </a:lnTo>
                <a:lnTo>
                  <a:pt x="347626" y="1151960"/>
                </a:lnTo>
                <a:lnTo>
                  <a:pt x="358907" y="1156145"/>
                </a:lnTo>
                <a:lnTo>
                  <a:pt x="370008" y="1159754"/>
                </a:lnTo>
                <a:lnTo>
                  <a:pt x="373252" y="1160705"/>
                </a:lnTo>
                <a:lnTo>
                  <a:pt x="380964" y="1165695"/>
                </a:lnTo>
                <a:lnTo>
                  <a:pt x="389990" y="1170815"/>
                </a:lnTo>
                <a:lnTo>
                  <a:pt x="400181" y="1176022"/>
                </a:lnTo>
                <a:lnTo>
                  <a:pt x="411386" y="1181277"/>
                </a:lnTo>
                <a:lnTo>
                  <a:pt x="423455" y="1186536"/>
                </a:lnTo>
                <a:lnTo>
                  <a:pt x="436237" y="1191759"/>
                </a:lnTo>
                <a:lnTo>
                  <a:pt x="449583" y="1196904"/>
                </a:lnTo>
                <a:lnTo>
                  <a:pt x="463342" y="1201929"/>
                </a:lnTo>
                <a:lnTo>
                  <a:pt x="477364" y="1206793"/>
                </a:lnTo>
                <a:lnTo>
                  <a:pt x="491498" y="1211455"/>
                </a:lnTo>
                <a:lnTo>
                  <a:pt x="505594" y="1215872"/>
                </a:lnTo>
                <a:lnTo>
                  <a:pt x="519502" y="1220003"/>
                </a:lnTo>
                <a:lnTo>
                  <a:pt x="533072" y="1223807"/>
                </a:lnTo>
                <a:lnTo>
                  <a:pt x="546153" y="1227242"/>
                </a:lnTo>
                <a:lnTo>
                  <a:pt x="558595" y="1230266"/>
                </a:lnTo>
                <a:lnTo>
                  <a:pt x="570247" y="1232839"/>
                </a:lnTo>
                <a:lnTo>
                  <a:pt x="580960" y="1234918"/>
                </a:lnTo>
                <a:lnTo>
                  <a:pt x="590583" y="1236461"/>
                </a:lnTo>
                <a:lnTo>
                  <a:pt x="593978" y="1236905"/>
                </a:lnTo>
                <a:lnTo>
                  <a:pt x="605859" y="1241292"/>
                </a:lnTo>
                <a:lnTo>
                  <a:pt x="617854" y="1245763"/>
                </a:lnTo>
                <a:lnTo>
                  <a:pt x="629923" y="1250234"/>
                </a:lnTo>
                <a:lnTo>
                  <a:pt x="642026" y="1254620"/>
                </a:lnTo>
                <a:lnTo>
                  <a:pt x="654123" y="1258837"/>
                </a:lnTo>
                <a:lnTo>
                  <a:pt x="666173" y="1262802"/>
                </a:lnTo>
                <a:lnTo>
                  <a:pt x="678136" y="1266429"/>
                </a:lnTo>
                <a:lnTo>
                  <a:pt x="686180" y="1268655"/>
                </a:lnTo>
                <a:lnTo>
                  <a:pt x="700616" y="1272567"/>
                </a:lnTo>
                <a:lnTo>
                  <a:pt x="716777" y="1276961"/>
                </a:lnTo>
                <a:lnTo>
                  <a:pt x="730620" y="1280730"/>
                </a:lnTo>
                <a:lnTo>
                  <a:pt x="738100" y="1282769"/>
                </a:lnTo>
                <a:lnTo>
                  <a:pt x="738504" y="1282879"/>
                </a:lnTo>
                <a:lnTo>
                  <a:pt x="747525" y="1288687"/>
                </a:lnTo>
                <a:lnTo>
                  <a:pt x="757696" y="1294602"/>
                </a:lnTo>
                <a:lnTo>
                  <a:pt x="768821" y="1300551"/>
                </a:lnTo>
                <a:lnTo>
                  <a:pt x="780704" y="1306462"/>
                </a:lnTo>
                <a:lnTo>
                  <a:pt x="793150" y="1312262"/>
                </a:lnTo>
                <a:lnTo>
                  <a:pt x="805963" y="1317878"/>
                </a:lnTo>
                <a:lnTo>
                  <a:pt x="818946" y="1323236"/>
                </a:lnTo>
                <a:lnTo>
                  <a:pt x="831905" y="1328264"/>
                </a:lnTo>
                <a:lnTo>
                  <a:pt x="844643" y="1332890"/>
                </a:lnTo>
                <a:lnTo>
                  <a:pt x="856965" y="1337039"/>
                </a:lnTo>
                <a:lnTo>
                  <a:pt x="868675" y="1340639"/>
                </a:lnTo>
                <a:lnTo>
                  <a:pt x="879577" y="1343618"/>
                </a:lnTo>
                <a:lnTo>
                  <a:pt x="884681" y="1344855"/>
                </a:lnTo>
                <a:lnTo>
                  <a:pt x="896615" y="1352787"/>
                </a:lnTo>
                <a:lnTo>
                  <a:pt x="906427" y="1359919"/>
                </a:lnTo>
                <a:lnTo>
                  <a:pt x="915238" y="1365673"/>
                </a:lnTo>
                <a:lnTo>
                  <a:pt x="924170" y="1369470"/>
                </a:lnTo>
                <a:lnTo>
                  <a:pt x="934343" y="1370734"/>
                </a:lnTo>
                <a:lnTo>
                  <a:pt x="946880" y="1368886"/>
                </a:lnTo>
                <a:lnTo>
                  <a:pt x="953007" y="1367080"/>
                </a:lnTo>
                <a:lnTo>
                  <a:pt x="965693" y="1371132"/>
                </a:lnTo>
                <a:lnTo>
                  <a:pt x="978125" y="1374777"/>
                </a:lnTo>
                <a:lnTo>
                  <a:pt x="990367" y="1378052"/>
                </a:lnTo>
                <a:lnTo>
                  <a:pt x="1002480" y="1380991"/>
                </a:lnTo>
                <a:lnTo>
                  <a:pt x="1014527" y="1383633"/>
                </a:lnTo>
                <a:lnTo>
                  <a:pt x="1026571" y="1386013"/>
                </a:lnTo>
                <a:lnTo>
                  <a:pt x="1038673" y="1388167"/>
                </a:lnTo>
                <a:lnTo>
                  <a:pt x="1050897" y="1390131"/>
                </a:lnTo>
                <a:lnTo>
                  <a:pt x="1063305" y="1391942"/>
                </a:lnTo>
                <a:lnTo>
                  <a:pt x="1075960" y="1393637"/>
                </a:lnTo>
                <a:lnTo>
                  <a:pt x="1088923" y="1395250"/>
                </a:lnTo>
                <a:lnTo>
                  <a:pt x="1102257" y="1396818"/>
                </a:lnTo>
                <a:lnTo>
                  <a:pt x="1105407" y="1397179"/>
                </a:lnTo>
                <a:lnTo>
                  <a:pt x="1117062" y="1399936"/>
                </a:lnTo>
                <a:lnTo>
                  <a:pt x="1129275" y="1402553"/>
                </a:lnTo>
                <a:lnTo>
                  <a:pt x="1141909" y="1405101"/>
                </a:lnTo>
                <a:lnTo>
                  <a:pt x="1154830" y="1407650"/>
                </a:lnTo>
                <a:lnTo>
                  <a:pt x="1167902" y="1410272"/>
                </a:lnTo>
                <a:lnTo>
                  <a:pt x="1180990" y="1413034"/>
                </a:lnTo>
                <a:lnTo>
                  <a:pt x="1193957" y="1416008"/>
                </a:lnTo>
                <a:lnTo>
                  <a:pt x="1206668" y="1419264"/>
                </a:lnTo>
                <a:lnTo>
                  <a:pt x="1218988" y="1422872"/>
                </a:lnTo>
                <a:lnTo>
                  <a:pt x="1230781" y="1426902"/>
                </a:lnTo>
                <a:lnTo>
                  <a:pt x="1241912" y="1431424"/>
                </a:lnTo>
                <a:lnTo>
                  <a:pt x="1249933" y="1435279"/>
                </a:lnTo>
                <a:lnTo>
                  <a:pt x="1264283" y="1442541"/>
                </a:lnTo>
                <a:lnTo>
                  <a:pt x="1275563" y="1448422"/>
                </a:lnTo>
                <a:lnTo>
                  <a:pt x="1284278" y="1453101"/>
                </a:lnTo>
                <a:lnTo>
                  <a:pt x="1290931" y="1456758"/>
                </a:lnTo>
                <a:lnTo>
                  <a:pt x="1296027" y="1459571"/>
                </a:lnTo>
                <a:lnTo>
                  <a:pt x="1300068" y="1461719"/>
                </a:lnTo>
                <a:lnTo>
                  <a:pt x="1303560" y="1463380"/>
                </a:lnTo>
                <a:lnTo>
                  <a:pt x="1307005" y="1464734"/>
                </a:lnTo>
                <a:lnTo>
                  <a:pt x="1310908" y="1465960"/>
                </a:lnTo>
                <a:lnTo>
                  <a:pt x="1315772" y="1467236"/>
                </a:lnTo>
                <a:lnTo>
                  <a:pt x="1322102" y="1468741"/>
                </a:lnTo>
                <a:lnTo>
                  <a:pt x="1330399" y="1470654"/>
                </a:lnTo>
                <a:lnTo>
                  <a:pt x="1341170" y="1473153"/>
                </a:lnTo>
                <a:lnTo>
                  <a:pt x="1342135" y="1473379"/>
                </a:lnTo>
                <a:lnTo>
                  <a:pt x="1353801" y="1480714"/>
                </a:lnTo>
                <a:lnTo>
                  <a:pt x="1364847" y="1486724"/>
                </a:lnTo>
                <a:lnTo>
                  <a:pt x="1375736" y="1491739"/>
                </a:lnTo>
                <a:lnTo>
                  <a:pt x="1386930" y="1496090"/>
                </a:lnTo>
                <a:lnTo>
                  <a:pt x="1398891" y="1500108"/>
                </a:lnTo>
                <a:lnTo>
                  <a:pt x="1410334" y="1503605"/>
                </a:lnTo>
                <a:lnTo>
                  <a:pt x="1427256" y="1502865"/>
                </a:lnTo>
                <a:lnTo>
                  <a:pt x="1443016" y="1502134"/>
                </a:lnTo>
                <a:lnTo>
                  <a:pt x="1457735" y="1501395"/>
                </a:lnTo>
                <a:lnTo>
                  <a:pt x="1471533" y="1500631"/>
                </a:lnTo>
                <a:lnTo>
                  <a:pt x="1484528" y="1499824"/>
                </a:lnTo>
                <a:lnTo>
                  <a:pt x="1496840" y="1498958"/>
                </a:lnTo>
                <a:lnTo>
                  <a:pt x="1508589" y="1498014"/>
                </a:lnTo>
                <a:lnTo>
                  <a:pt x="1519894" y="1496975"/>
                </a:lnTo>
                <a:lnTo>
                  <a:pt x="1530874" y="1495825"/>
                </a:lnTo>
                <a:lnTo>
                  <a:pt x="1541650" y="1494545"/>
                </a:lnTo>
                <a:lnTo>
                  <a:pt x="1552340" y="1493119"/>
                </a:lnTo>
                <a:lnTo>
                  <a:pt x="1563064" y="1491529"/>
                </a:lnTo>
                <a:lnTo>
                  <a:pt x="1573942" y="1489759"/>
                </a:lnTo>
                <a:lnTo>
                  <a:pt x="1585093" y="1487789"/>
                </a:lnTo>
                <a:lnTo>
                  <a:pt x="1596636" y="1485604"/>
                </a:lnTo>
                <a:lnTo>
                  <a:pt x="1608691" y="1483186"/>
                </a:lnTo>
                <a:lnTo>
                  <a:pt x="1621377" y="1480518"/>
                </a:lnTo>
                <a:lnTo>
                  <a:pt x="1634815" y="1477581"/>
                </a:lnTo>
                <a:lnTo>
                  <a:pt x="1649123" y="1474360"/>
                </a:lnTo>
                <a:lnTo>
                  <a:pt x="1662585" y="1465507"/>
                </a:lnTo>
                <a:lnTo>
                  <a:pt x="1672682" y="1458212"/>
                </a:lnTo>
                <a:lnTo>
                  <a:pt x="1683556" y="1451496"/>
                </a:lnTo>
                <a:lnTo>
                  <a:pt x="1695057" y="1445359"/>
                </a:lnTo>
                <a:lnTo>
                  <a:pt x="1707038" y="1439805"/>
                </a:lnTo>
                <a:lnTo>
                  <a:pt x="1719350" y="1434834"/>
                </a:lnTo>
                <a:lnTo>
                  <a:pt x="1731843" y="1430448"/>
                </a:lnTo>
                <a:lnTo>
                  <a:pt x="1744371" y="1426649"/>
                </a:lnTo>
                <a:lnTo>
                  <a:pt x="1756784" y="1423437"/>
                </a:lnTo>
                <a:lnTo>
                  <a:pt x="1767712" y="1421055"/>
                </a:lnTo>
                <a:lnTo>
                  <a:pt x="1778162" y="1413904"/>
                </a:lnTo>
                <a:lnTo>
                  <a:pt x="1788439" y="1406574"/>
                </a:lnTo>
                <a:lnTo>
                  <a:pt x="1798609" y="1399134"/>
                </a:lnTo>
                <a:lnTo>
                  <a:pt x="1808741" y="1391652"/>
                </a:lnTo>
                <a:lnTo>
                  <a:pt x="1818901" y="1384197"/>
                </a:lnTo>
                <a:lnTo>
                  <a:pt x="1829157" y="1376837"/>
                </a:lnTo>
                <a:lnTo>
                  <a:pt x="1839576" y="1369641"/>
                </a:lnTo>
                <a:lnTo>
                  <a:pt x="1850226" y="1362678"/>
                </a:lnTo>
                <a:lnTo>
                  <a:pt x="1861173" y="1356015"/>
                </a:lnTo>
                <a:lnTo>
                  <a:pt x="1872485" y="1349721"/>
                </a:lnTo>
                <a:lnTo>
                  <a:pt x="1882139" y="1344855"/>
                </a:lnTo>
                <a:lnTo>
                  <a:pt x="1888158" y="1333383"/>
                </a:lnTo>
                <a:lnTo>
                  <a:pt x="1894326" y="1322101"/>
                </a:lnTo>
                <a:lnTo>
                  <a:pt x="1900635" y="1310990"/>
                </a:lnTo>
                <a:lnTo>
                  <a:pt x="1907078" y="1300032"/>
                </a:lnTo>
                <a:lnTo>
                  <a:pt x="1913647" y="1289206"/>
                </a:lnTo>
                <a:lnTo>
                  <a:pt x="1920336" y="1278494"/>
                </a:lnTo>
                <a:lnTo>
                  <a:pt x="1927135" y="1267875"/>
                </a:lnTo>
                <a:lnTo>
                  <a:pt x="1934038" y="1257330"/>
                </a:lnTo>
                <a:lnTo>
                  <a:pt x="1941037" y="1246841"/>
                </a:lnTo>
                <a:lnTo>
                  <a:pt x="1948125" y="1236387"/>
                </a:lnTo>
                <a:lnTo>
                  <a:pt x="1955293" y="1225950"/>
                </a:lnTo>
                <a:lnTo>
                  <a:pt x="1962534" y="1215509"/>
                </a:lnTo>
                <a:lnTo>
                  <a:pt x="1969842" y="1205045"/>
                </a:lnTo>
                <a:lnTo>
                  <a:pt x="1974214" y="1198805"/>
                </a:lnTo>
                <a:lnTo>
                  <a:pt x="1981649" y="1187250"/>
                </a:lnTo>
                <a:lnTo>
                  <a:pt x="1989651" y="1173696"/>
                </a:lnTo>
                <a:lnTo>
                  <a:pt x="1997821" y="1159066"/>
                </a:lnTo>
                <a:lnTo>
                  <a:pt x="2005764" y="1144282"/>
                </a:lnTo>
                <a:lnTo>
                  <a:pt x="2013082" y="1130265"/>
                </a:lnTo>
                <a:lnTo>
                  <a:pt x="2019378" y="1117938"/>
                </a:lnTo>
                <a:lnTo>
                  <a:pt x="2024254" y="1108223"/>
                </a:lnTo>
                <a:lnTo>
                  <a:pt x="2028189" y="1100253"/>
                </a:lnTo>
                <a:lnTo>
                  <a:pt x="2030296" y="1087609"/>
                </a:lnTo>
                <a:lnTo>
                  <a:pt x="2031898" y="1077579"/>
                </a:lnTo>
                <a:lnTo>
                  <a:pt x="2033062" y="1069895"/>
                </a:lnTo>
                <a:lnTo>
                  <a:pt x="2034341" y="1060502"/>
                </a:lnTo>
                <a:lnTo>
                  <a:pt x="2043277" y="1054922"/>
                </a:lnTo>
                <a:lnTo>
                  <a:pt x="2050414" y="1039928"/>
                </a:lnTo>
                <a:lnTo>
                  <a:pt x="2054725" y="1028419"/>
                </a:lnTo>
                <a:lnTo>
                  <a:pt x="2058487" y="1016468"/>
                </a:lnTo>
                <a:lnTo>
                  <a:pt x="2061821" y="1004183"/>
                </a:lnTo>
                <a:lnTo>
                  <a:pt x="2064847" y="991666"/>
                </a:lnTo>
                <a:lnTo>
                  <a:pt x="2067684" y="979024"/>
                </a:lnTo>
                <a:lnTo>
                  <a:pt x="2070453" y="966361"/>
                </a:lnTo>
                <a:lnTo>
                  <a:pt x="2073273" y="953782"/>
                </a:lnTo>
                <a:lnTo>
                  <a:pt x="2076264" y="941392"/>
                </a:lnTo>
                <a:lnTo>
                  <a:pt x="2079547" y="929295"/>
                </a:lnTo>
                <a:lnTo>
                  <a:pt x="2080640" y="925628"/>
                </a:lnTo>
                <a:lnTo>
                  <a:pt x="2084297" y="897059"/>
                </a:lnTo>
                <a:lnTo>
                  <a:pt x="2086701" y="868523"/>
                </a:lnTo>
                <a:lnTo>
                  <a:pt x="2087864" y="840053"/>
                </a:lnTo>
                <a:lnTo>
                  <a:pt x="2087796" y="811684"/>
                </a:lnTo>
                <a:lnTo>
                  <a:pt x="2086508" y="783448"/>
                </a:lnTo>
                <a:lnTo>
                  <a:pt x="2084011" y="755379"/>
                </a:lnTo>
                <a:lnTo>
                  <a:pt x="2080316" y="727509"/>
                </a:lnTo>
                <a:lnTo>
                  <a:pt x="2075432" y="699873"/>
                </a:lnTo>
                <a:lnTo>
                  <a:pt x="2069372" y="672504"/>
                </a:lnTo>
                <a:lnTo>
                  <a:pt x="2062146" y="645435"/>
                </a:lnTo>
                <a:lnTo>
                  <a:pt x="2053764" y="618699"/>
                </a:lnTo>
                <a:lnTo>
                  <a:pt x="2044238" y="592330"/>
                </a:lnTo>
                <a:lnTo>
                  <a:pt x="2033578" y="566361"/>
                </a:lnTo>
                <a:lnTo>
                  <a:pt x="2021795" y="540825"/>
                </a:lnTo>
                <a:lnTo>
                  <a:pt x="2008899" y="515756"/>
                </a:lnTo>
                <a:lnTo>
                  <a:pt x="1994902" y="491187"/>
                </a:lnTo>
                <a:lnTo>
                  <a:pt x="1979814" y="467151"/>
                </a:lnTo>
                <a:lnTo>
                  <a:pt x="1963646" y="443683"/>
                </a:lnTo>
                <a:lnTo>
                  <a:pt x="1946409" y="420814"/>
                </a:lnTo>
                <a:lnTo>
                  <a:pt x="1928113" y="398578"/>
                </a:lnTo>
                <a:lnTo>
                  <a:pt x="1910338" y="380261"/>
                </a:lnTo>
                <a:lnTo>
                  <a:pt x="1891069" y="363484"/>
                </a:lnTo>
                <a:lnTo>
                  <a:pt x="1870993" y="347609"/>
                </a:lnTo>
                <a:lnTo>
                  <a:pt x="1860867" y="339809"/>
                </a:lnTo>
                <a:lnTo>
                  <a:pt x="1850797" y="331995"/>
                </a:lnTo>
                <a:lnTo>
                  <a:pt x="1840868" y="324087"/>
                </a:lnTo>
                <a:lnTo>
                  <a:pt x="1831167" y="316004"/>
                </a:lnTo>
                <a:lnTo>
                  <a:pt x="1821779" y="307667"/>
                </a:lnTo>
                <a:lnTo>
                  <a:pt x="1813813" y="300026"/>
                </a:lnTo>
                <a:lnTo>
                  <a:pt x="1804668" y="290510"/>
                </a:lnTo>
                <a:lnTo>
                  <a:pt x="1796174" y="281032"/>
                </a:lnTo>
                <a:lnTo>
                  <a:pt x="1788050" y="271641"/>
                </a:lnTo>
                <a:lnTo>
                  <a:pt x="1780015" y="262384"/>
                </a:lnTo>
                <a:lnTo>
                  <a:pt x="1771789" y="253312"/>
                </a:lnTo>
                <a:lnTo>
                  <a:pt x="1763091" y="244473"/>
                </a:lnTo>
                <a:lnTo>
                  <a:pt x="1753641" y="235914"/>
                </a:lnTo>
                <a:lnTo>
                  <a:pt x="1743157" y="227686"/>
                </a:lnTo>
                <a:lnTo>
                  <a:pt x="1737613" y="223826"/>
                </a:lnTo>
                <a:lnTo>
                  <a:pt x="1732928" y="214136"/>
                </a:lnTo>
                <a:lnTo>
                  <a:pt x="1725977" y="204567"/>
                </a:lnTo>
                <a:lnTo>
                  <a:pt x="1717162" y="195240"/>
                </a:lnTo>
                <a:lnTo>
                  <a:pt x="1706888" y="186277"/>
                </a:lnTo>
                <a:lnTo>
                  <a:pt x="1695555" y="177797"/>
                </a:lnTo>
                <a:lnTo>
                  <a:pt x="1683569" y="169924"/>
                </a:lnTo>
                <a:lnTo>
                  <a:pt x="1671330" y="162777"/>
                </a:lnTo>
                <a:lnTo>
                  <a:pt x="1659243" y="156478"/>
                </a:lnTo>
                <a:lnTo>
                  <a:pt x="1647711" y="151147"/>
                </a:lnTo>
                <a:lnTo>
                  <a:pt x="1639061" y="147626"/>
                </a:lnTo>
                <a:lnTo>
                  <a:pt x="1628501" y="139932"/>
                </a:lnTo>
                <a:lnTo>
                  <a:pt x="1617778" y="132543"/>
                </a:lnTo>
                <a:lnTo>
                  <a:pt x="1606896" y="125459"/>
                </a:lnTo>
                <a:lnTo>
                  <a:pt x="1595862" y="118676"/>
                </a:lnTo>
                <a:lnTo>
                  <a:pt x="1584680" y="112191"/>
                </a:lnTo>
                <a:lnTo>
                  <a:pt x="1573354" y="106004"/>
                </a:lnTo>
                <a:lnTo>
                  <a:pt x="1561890" y="100111"/>
                </a:lnTo>
                <a:lnTo>
                  <a:pt x="1550292" y="94510"/>
                </a:lnTo>
                <a:lnTo>
                  <a:pt x="1538565" y="89198"/>
                </a:lnTo>
                <a:lnTo>
                  <a:pt x="1526714" y="84174"/>
                </a:lnTo>
                <a:lnTo>
                  <a:pt x="1514744" y="79435"/>
                </a:lnTo>
                <a:lnTo>
                  <a:pt x="1502660" y="74977"/>
                </a:lnTo>
                <a:lnTo>
                  <a:pt x="1490467" y="70800"/>
                </a:lnTo>
                <a:lnTo>
                  <a:pt x="1478169" y="66901"/>
                </a:lnTo>
                <a:lnTo>
                  <a:pt x="1465772" y="63277"/>
                </a:lnTo>
                <a:lnTo>
                  <a:pt x="1453280" y="59925"/>
                </a:lnTo>
                <a:lnTo>
                  <a:pt x="1440698" y="56845"/>
                </a:lnTo>
                <a:lnTo>
                  <a:pt x="1428031" y="54032"/>
                </a:lnTo>
                <a:lnTo>
                  <a:pt x="1415283" y="51485"/>
                </a:lnTo>
                <a:lnTo>
                  <a:pt x="1402460" y="49201"/>
                </a:lnTo>
                <a:lnTo>
                  <a:pt x="1388942" y="44754"/>
                </a:lnTo>
                <a:lnTo>
                  <a:pt x="1374662" y="40907"/>
                </a:lnTo>
                <a:lnTo>
                  <a:pt x="1359718" y="37618"/>
                </a:lnTo>
                <a:lnTo>
                  <a:pt x="1344206" y="34844"/>
                </a:lnTo>
                <a:lnTo>
                  <a:pt x="1328223" y="32543"/>
                </a:lnTo>
                <a:lnTo>
                  <a:pt x="1311865" y="30670"/>
                </a:lnTo>
                <a:lnTo>
                  <a:pt x="1295229" y="29184"/>
                </a:lnTo>
                <a:lnTo>
                  <a:pt x="1278411" y="28040"/>
                </a:lnTo>
                <a:lnTo>
                  <a:pt x="1261508" y="27197"/>
                </a:lnTo>
                <a:lnTo>
                  <a:pt x="1244615" y="26611"/>
                </a:lnTo>
                <a:lnTo>
                  <a:pt x="1227831" y="26240"/>
                </a:lnTo>
                <a:lnTo>
                  <a:pt x="1211250" y="26040"/>
                </a:lnTo>
                <a:lnTo>
                  <a:pt x="1194970" y="25968"/>
                </a:lnTo>
                <a:lnTo>
                  <a:pt x="1179088" y="25982"/>
                </a:lnTo>
                <a:lnTo>
                  <a:pt x="1163699" y="26038"/>
                </a:lnTo>
                <a:lnTo>
                  <a:pt x="1148899" y="26094"/>
                </a:lnTo>
                <a:lnTo>
                  <a:pt x="1134787" y="26106"/>
                </a:lnTo>
                <a:lnTo>
                  <a:pt x="1121457" y="26032"/>
                </a:lnTo>
                <a:lnTo>
                  <a:pt x="1109007" y="25828"/>
                </a:lnTo>
                <a:lnTo>
                  <a:pt x="1097533" y="25452"/>
                </a:lnTo>
                <a:lnTo>
                  <a:pt x="1079268" y="23018"/>
                </a:lnTo>
                <a:lnTo>
                  <a:pt x="1060726" y="20507"/>
                </a:lnTo>
                <a:lnTo>
                  <a:pt x="1041940" y="17962"/>
                </a:lnTo>
                <a:lnTo>
                  <a:pt x="1022941" y="15426"/>
                </a:lnTo>
                <a:lnTo>
                  <a:pt x="1003762" y="12941"/>
                </a:lnTo>
                <a:lnTo>
                  <a:pt x="984435" y="10551"/>
                </a:lnTo>
                <a:lnTo>
                  <a:pt x="964992" y="8299"/>
                </a:lnTo>
                <a:lnTo>
                  <a:pt x="945465" y="6228"/>
                </a:lnTo>
                <a:lnTo>
                  <a:pt x="925886" y="4380"/>
                </a:lnTo>
                <a:lnTo>
                  <a:pt x="906287" y="2799"/>
                </a:lnTo>
                <a:lnTo>
                  <a:pt x="886701" y="1527"/>
                </a:lnTo>
                <a:lnTo>
                  <a:pt x="867160" y="608"/>
                </a:lnTo>
                <a:lnTo>
                  <a:pt x="847694" y="85"/>
                </a:lnTo>
                <a:lnTo>
                  <a:pt x="828338" y="0"/>
                </a:lnTo>
                <a:lnTo>
                  <a:pt x="809122" y="396"/>
                </a:lnTo>
                <a:lnTo>
                  <a:pt x="790080" y="1316"/>
                </a:lnTo>
                <a:lnTo>
                  <a:pt x="771242" y="2804"/>
                </a:lnTo>
                <a:lnTo>
                  <a:pt x="752641" y="4902"/>
                </a:lnTo>
                <a:lnTo>
                  <a:pt x="734310" y="7654"/>
                </a:lnTo>
                <a:lnTo>
                  <a:pt x="716279" y="1110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27064" y="2901651"/>
            <a:ext cx="754253" cy="670604"/>
          </a:xfrm>
          <a:custGeom>
            <a:avLst/>
            <a:gdLst/>
            <a:ahLst/>
            <a:cxnLst/>
            <a:rect l="l" t="t" r="r" b="b"/>
            <a:pathLst>
              <a:path w="754253" h="670604">
                <a:moveTo>
                  <a:pt x="3736" y="295288"/>
                </a:moveTo>
                <a:lnTo>
                  <a:pt x="881" y="307614"/>
                </a:lnTo>
                <a:lnTo>
                  <a:pt x="0" y="311702"/>
                </a:lnTo>
                <a:lnTo>
                  <a:pt x="1002" y="324341"/>
                </a:lnTo>
                <a:lnTo>
                  <a:pt x="1707" y="336979"/>
                </a:lnTo>
                <a:lnTo>
                  <a:pt x="2267" y="349613"/>
                </a:lnTo>
                <a:lnTo>
                  <a:pt x="2832" y="362243"/>
                </a:lnTo>
                <a:lnTo>
                  <a:pt x="3554" y="374867"/>
                </a:lnTo>
                <a:lnTo>
                  <a:pt x="4584" y="387483"/>
                </a:lnTo>
                <a:lnTo>
                  <a:pt x="6074" y="400090"/>
                </a:lnTo>
                <a:lnTo>
                  <a:pt x="8000" y="411778"/>
                </a:lnTo>
                <a:lnTo>
                  <a:pt x="11089" y="423317"/>
                </a:lnTo>
                <a:lnTo>
                  <a:pt x="15834" y="435091"/>
                </a:lnTo>
                <a:lnTo>
                  <a:pt x="21759" y="446909"/>
                </a:lnTo>
                <a:lnTo>
                  <a:pt x="28386" y="458582"/>
                </a:lnTo>
                <a:lnTo>
                  <a:pt x="35238" y="469922"/>
                </a:lnTo>
                <a:lnTo>
                  <a:pt x="41839" y="480738"/>
                </a:lnTo>
                <a:lnTo>
                  <a:pt x="46100" y="487978"/>
                </a:lnTo>
                <a:lnTo>
                  <a:pt x="52651" y="499868"/>
                </a:lnTo>
                <a:lnTo>
                  <a:pt x="59113" y="511606"/>
                </a:lnTo>
                <a:lnTo>
                  <a:pt x="65535" y="523175"/>
                </a:lnTo>
                <a:lnTo>
                  <a:pt x="71963" y="534559"/>
                </a:lnTo>
                <a:lnTo>
                  <a:pt x="78447" y="545743"/>
                </a:lnTo>
                <a:lnTo>
                  <a:pt x="85034" y="556711"/>
                </a:lnTo>
                <a:lnTo>
                  <a:pt x="91772" y="567447"/>
                </a:lnTo>
                <a:lnTo>
                  <a:pt x="98709" y="577934"/>
                </a:lnTo>
                <a:lnTo>
                  <a:pt x="105894" y="588158"/>
                </a:lnTo>
                <a:lnTo>
                  <a:pt x="113374" y="598101"/>
                </a:lnTo>
                <a:lnTo>
                  <a:pt x="121197" y="607749"/>
                </a:lnTo>
                <a:lnTo>
                  <a:pt x="129412" y="617085"/>
                </a:lnTo>
                <a:lnTo>
                  <a:pt x="138066" y="626094"/>
                </a:lnTo>
                <a:lnTo>
                  <a:pt x="147207" y="634759"/>
                </a:lnTo>
                <a:lnTo>
                  <a:pt x="156884" y="643065"/>
                </a:lnTo>
                <a:lnTo>
                  <a:pt x="167144" y="650996"/>
                </a:lnTo>
                <a:lnTo>
                  <a:pt x="178036" y="658536"/>
                </a:lnTo>
                <a:lnTo>
                  <a:pt x="189607" y="665668"/>
                </a:lnTo>
                <a:lnTo>
                  <a:pt x="198500" y="670604"/>
                </a:lnTo>
                <a:lnTo>
                  <a:pt x="204167" y="670281"/>
                </a:lnTo>
                <a:lnTo>
                  <a:pt x="215491" y="669295"/>
                </a:lnTo>
                <a:lnTo>
                  <a:pt x="230396" y="667619"/>
                </a:lnTo>
                <a:lnTo>
                  <a:pt x="246804" y="665224"/>
                </a:lnTo>
                <a:lnTo>
                  <a:pt x="262638" y="662084"/>
                </a:lnTo>
                <a:lnTo>
                  <a:pt x="275823" y="658171"/>
                </a:lnTo>
                <a:lnTo>
                  <a:pt x="293398" y="646937"/>
                </a:lnTo>
                <a:lnTo>
                  <a:pt x="303304" y="638654"/>
                </a:lnTo>
                <a:lnTo>
                  <a:pt x="312700" y="630109"/>
                </a:lnTo>
                <a:lnTo>
                  <a:pt x="321868" y="621527"/>
                </a:lnTo>
                <a:lnTo>
                  <a:pt x="331087" y="613137"/>
                </a:lnTo>
                <a:lnTo>
                  <a:pt x="340639" y="605167"/>
                </a:lnTo>
                <a:lnTo>
                  <a:pt x="350805" y="597842"/>
                </a:lnTo>
                <a:lnTo>
                  <a:pt x="361866" y="591391"/>
                </a:lnTo>
                <a:lnTo>
                  <a:pt x="373126" y="586403"/>
                </a:lnTo>
                <a:lnTo>
                  <a:pt x="378752" y="573345"/>
                </a:lnTo>
                <a:lnTo>
                  <a:pt x="385220" y="562209"/>
                </a:lnTo>
                <a:lnTo>
                  <a:pt x="392680" y="552596"/>
                </a:lnTo>
                <a:lnTo>
                  <a:pt x="401281" y="544107"/>
                </a:lnTo>
                <a:lnTo>
                  <a:pt x="411173" y="536343"/>
                </a:lnTo>
                <a:lnTo>
                  <a:pt x="422506" y="528905"/>
                </a:lnTo>
                <a:lnTo>
                  <a:pt x="427228" y="526078"/>
                </a:lnTo>
                <a:lnTo>
                  <a:pt x="429948" y="512433"/>
                </a:lnTo>
                <a:lnTo>
                  <a:pt x="432810" y="498877"/>
                </a:lnTo>
                <a:lnTo>
                  <a:pt x="436047" y="485583"/>
                </a:lnTo>
                <a:lnTo>
                  <a:pt x="439891" y="472724"/>
                </a:lnTo>
                <a:lnTo>
                  <a:pt x="444573" y="460473"/>
                </a:lnTo>
                <a:lnTo>
                  <a:pt x="450328" y="449003"/>
                </a:lnTo>
                <a:lnTo>
                  <a:pt x="457386" y="438486"/>
                </a:lnTo>
                <a:lnTo>
                  <a:pt x="465981" y="429096"/>
                </a:lnTo>
                <a:lnTo>
                  <a:pt x="476344" y="421004"/>
                </a:lnTo>
                <a:lnTo>
                  <a:pt x="488708" y="414384"/>
                </a:lnTo>
                <a:lnTo>
                  <a:pt x="495427" y="411778"/>
                </a:lnTo>
                <a:lnTo>
                  <a:pt x="505169" y="402233"/>
                </a:lnTo>
                <a:lnTo>
                  <a:pt x="515336" y="393702"/>
                </a:lnTo>
                <a:lnTo>
                  <a:pt x="525901" y="386119"/>
                </a:lnTo>
                <a:lnTo>
                  <a:pt x="536835" y="379421"/>
                </a:lnTo>
                <a:lnTo>
                  <a:pt x="548112" y="373541"/>
                </a:lnTo>
                <a:lnTo>
                  <a:pt x="559704" y="368414"/>
                </a:lnTo>
                <a:lnTo>
                  <a:pt x="571584" y="363975"/>
                </a:lnTo>
                <a:lnTo>
                  <a:pt x="583724" y="360158"/>
                </a:lnTo>
                <a:lnTo>
                  <a:pt x="596098" y="356898"/>
                </a:lnTo>
                <a:lnTo>
                  <a:pt x="608677" y="354130"/>
                </a:lnTo>
                <a:lnTo>
                  <a:pt x="621435" y="351788"/>
                </a:lnTo>
                <a:lnTo>
                  <a:pt x="634345" y="349807"/>
                </a:lnTo>
                <a:lnTo>
                  <a:pt x="647377" y="348122"/>
                </a:lnTo>
                <a:lnTo>
                  <a:pt x="660507" y="346667"/>
                </a:lnTo>
                <a:lnTo>
                  <a:pt x="673705" y="345378"/>
                </a:lnTo>
                <a:lnTo>
                  <a:pt x="686946" y="344188"/>
                </a:lnTo>
                <a:lnTo>
                  <a:pt x="693928" y="343579"/>
                </a:lnTo>
                <a:lnTo>
                  <a:pt x="704986" y="335373"/>
                </a:lnTo>
                <a:lnTo>
                  <a:pt x="714644" y="326882"/>
                </a:lnTo>
                <a:lnTo>
                  <a:pt x="723137" y="317977"/>
                </a:lnTo>
                <a:lnTo>
                  <a:pt x="730700" y="308531"/>
                </a:lnTo>
                <a:lnTo>
                  <a:pt x="737570" y="298413"/>
                </a:lnTo>
                <a:lnTo>
                  <a:pt x="743982" y="287495"/>
                </a:lnTo>
                <a:lnTo>
                  <a:pt x="750172" y="275648"/>
                </a:lnTo>
                <a:lnTo>
                  <a:pt x="754253" y="267252"/>
                </a:lnTo>
                <a:lnTo>
                  <a:pt x="753297" y="254581"/>
                </a:lnTo>
                <a:lnTo>
                  <a:pt x="752957" y="241941"/>
                </a:lnTo>
                <a:lnTo>
                  <a:pt x="752799" y="229366"/>
                </a:lnTo>
                <a:lnTo>
                  <a:pt x="752391" y="216886"/>
                </a:lnTo>
                <a:lnTo>
                  <a:pt x="751297" y="204535"/>
                </a:lnTo>
                <a:lnTo>
                  <a:pt x="749085" y="192344"/>
                </a:lnTo>
                <a:lnTo>
                  <a:pt x="746379" y="183178"/>
                </a:lnTo>
                <a:lnTo>
                  <a:pt x="737818" y="178129"/>
                </a:lnTo>
                <a:lnTo>
                  <a:pt x="726347" y="176405"/>
                </a:lnTo>
                <a:lnTo>
                  <a:pt x="724154" y="175177"/>
                </a:lnTo>
                <a:lnTo>
                  <a:pt x="713637" y="165995"/>
                </a:lnTo>
                <a:lnTo>
                  <a:pt x="704054" y="156983"/>
                </a:lnTo>
                <a:lnTo>
                  <a:pt x="695082" y="148219"/>
                </a:lnTo>
                <a:lnTo>
                  <a:pt x="686399" y="139780"/>
                </a:lnTo>
                <a:lnTo>
                  <a:pt x="677682" y="131744"/>
                </a:lnTo>
                <a:lnTo>
                  <a:pt x="668608" y="124187"/>
                </a:lnTo>
                <a:lnTo>
                  <a:pt x="658857" y="117186"/>
                </a:lnTo>
                <a:lnTo>
                  <a:pt x="648105" y="110820"/>
                </a:lnTo>
                <a:lnTo>
                  <a:pt x="636031" y="105165"/>
                </a:lnTo>
                <a:lnTo>
                  <a:pt x="622312" y="100299"/>
                </a:lnTo>
                <a:lnTo>
                  <a:pt x="617728" y="98977"/>
                </a:lnTo>
                <a:lnTo>
                  <a:pt x="606460" y="91025"/>
                </a:lnTo>
                <a:lnTo>
                  <a:pt x="595280" y="83630"/>
                </a:lnTo>
                <a:lnTo>
                  <a:pt x="584153" y="76761"/>
                </a:lnTo>
                <a:lnTo>
                  <a:pt x="573046" y="70389"/>
                </a:lnTo>
                <a:lnTo>
                  <a:pt x="561928" y="64482"/>
                </a:lnTo>
                <a:lnTo>
                  <a:pt x="550765" y="59012"/>
                </a:lnTo>
                <a:lnTo>
                  <a:pt x="539524" y="53947"/>
                </a:lnTo>
                <a:lnTo>
                  <a:pt x="528172" y="49257"/>
                </a:lnTo>
                <a:lnTo>
                  <a:pt x="516677" y="44913"/>
                </a:lnTo>
                <a:lnTo>
                  <a:pt x="505006" y="40884"/>
                </a:lnTo>
                <a:lnTo>
                  <a:pt x="493126" y="37139"/>
                </a:lnTo>
                <a:lnTo>
                  <a:pt x="481003" y="33649"/>
                </a:lnTo>
                <a:lnTo>
                  <a:pt x="468606" y="30384"/>
                </a:lnTo>
                <a:lnTo>
                  <a:pt x="455902" y="27312"/>
                </a:lnTo>
                <a:lnTo>
                  <a:pt x="442857" y="24405"/>
                </a:lnTo>
                <a:lnTo>
                  <a:pt x="435102" y="22777"/>
                </a:lnTo>
                <a:lnTo>
                  <a:pt x="422970" y="15183"/>
                </a:lnTo>
                <a:lnTo>
                  <a:pt x="411969" y="9363"/>
                </a:lnTo>
                <a:lnTo>
                  <a:pt x="401779" y="5127"/>
                </a:lnTo>
                <a:lnTo>
                  <a:pt x="392082" y="2282"/>
                </a:lnTo>
                <a:lnTo>
                  <a:pt x="382558" y="637"/>
                </a:lnTo>
                <a:lnTo>
                  <a:pt x="372887" y="0"/>
                </a:lnTo>
                <a:lnTo>
                  <a:pt x="362751" y="178"/>
                </a:lnTo>
                <a:lnTo>
                  <a:pt x="351831" y="980"/>
                </a:lnTo>
                <a:lnTo>
                  <a:pt x="339806" y="2214"/>
                </a:lnTo>
                <a:lnTo>
                  <a:pt x="326359" y="3688"/>
                </a:lnTo>
                <a:lnTo>
                  <a:pt x="311169" y="5211"/>
                </a:lnTo>
                <a:lnTo>
                  <a:pt x="293918" y="6590"/>
                </a:lnTo>
                <a:lnTo>
                  <a:pt x="289052" y="6902"/>
                </a:lnTo>
                <a:lnTo>
                  <a:pt x="280550" y="10669"/>
                </a:lnTo>
                <a:lnTo>
                  <a:pt x="269755" y="16035"/>
                </a:lnTo>
                <a:lnTo>
                  <a:pt x="257368" y="22357"/>
                </a:lnTo>
                <a:lnTo>
                  <a:pt x="244091" y="28990"/>
                </a:lnTo>
                <a:lnTo>
                  <a:pt x="230627" y="35289"/>
                </a:lnTo>
                <a:lnTo>
                  <a:pt x="217676" y="40609"/>
                </a:lnTo>
                <a:lnTo>
                  <a:pt x="205941" y="44308"/>
                </a:lnTo>
                <a:lnTo>
                  <a:pt x="196123" y="45740"/>
                </a:lnTo>
                <a:lnTo>
                  <a:pt x="190626" y="45002"/>
                </a:lnTo>
                <a:lnTo>
                  <a:pt x="185800" y="43478"/>
                </a:lnTo>
                <a:lnTo>
                  <a:pt x="190626" y="35477"/>
                </a:lnTo>
                <a:lnTo>
                  <a:pt x="190626" y="30778"/>
                </a:lnTo>
                <a:lnTo>
                  <a:pt x="181855" y="39352"/>
                </a:lnTo>
                <a:lnTo>
                  <a:pt x="172787" y="47900"/>
                </a:lnTo>
                <a:lnTo>
                  <a:pt x="163446" y="56384"/>
                </a:lnTo>
                <a:lnTo>
                  <a:pt x="153852" y="64771"/>
                </a:lnTo>
                <a:lnTo>
                  <a:pt x="144028" y="73024"/>
                </a:lnTo>
                <a:lnTo>
                  <a:pt x="133995" y="81108"/>
                </a:lnTo>
                <a:lnTo>
                  <a:pt x="123776" y="88987"/>
                </a:lnTo>
                <a:lnTo>
                  <a:pt x="113393" y="96625"/>
                </a:lnTo>
                <a:lnTo>
                  <a:pt x="102867" y="103988"/>
                </a:lnTo>
                <a:lnTo>
                  <a:pt x="98425" y="106978"/>
                </a:lnTo>
                <a:lnTo>
                  <a:pt x="90958" y="117471"/>
                </a:lnTo>
                <a:lnTo>
                  <a:pt x="83508" y="127847"/>
                </a:lnTo>
                <a:lnTo>
                  <a:pt x="76099" y="138150"/>
                </a:lnTo>
                <a:lnTo>
                  <a:pt x="68753" y="148425"/>
                </a:lnTo>
                <a:lnTo>
                  <a:pt x="61495" y="158719"/>
                </a:lnTo>
                <a:lnTo>
                  <a:pt x="54348" y="169075"/>
                </a:lnTo>
                <a:lnTo>
                  <a:pt x="47336" y="179540"/>
                </a:lnTo>
                <a:lnTo>
                  <a:pt x="40481" y="190158"/>
                </a:lnTo>
                <a:lnTo>
                  <a:pt x="33807" y="200974"/>
                </a:lnTo>
                <a:lnTo>
                  <a:pt x="27339" y="212034"/>
                </a:lnTo>
                <a:lnTo>
                  <a:pt x="22225" y="221278"/>
                </a:lnTo>
                <a:lnTo>
                  <a:pt x="19465" y="233600"/>
                </a:lnTo>
                <a:lnTo>
                  <a:pt x="16448" y="245933"/>
                </a:lnTo>
                <a:lnTo>
                  <a:pt x="13270" y="258271"/>
                </a:lnTo>
                <a:lnTo>
                  <a:pt x="10028" y="270613"/>
                </a:lnTo>
                <a:lnTo>
                  <a:pt x="6818" y="282953"/>
                </a:lnTo>
                <a:lnTo>
                  <a:pt x="3736" y="2952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27064" y="2901651"/>
            <a:ext cx="754253" cy="670604"/>
          </a:xfrm>
          <a:custGeom>
            <a:avLst/>
            <a:gdLst/>
            <a:ahLst/>
            <a:cxnLst/>
            <a:rect l="l" t="t" r="r" b="b"/>
            <a:pathLst>
              <a:path w="754253" h="670604">
                <a:moveTo>
                  <a:pt x="190626" y="30778"/>
                </a:moveTo>
                <a:lnTo>
                  <a:pt x="181855" y="39352"/>
                </a:lnTo>
                <a:lnTo>
                  <a:pt x="172787" y="47900"/>
                </a:lnTo>
                <a:lnTo>
                  <a:pt x="163446" y="56384"/>
                </a:lnTo>
                <a:lnTo>
                  <a:pt x="153852" y="64771"/>
                </a:lnTo>
                <a:lnTo>
                  <a:pt x="144028" y="73024"/>
                </a:lnTo>
                <a:lnTo>
                  <a:pt x="133995" y="81108"/>
                </a:lnTo>
                <a:lnTo>
                  <a:pt x="123776" y="88987"/>
                </a:lnTo>
                <a:lnTo>
                  <a:pt x="113393" y="96625"/>
                </a:lnTo>
                <a:lnTo>
                  <a:pt x="102867" y="103988"/>
                </a:lnTo>
                <a:lnTo>
                  <a:pt x="98425" y="106978"/>
                </a:lnTo>
                <a:lnTo>
                  <a:pt x="90958" y="117471"/>
                </a:lnTo>
                <a:lnTo>
                  <a:pt x="83508" y="127847"/>
                </a:lnTo>
                <a:lnTo>
                  <a:pt x="76099" y="138150"/>
                </a:lnTo>
                <a:lnTo>
                  <a:pt x="68753" y="148425"/>
                </a:lnTo>
                <a:lnTo>
                  <a:pt x="61495" y="158719"/>
                </a:lnTo>
                <a:lnTo>
                  <a:pt x="54348" y="169075"/>
                </a:lnTo>
                <a:lnTo>
                  <a:pt x="47336" y="179540"/>
                </a:lnTo>
                <a:lnTo>
                  <a:pt x="40481" y="190158"/>
                </a:lnTo>
                <a:lnTo>
                  <a:pt x="33807" y="200974"/>
                </a:lnTo>
                <a:lnTo>
                  <a:pt x="27339" y="212034"/>
                </a:lnTo>
                <a:lnTo>
                  <a:pt x="22225" y="221278"/>
                </a:lnTo>
                <a:lnTo>
                  <a:pt x="19465" y="233600"/>
                </a:lnTo>
                <a:lnTo>
                  <a:pt x="16448" y="245933"/>
                </a:lnTo>
                <a:lnTo>
                  <a:pt x="13270" y="258271"/>
                </a:lnTo>
                <a:lnTo>
                  <a:pt x="10028" y="270613"/>
                </a:lnTo>
                <a:lnTo>
                  <a:pt x="6818" y="282953"/>
                </a:lnTo>
                <a:lnTo>
                  <a:pt x="3736" y="295288"/>
                </a:lnTo>
                <a:lnTo>
                  <a:pt x="881" y="307614"/>
                </a:lnTo>
                <a:lnTo>
                  <a:pt x="0" y="311702"/>
                </a:lnTo>
                <a:lnTo>
                  <a:pt x="1002" y="324341"/>
                </a:lnTo>
                <a:lnTo>
                  <a:pt x="1707" y="336979"/>
                </a:lnTo>
                <a:lnTo>
                  <a:pt x="2267" y="349613"/>
                </a:lnTo>
                <a:lnTo>
                  <a:pt x="2832" y="362243"/>
                </a:lnTo>
                <a:lnTo>
                  <a:pt x="3554" y="374867"/>
                </a:lnTo>
                <a:lnTo>
                  <a:pt x="4584" y="387483"/>
                </a:lnTo>
                <a:lnTo>
                  <a:pt x="6074" y="400090"/>
                </a:lnTo>
                <a:lnTo>
                  <a:pt x="8000" y="411778"/>
                </a:lnTo>
                <a:lnTo>
                  <a:pt x="11089" y="423317"/>
                </a:lnTo>
                <a:lnTo>
                  <a:pt x="15834" y="435091"/>
                </a:lnTo>
                <a:lnTo>
                  <a:pt x="21759" y="446909"/>
                </a:lnTo>
                <a:lnTo>
                  <a:pt x="28386" y="458582"/>
                </a:lnTo>
                <a:lnTo>
                  <a:pt x="35238" y="469922"/>
                </a:lnTo>
                <a:lnTo>
                  <a:pt x="41839" y="480738"/>
                </a:lnTo>
                <a:lnTo>
                  <a:pt x="46100" y="487978"/>
                </a:lnTo>
                <a:lnTo>
                  <a:pt x="52651" y="499868"/>
                </a:lnTo>
                <a:lnTo>
                  <a:pt x="59113" y="511606"/>
                </a:lnTo>
                <a:lnTo>
                  <a:pt x="65535" y="523175"/>
                </a:lnTo>
                <a:lnTo>
                  <a:pt x="71963" y="534559"/>
                </a:lnTo>
                <a:lnTo>
                  <a:pt x="78447" y="545743"/>
                </a:lnTo>
                <a:lnTo>
                  <a:pt x="85034" y="556711"/>
                </a:lnTo>
                <a:lnTo>
                  <a:pt x="91772" y="567447"/>
                </a:lnTo>
                <a:lnTo>
                  <a:pt x="98709" y="577934"/>
                </a:lnTo>
                <a:lnTo>
                  <a:pt x="105894" y="588158"/>
                </a:lnTo>
                <a:lnTo>
                  <a:pt x="113374" y="598101"/>
                </a:lnTo>
                <a:lnTo>
                  <a:pt x="121197" y="607749"/>
                </a:lnTo>
                <a:lnTo>
                  <a:pt x="129412" y="617085"/>
                </a:lnTo>
                <a:lnTo>
                  <a:pt x="138066" y="626094"/>
                </a:lnTo>
                <a:lnTo>
                  <a:pt x="147207" y="634759"/>
                </a:lnTo>
                <a:lnTo>
                  <a:pt x="156884" y="643065"/>
                </a:lnTo>
                <a:lnTo>
                  <a:pt x="167144" y="650996"/>
                </a:lnTo>
                <a:lnTo>
                  <a:pt x="178036" y="658536"/>
                </a:lnTo>
                <a:lnTo>
                  <a:pt x="189607" y="665668"/>
                </a:lnTo>
                <a:lnTo>
                  <a:pt x="198500" y="670604"/>
                </a:lnTo>
                <a:lnTo>
                  <a:pt x="204167" y="670281"/>
                </a:lnTo>
                <a:lnTo>
                  <a:pt x="215491" y="669295"/>
                </a:lnTo>
                <a:lnTo>
                  <a:pt x="230396" y="667619"/>
                </a:lnTo>
                <a:lnTo>
                  <a:pt x="246804" y="665224"/>
                </a:lnTo>
                <a:lnTo>
                  <a:pt x="262638" y="662084"/>
                </a:lnTo>
                <a:lnTo>
                  <a:pt x="275823" y="658171"/>
                </a:lnTo>
                <a:lnTo>
                  <a:pt x="293398" y="646937"/>
                </a:lnTo>
                <a:lnTo>
                  <a:pt x="303304" y="638654"/>
                </a:lnTo>
                <a:lnTo>
                  <a:pt x="312700" y="630109"/>
                </a:lnTo>
                <a:lnTo>
                  <a:pt x="321868" y="621527"/>
                </a:lnTo>
                <a:lnTo>
                  <a:pt x="331087" y="613137"/>
                </a:lnTo>
                <a:lnTo>
                  <a:pt x="340639" y="605167"/>
                </a:lnTo>
                <a:lnTo>
                  <a:pt x="350805" y="597842"/>
                </a:lnTo>
                <a:lnTo>
                  <a:pt x="361866" y="591391"/>
                </a:lnTo>
                <a:lnTo>
                  <a:pt x="373126" y="586403"/>
                </a:lnTo>
                <a:lnTo>
                  <a:pt x="378752" y="573345"/>
                </a:lnTo>
                <a:lnTo>
                  <a:pt x="385220" y="562209"/>
                </a:lnTo>
                <a:lnTo>
                  <a:pt x="392680" y="552596"/>
                </a:lnTo>
                <a:lnTo>
                  <a:pt x="401281" y="544107"/>
                </a:lnTo>
                <a:lnTo>
                  <a:pt x="411173" y="536343"/>
                </a:lnTo>
                <a:lnTo>
                  <a:pt x="422506" y="528905"/>
                </a:lnTo>
                <a:lnTo>
                  <a:pt x="427228" y="526078"/>
                </a:lnTo>
                <a:lnTo>
                  <a:pt x="429948" y="512433"/>
                </a:lnTo>
                <a:lnTo>
                  <a:pt x="432810" y="498877"/>
                </a:lnTo>
                <a:lnTo>
                  <a:pt x="436047" y="485583"/>
                </a:lnTo>
                <a:lnTo>
                  <a:pt x="439891" y="472724"/>
                </a:lnTo>
                <a:lnTo>
                  <a:pt x="444573" y="460473"/>
                </a:lnTo>
                <a:lnTo>
                  <a:pt x="450328" y="449003"/>
                </a:lnTo>
                <a:lnTo>
                  <a:pt x="457386" y="438486"/>
                </a:lnTo>
                <a:lnTo>
                  <a:pt x="465981" y="429096"/>
                </a:lnTo>
                <a:lnTo>
                  <a:pt x="476344" y="421004"/>
                </a:lnTo>
                <a:lnTo>
                  <a:pt x="488708" y="414384"/>
                </a:lnTo>
                <a:lnTo>
                  <a:pt x="495427" y="411778"/>
                </a:lnTo>
                <a:lnTo>
                  <a:pt x="505169" y="402233"/>
                </a:lnTo>
                <a:lnTo>
                  <a:pt x="515336" y="393702"/>
                </a:lnTo>
                <a:lnTo>
                  <a:pt x="525901" y="386119"/>
                </a:lnTo>
                <a:lnTo>
                  <a:pt x="536835" y="379421"/>
                </a:lnTo>
                <a:lnTo>
                  <a:pt x="548112" y="373541"/>
                </a:lnTo>
                <a:lnTo>
                  <a:pt x="559704" y="368414"/>
                </a:lnTo>
                <a:lnTo>
                  <a:pt x="571584" y="363975"/>
                </a:lnTo>
                <a:lnTo>
                  <a:pt x="583724" y="360158"/>
                </a:lnTo>
                <a:lnTo>
                  <a:pt x="596098" y="356898"/>
                </a:lnTo>
                <a:lnTo>
                  <a:pt x="608677" y="354130"/>
                </a:lnTo>
                <a:lnTo>
                  <a:pt x="621435" y="351788"/>
                </a:lnTo>
                <a:lnTo>
                  <a:pt x="634345" y="349807"/>
                </a:lnTo>
                <a:lnTo>
                  <a:pt x="647377" y="348122"/>
                </a:lnTo>
                <a:lnTo>
                  <a:pt x="660507" y="346667"/>
                </a:lnTo>
                <a:lnTo>
                  <a:pt x="673705" y="345378"/>
                </a:lnTo>
                <a:lnTo>
                  <a:pt x="686946" y="344188"/>
                </a:lnTo>
                <a:lnTo>
                  <a:pt x="693928" y="343579"/>
                </a:lnTo>
                <a:lnTo>
                  <a:pt x="704986" y="335373"/>
                </a:lnTo>
                <a:lnTo>
                  <a:pt x="714644" y="326882"/>
                </a:lnTo>
                <a:lnTo>
                  <a:pt x="723137" y="317977"/>
                </a:lnTo>
                <a:lnTo>
                  <a:pt x="730700" y="308531"/>
                </a:lnTo>
                <a:lnTo>
                  <a:pt x="737570" y="298413"/>
                </a:lnTo>
                <a:lnTo>
                  <a:pt x="743982" y="287495"/>
                </a:lnTo>
                <a:lnTo>
                  <a:pt x="750172" y="275648"/>
                </a:lnTo>
                <a:lnTo>
                  <a:pt x="754253" y="267252"/>
                </a:lnTo>
                <a:lnTo>
                  <a:pt x="753297" y="254581"/>
                </a:lnTo>
                <a:lnTo>
                  <a:pt x="752957" y="241941"/>
                </a:lnTo>
                <a:lnTo>
                  <a:pt x="752799" y="229366"/>
                </a:lnTo>
                <a:lnTo>
                  <a:pt x="752391" y="216886"/>
                </a:lnTo>
                <a:lnTo>
                  <a:pt x="751297" y="204535"/>
                </a:lnTo>
                <a:lnTo>
                  <a:pt x="749085" y="192344"/>
                </a:lnTo>
                <a:lnTo>
                  <a:pt x="746379" y="183178"/>
                </a:lnTo>
                <a:lnTo>
                  <a:pt x="737818" y="178129"/>
                </a:lnTo>
                <a:lnTo>
                  <a:pt x="726347" y="176405"/>
                </a:lnTo>
                <a:lnTo>
                  <a:pt x="724154" y="175177"/>
                </a:lnTo>
                <a:lnTo>
                  <a:pt x="713637" y="165995"/>
                </a:lnTo>
                <a:lnTo>
                  <a:pt x="704054" y="156983"/>
                </a:lnTo>
                <a:lnTo>
                  <a:pt x="695082" y="148219"/>
                </a:lnTo>
                <a:lnTo>
                  <a:pt x="686399" y="139780"/>
                </a:lnTo>
                <a:lnTo>
                  <a:pt x="677682" y="131744"/>
                </a:lnTo>
                <a:lnTo>
                  <a:pt x="668608" y="124187"/>
                </a:lnTo>
                <a:lnTo>
                  <a:pt x="658857" y="117186"/>
                </a:lnTo>
                <a:lnTo>
                  <a:pt x="648105" y="110820"/>
                </a:lnTo>
                <a:lnTo>
                  <a:pt x="636031" y="105165"/>
                </a:lnTo>
                <a:lnTo>
                  <a:pt x="622312" y="100299"/>
                </a:lnTo>
                <a:lnTo>
                  <a:pt x="617728" y="98977"/>
                </a:lnTo>
                <a:lnTo>
                  <a:pt x="606460" y="91025"/>
                </a:lnTo>
                <a:lnTo>
                  <a:pt x="595280" y="83630"/>
                </a:lnTo>
                <a:lnTo>
                  <a:pt x="584153" y="76761"/>
                </a:lnTo>
                <a:lnTo>
                  <a:pt x="573046" y="70389"/>
                </a:lnTo>
                <a:lnTo>
                  <a:pt x="561928" y="64482"/>
                </a:lnTo>
                <a:lnTo>
                  <a:pt x="550765" y="59012"/>
                </a:lnTo>
                <a:lnTo>
                  <a:pt x="539524" y="53947"/>
                </a:lnTo>
                <a:lnTo>
                  <a:pt x="528172" y="49257"/>
                </a:lnTo>
                <a:lnTo>
                  <a:pt x="516677" y="44913"/>
                </a:lnTo>
                <a:lnTo>
                  <a:pt x="505006" y="40884"/>
                </a:lnTo>
                <a:lnTo>
                  <a:pt x="493126" y="37139"/>
                </a:lnTo>
                <a:lnTo>
                  <a:pt x="481003" y="33649"/>
                </a:lnTo>
                <a:lnTo>
                  <a:pt x="468606" y="30384"/>
                </a:lnTo>
                <a:lnTo>
                  <a:pt x="455902" y="27312"/>
                </a:lnTo>
                <a:lnTo>
                  <a:pt x="442857" y="24405"/>
                </a:lnTo>
                <a:lnTo>
                  <a:pt x="435102" y="22777"/>
                </a:lnTo>
                <a:lnTo>
                  <a:pt x="422970" y="15183"/>
                </a:lnTo>
                <a:lnTo>
                  <a:pt x="411969" y="9363"/>
                </a:lnTo>
                <a:lnTo>
                  <a:pt x="401779" y="5127"/>
                </a:lnTo>
                <a:lnTo>
                  <a:pt x="392082" y="2282"/>
                </a:lnTo>
                <a:lnTo>
                  <a:pt x="382558" y="637"/>
                </a:lnTo>
                <a:lnTo>
                  <a:pt x="372887" y="0"/>
                </a:lnTo>
                <a:lnTo>
                  <a:pt x="362751" y="178"/>
                </a:lnTo>
                <a:lnTo>
                  <a:pt x="351831" y="980"/>
                </a:lnTo>
                <a:lnTo>
                  <a:pt x="339806" y="2214"/>
                </a:lnTo>
                <a:lnTo>
                  <a:pt x="326359" y="3688"/>
                </a:lnTo>
                <a:lnTo>
                  <a:pt x="311169" y="5211"/>
                </a:lnTo>
                <a:lnTo>
                  <a:pt x="293918" y="6590"/>
                </a:lnTo>
                <a:lnTo>
                  <a:pt x="289052" y="6902"/>
                </a:lnTo>
                <a:lnTo>
                  <a:pt x="280550" y="10669"/>
                </a:lnTo>
                <a:lnTo>
                  <a:pt x="269755" y="16035"/>
                </a:lnTo>
                <a:lnTo>
                  <a:pt x="257368" y="22357"/>
                </a:lnTo>
                <a:lnTo>
                  <a:pt x="244091" y="28990"/>
                </a:lnTo>
                <a:lnTo>
                  <a:pt x="230627" y="35289"/>
                </a:lnTo>
                <a:lnTo>
                  <a:pt x="217676" y="40609"/>
                </a:lnTo>
                <a:lnTo>
                  <a:pt x="205941" y="44308"/>
                </a:lnTo>
                <a:lnTo>
                  <a:pt x="196123" y="45740"/>
                </a:lnTo>
                <a:lnTo>
                  <a:pt x="190626" y="45002"/>
                </a:lnTo>
                <a:lnTo>
                  <a:pt x="185800" y="43478"/>
                </a:lnTo>
                <a:lnTo>
                  <a:pt x="190626" y="35477"/>
                </a:lnTo>
                <a:lnTo>
                  <a:pt x="190626" y="3077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57986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Rel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tion between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P and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NP Probl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37"/>
              </a:spcBef>
            </a:pPr>
            <a:endParaRPr sz="1400"/>
          </a:p>
          <a:p>
            <a:pPr marL="515112" marR="211017" indent="-274320">
              <a:lnSpc>
                <a:spcPts val="3250"/>
              </a:lnSpc>
              <a:spcBef>
                <a:spcPts val="16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</a:t>
            </a:r>
            <a:r>
              <a:rPr sz="2700" spc="27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uns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lved</a:t>
            </a:r>
            <a:r>
              <a:rPr sz="2700" spc="26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probl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m</a:t>
            </a:r>
            <a:r>
              <a:rPr sz="2700" spc="26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27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</a:t>
            </a:r>
            <a:r>
              <a:rPr sz="2700" spc="-19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puter</a:t>
            </a:r>
            <a:r>
              <a:rPr sz="2700" spc="26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sc</a:t>
            </a:r>
            <a:r>
              <a:rPr sz="2700" spc="-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ence</a:t>
            </a:r>
            <a:r>
              <a:rPr sz="2700" spc="26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</a:t>
            </a:r>
            <a:r>
              <a:rPr sz="2700" spc="-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:</a:t>
            </a:r>
            <a:r>
              <a:rPr sz="2700" spc="269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25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26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= </a:t>
            </a:r>
            <a:r>
              <a:rPr sz="2700" spc="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r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P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Symbol"/>
                <a:cs typeface="Symbol"/>
              </a:rPr>
              <a:t></a:t>
            </a:r>
            <a:r>
              <a:rPr sz="2700" spc="-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NP?</a:t>
            </a:r>
            <a:endParaRPr sz="2700">
              <a:latin typeface="Georgia"/>
              <a:cs typeface="Georgia"/>
            </a:endParaRPr>
          </a:p>
          <a:p>
            <a:pPr marR="2419186" algn="r">
              <a:lnSpc>
                <a:spcPct val="100585"/>
              </a:lnSpc>
              <a:spcBef>
                <a:spcPts val="5071"/>
              </a:spcBef>
            </a:pPr>
            <a:r>
              <a:rPr sz="1800" spc="0" dirty="0">
                <a:latin typeface="Tahoma"/>
                <a:cs typeface="Tahoma"/>
              </a:rPr>
              <a:t>P</a:t>
            </a:r>
            <a:endParaRPr sz="1800">
              <a:latin typeface="Tahoma"/>
              <a:cs typeface="Tahoma"/>
            </a:endParaRPr>
          </a:p>
          <a:p>
            <a:pPr marR="1126801" algn="r">
              <a:lnSpc>
                <a:spcPct val="100585"/>
              </a:lnSpc>
              <a:spcBef>
                <a:spcPts val="1979"/>
              </a:spcBef>
            </a:pPr>
            <a:r>
              <a:rPr sz="1800" spc="0" dirty="0">
                <a:latin typeface="Tahoma"/>
                <a:cs typeface="Tahoma"/>
              </a:rPr>
              <a:t>NP</a:t>
            </a:r>
            <a:endParaRPr sz="1800">
              <a:latin typeface="Tahoma"/>
              <a:cs typeface="Tahoma"/>
            </a:endParaRPr>
          </a:p>
          <a:p>
            <a:pPr marL="240792" marR="213214" algn="just">
              <a:lnSpc>
                <a:spcPts val="3067"/>
              </a:lnSpc>
              <a:spcBef>
                <a:spcPts val="4748"/>
              </a:spcBef>
            </a:pPr>
            <a:r>
              <a:rPr sz="2700" spc="0" dirty="0">
                <a:latin typeface="Georgia"/>
                <a:cs typeface="Georgia"/>
              </a:rPr>
              <a:t>Any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-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oblem</a:t>
            </a:r>
            <a:r>
              <a:rPr sz="2700" spc="3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4" dirty="0">
                <a:latin typeface="Georgia"/>
                <a:cs typeface="Georgia"/>
              </a:rPr>
              <a:t>h</a:t>
            </a:r>
            <a:r>
              <a:rPr sz="2700" spc="0" dirty="0">
                <a:latin typeface="Georgia"/>
                <a:cs typeface="Georgia"/>
              </a:rPr>
              <a:t>at</a:t>
            </a:r>
            <a:r>
              <a:rPr sz="2700" spc="319" dirty="0">
                <a:latin typeface="Georgia"/>
                <a:cs typeface="Georgia"/>
              </a:rPr>
              <a:t> </a:t>
            </a:r>
            <a:r>
              <a:rPr sz="2700" spc="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an</a:t>
            </a:r>
            <a:r>
              <a:rPr sz="2700" spc="3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4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v</a:t>
            </a:r>
            <a:r>
              <a:rPr sz="2700" spc="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3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by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-14" dirty="0">
                <a:latin typeface="Georgia"/>
                <a:cs typeface="Georgia"/>
              </a:rPr>
              <a:t>d</a:t>
            </a:r>
            <a:r>
              <a:rPr sz="2700" spc="0" dirty="0">
                <a:latin typeface="Georgia"/>
                <a:cs typeface="Georgia"/>
              </a:rPr>
              <a:t>etermin</a:t>
            </a:r>
            <a:r>
              <a:rPr sz="2700" spc="-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st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3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m</a:t>
            </a:r>
            <a:r>
              <a:rPr sz="2700" spc="-4" dirty="0">
                <a:latin typeface="Georgia"/>
                <a:cs typeface="Georgia"/>
              </a:rPr>
              <a:t>/</a:t>
            </a:r>
            <a:r>
              <a:rPr sz="2700" spc="0" dirty="0">
                <a:latin typeface="Georgia"/>
                <a:cs typeface="Georgia"/>
              </a:rPr>
              <a:t>c </a:t>
            </a:r>
            <a:endParaRPr sz="2700">
              <a:latin typeface="Georgia"/>
              <a:cs typeface="Georgia"/>
            </a:endParaRPr>
          </a:p>
          <a:p>
            <a:pPr marL="240792" marR="213214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polynomial t</a:t>
            </a:r>
            <a:r>
              <a:rPr sz="2700" spc="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me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can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solv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 by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non- </a:t>
            </a:r>
            <a:endParaRPr sz="2700">
              <a:latin typeface="Georgia"/>
              <a:cs typeface="Georgia"/>
            </a:endParaRPr>
          </a:p>
          <a:p>
            <a:pPr marL="240792" marR="213214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det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rministic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m/c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polynomial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23"/>
              </a:spcBef>
            </a:pPr>
            <a:endParaRPr sz="600"/>
          </a:p>
          <a:p>
            <a:pPr marL="1692529">
              <a:lnSpc>
                <a:spcPct val="94685"/>
              </a:lnSpc>
              <a:spcBef>
                <a:spcPts val="3000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Some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NP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Complete</a:t>
            </a:r>
            <a:r>
              <a:rPr sz="3300" spc="1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Problems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48"/>
              </a:spcBef>
            </a:pPr>
            <a:endParaRPr sz="500"/>
          </a:p>
          <a:p>
            <a:pPr marL="515112">
              <a:lnSpc>
                <a:spcPct val="94685"/>
              </a:lnSpc>
              <a:spcBef>
                <a:spcPts val="1000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Graph Coloring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TSP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Pack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ng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1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Knapsack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Subset Sum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Mine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weeper Co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st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aints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2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Many More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91C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65885" y="1521891"/>
            <a:ext cx="6491343" cy="5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00"/>
              </a:lnSpc>
              <a:spcBef>
                <a:spcPts val="220"/>
              </a:spcBef>
            </a:pP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Polynomial Time</a:t>
            </a:r>
            <a:r>
              <a:rPr sz="4200" spc="-19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Proble</a:t>
            </a:r>
            <a:r>
              <a:rPr sz="4200" spc="-14" dirty="0">
                <a:solidFill>
                  <a:srgbClr val="525389"/>
                </a:solidFill>
                <a:latin typeface="Georgia"/>
                <a:cs typeface="Georgia"/>
              </a:rPr>
              <a:t>m</a:t>
            </a: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s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16858" y="2885822"/>
            <a:ext cx="1508885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1600" b="1" spc="-14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082673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nimum</a:t>
            </a:r>
            <a:r>
              <a:rPr sz="3300" spc="25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Spanning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Tree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sz="2300" spc="275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Undir</a:t>
            </a:r>
            <a:r>
              <a:rPr sz="2700" spc="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ct</a:t>
            </a:r>
            <a:r>
              <a:rPr sz="2700" spc="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64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i</a:t>
            </a: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h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ed</a:t>
            </a:r>
            <a:r>
              <a:rPr sz="2700" spc="60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graph,G = (V, E)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V:</a:t>
            </a:r>
            <a:r>
              <a:rPr sz="2200" spc="-2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-1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vertic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E:set</a:t>
            </a:r>
            <a:r>
              <a:rPr sz="2200" spc="-4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es</a:t>
            </a:r>
            <a:endParaRPr sz="2200">
              <a:latin typeface="Georgia"/>
              <a:cs typeface="Georgia"/>
            </a:endParaRPr>
          </a:p>
          <a:p>
            <a:pPr marL="515111">
              <a:lnSpc>
                <a:spcPct val="94685"/>
              </a:lnSpc>
              <a:spcBef>
                <a:spcPts val="670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u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v):weig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-11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2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connec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ing</a:t>
            </a:r>
            <a:r>
              <a:rPr sz="2200" spc="-7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vertic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u</a:t>
            </a:r>
            <a:r>
              <a:rPr sz="2200" spc="-1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and</a:t>
            </a:r>
            <a:r>
              <a:rPr sz="2200" spc="-3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</a:t>
            </a:r>
            <a:endParaRPr sz="2200">
              <a:latin typeface="Georgia"/>
              <a:cs typeface="Georgia"/>
            </a:endParaRPr>
          </a:p>
          <a:p>
            <a:pPr marL="240791">
              <a:lnSpc>
                <a:spcPct val="94685"/>
              </a:lnSpc>
              <a:spcBef>
                <a:spcPts val="809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Objec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iv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: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nd ac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ic</a:t>
            </a:r>
            <a:r>
              <a:rPr sz="2200" spc="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su</a:t>
            </a:r>
            <a:r>
              <a:rPr sz="2200" spc="-14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-3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that c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3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ll</a:t>
            </a:r>
            <a:r>
              <a:rPr sz="2200" spc="-1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tices 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-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wh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se</a:t>
            </a:r>
            <a:endParaRPr sz="2200">
              <a:latin typeface="Georgia"/>
              <a:cs typeface="Georgia"/>
            </a:endParaRPr>
          </a:p>
          <a:p>
            <a:pPr marL="789736">
              <a:lnSpc>
                <a:spcPct val="94685"/>
              </a:lnSpc>
              <a:spcBef>
                <a:spcPts val="140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total</a:t>
            </a:r>
            <a:r>
              <a:rPr sz="2200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weight</a:t>
            </a:r>
            <a:r>
              <a:rPr sz="2200" spc="-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is</a:t>
            </a:r>
            <a:r>
              <a:rPr sz="2200" spc="-1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min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mized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Known</a:t>
            </a:r>
            <a:r>
              <a:rPr sz="2200" spc="-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as</a:t>
            </a:r>
            <a:r>
              <a:rPr sz="2200" spc="-2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Min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mum</a:t>
            </a:r>
            <a:r>
              <a:rPr sz="2200" spc="-8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anning</a:t>
            </a:r>
            <a:r>
              <a:rPr sz="2200" spc="-6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Tr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ST)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Total</a:t>
            </a:r>
            <a:r>
              <a:rPr sz="2200" spc="-4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weight,</a:t>
            </a:r>
            <a:r>
              <a:rPr sz="2200" spc="-6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W=</a:t>
            </a:r>
            <a:r>
              <a:rPr sz="2200" spc="-3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∑</a:t>
            </a:r>
            <a:r>
              <a:rPr sz="2200" spc="-1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weights</a:t>
            </a:r>
            <a:r>
              <a:rPr sz="2200" spc="-6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es</a:t>
            </a:r>
            <a:r>
              <a:rPr sz="22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ng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ng</a:t>
            </a:r>
            <a:r>
              <a:rPr sz="2200" spc="-6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to</a:t>
            </a:r>
            <a:r>
              <a:rPr sz="2200" spc="51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00"/>
              </a:lnSpc>
              <a:spcBef>
                <a:spcPts val="47"/>
              </a:spcBef>
            </a:pPr>
            <a:endParaRPr sz="700"/>
          </a:p>
          <a:p>
            <a:pPr marL="2851150">
              <a:lnSpc>
                <a:spcPct val="94685"/>
              </a:lnSpc>
              <a:spcBef>
                <a:spcPts val="2000"/>
              </a:spcBef>
            </a:pP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Ap</a:t>
            </a:r>
            <a:r>
              <a:rPr sz="3000" spc="4" dirty="0">
                <a:solidFill>
                  <a:srgbClr val="8B438F"/>
                </a:solidFill>
                <a:latin typeface="Georgia"/>
                <a:cs typeface="Georgia"/>
              </a:rPr>
              <a:t>p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li</a:t>
            </a:r>
            <a:r>
              <a:rPr sz="3000" spc="4" dirty="0">
                <a:solidFill>
                  <a:srgbClr val="8B438F"/>
                </a:solidFill>
                <a:latin typeface="Georgia"/>
                <a:cs typeface="Georgia"/>
              </a:rPr>
              <a:t>c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ation</a:t>
            </a:r>
            <a:r>
              <a:rPr sz="3000" spc="-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(MST)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9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ampl</a:t>
            </a:r>
            <a:r>
              <a:rPr sz="2700" spc="-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: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Designing</a:t>
            </a:r>
            <a:r>
              <a:rPr sz="2200" spc="-6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ec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ron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-6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circuit</a:t>
            </a:r>
            <a:r>
              <a:rPr sz="2200" spc="-4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with</a:t>
            </a:r>
            <a:r>
              <a:rPr sz="2200" spc="-3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set</a:t>
            </a:r>
            <a:r>
              <a:rPr sz="2200" spc="-2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‘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’</a:t>
            </a:r>
            <a:r>
              <a:rPr sz="2200" spc="-1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ns</a:t>
            </a:r>
            <a:r>
              <a:rPr sz="2200" spc="-4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-2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wires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j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ctiv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:</a:t>
            </a:r>
            <a:r>
              <a:rPr sz="2200" spc="-6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nn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cting</a:t>
            </a:r>
            <a:r>
              <a:rPr sz="2200" spc="-7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200" spc="-3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‘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’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ns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0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nimum</a:t>
            </a:r>
            <a:r>
              <a:rPr sz="2200" spc="-9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wires</a:t>
            </a:r>
            <a:r>
              <a:rPr sz="2200" spc="-4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q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uire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:</a:t>
            </a:r>
            <a:r>
              <a:rPr sz="2200" spc="-7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–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1</a:t>
            </a:r>
            <a:endParaRPr sz="2200">
              <a:latin typeface="Georgia"/>
              <a:cs typeface="Georgia"/>
            </a:endParaRPr>
          </a:p>
          <a:p>
            <a:pPr marL="515112" marR="210791" indent="-274320" algn="just">
              <a:lnSpc>
                <a:spcPts val="3090"/>
              </a:lnSpc>
              <a:spcBef>
                <a:spcPts val="3977"/>
              </a:spcBef>
              <a:tabLst>
                <a:tab pos="596900" algn="l"/>
              </a:tabLst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sz="2700" b="1" spc="0" dirty="0">
                <a:latin typeface="Georgia"/>
                <a:cs typeface="Georgia"/>
              </a:rPr>
              <a:t>Aim:  </a:t>
            </a:r>
            <a:r>
              <a:rPr sz="2700" b="1" spc="388" dirty="0">
                <a:latin typeface="Georgia"/>
                <a:cs typeface="Georgia"/>
              </a:rPr>
              <a:t> </a:t>
            </a:r>
            <a:r>
              <a:rPr sz="2700" b="1" spc="-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  </a:t>
            </a:r>
            <a:r>
              <a:rPr sz="2700" spc="48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ch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ose  </a:t>
            </a:r>
            <a:r>
              <a:rPr sz="2700" spc="47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 </a:t>
            </a:r>
            <a:r>
              <a:rPr sz="2700" spc="49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best  </a:t>
            </a:r>
            <a:r>
              <a:rPr sz="2700" spc="48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cir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uit  </a:t>
            </a:r>
            <a:r>
              <a:rPr sz="2700" spc="48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9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ong  </a:t>
            </a:r>
            <a:r>
              <a:rPr sz="2700" spc="49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all </a:t>
            </a:r>
            <a:endParaRPr sz="2700">
              <a:latin typeface="Georgia"/>
              <a:cs typeface="Georgia"/>
            </a:endParaRPr>
          </a:p>
          <a:p>
            <a:pPr marL="515112" marR="210791" algn="just">
              <a:lnSpc>
                <a:spcPts val="3067"/>
              </a:lnSpc>
              <a:spcBef>
                <a:spcPts val="176"/>
              </a:spcBef>
              <a:tabLst>
                <a:tab pos="596900" algn="l"/>
              </a:tabLst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os</a:t>
            </a:r>
            <a:r>
              <a:rPr sz="2700" spc="-19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ibilities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4" dirty="0">
                <a:latin typeface="Georgia"/>
                <a:cs typeface="Georgia"/>
              </a:rPr>
              <a:t>h</a:t>
            </a:r>
            <a:r>
              <a:rPr sz="2700" spc="0" dirty="0">
                <a:latin typeface="Georgia"/>
                <a:cs typeface="Georgia"/>
              </a:rPr>
              <a:t>at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incu</a:t>
            </a:r>
            <a:r>
              <a:rPr sz="2700" spc="-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min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mum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expenses if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wir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s </a:t>
            </a:r>
            <a:endParaRPr sz="2700">
              <a:latin typeface="Georgia"/>
              <a:cs typeface="Georgia"/>
            </a:endParaRPr>
          </a:p>
          <a:p>
            <a:pPr marL="515112" marR="210791" algn="just">
              <a:lnSpc>
                <a:spcPts val="3067"/>
              </a:lnSpc>
              <a:spcBef>
                <a:spcPts val="174"/>
              </a:spcBef>
              <a:tabLst>
                <a:tab pos="596900" algn="l"/>
              </a:tabLst>
            </a:pPr>
            <a:r>
              <a:rPr sz="2700" spc="0" dirty="0">
                <a:latin typeface="Georgia"/>
                <a:cs typeface="Georgia"/>
              </a:rPr>
              <a:t>are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different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costs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1752" y="2109216"/>
            <a:ext cx="8503920" cy="3409188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104290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(example)</a:t>
            </a:r>
            <a:r>
              <a:rPr sz="3300" spc="25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Graph ‘</a:t>
            </a:r>
            <a:r>
              <a:rPr sz="3300" spc="-9" dirty="0">
                <a:solidFill>
                  <a:srgbClr val="8B438F"/>
                </a:solidFill>
                <a:latin typeface="Georgia"/>
                <a:cs typeface="Georgia"/>
              </a:rPr>
              <a:t>G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’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and 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ts</a:t>
            </a:r>
            <a:r>
              <a:rPr sz="33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MST ‘T’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561590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Kruska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l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’s </a:t>
            </a:r>
            <a:r>
              <a:rPr sz="3300" spc="-14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lgor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thm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553841" indent="-274320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Fi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ds a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minimum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spanning tree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‘T’ for a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connected </a:t>
            </a:r>
            <a:endParaRPr sz="2700">
              <a:latin typeface="Georgia"/>
              <a:cs typeface="Georgia"/>
            </a:endParaRPr>
          </a:p>
          <a:p>
            <a:pPr marL="515112" marR="553841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w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i</a:t>
            </a: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ht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graph ‘G’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E:Set of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l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edges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 G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-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ted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-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der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of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their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weigh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s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Time Comple</a:t>
            </a:r>
            <a:r>
              <a:rPr sz="2700" spc="4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ity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:O</a:t>
            </a:r>
            <a:r>
              <a:rPr sz="2700" spc="-9" dirty="0">
                <a:latin typeface="Georgia"/>
                <a:cs typeface="Georgia"/>
              </a:rPr>
              <a:t>(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log E)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W</a:t>
            </a:r>
            <a:r>
              <a:rPr sz="2700" spc="9" dirty="0">
                <a:latin typeface="Georgia"/>
                <a:cs typeface="Georgia"/>
              </a:rPr>
              <a:t>h</a:t>
            </a:r>
            <a:r>
              <a:rPr sz="2700" spc="0" dirty="0">
                <a:latin typeface="Georgia"/>
                <a:cs typeface="Georgia"/>
              </a:rPr>
              <a:t>ile </a:t>
            </a:r>
            <a:r>
              <a:rPr sz="2700" spc="-4" dirty="0">
                <a:latin typeface="Georgia"/>
                <a:cs typeface="Georgia"/>
              </a:rPr>
              <a:t>(</a:t>
            </a:r>
            <a:r>
              <a:rPr sz="2700" spc="0" dirty="0">
                <a:latin typeface="Georgia"/>
                <a:cs typeface="Georgia"/>
              </a:rPr>
              <a:t>T has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less than ‘n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–</a:t>
            </a:r>
            <a:r>
              <a:rPr sz="2700" spc="0" dirty="0">
                <a:latin typeface="Georgia"/>
                <a:cs typeface="Georgia"/>
              </a:rPr>
              <a:t>1’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edg</a:t>
            </a:r>
            <a:r>
              <a:rPr sz="2700" spc="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s)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&amp;&amp;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 is n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t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0"/>
              </a:spcBef>
            </a:pPr>
            <a:r>
              <a:rPr sz="2700" spc="0" dirty="0">
                <a:latin typeface="Georgia"/>
                <a:cs typeface="Georgia"/>
              </a:rPr>
              <a:t>emp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y</a:t>
            </a:r>
            <a:endParaRPr sz="2700">
              <a:latin typeface="Georgia"/>
              <a:cs typeface="Georgia"/>
            </a:endParaRPr>
          </a:p>
          <a:p>
            <a:pPr marL="582168">
              <a:lnSpc>
                <a:spcPct val="94685"/>
              </a:lnSpc>
              <a:spcBef>
                <a:spcPts val="681"/>
              </a:spcBef>
            </a:pP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1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r>
              <a:rPr sz="22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se</a:t>
            </a:r>
            <a:r>
              <a:rPr sz="2200" spc="-9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2200" spc="50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edge</a:t>
            </a:r>
            <a:r>
              <a:rPr sz="2200" spc="-4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(v,</a:t>
            </a:r>
            <a:r>
              <a:rPr sz="2200" spc="-3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w)</a:t>
            </a:r>
            <a:r>
              <a:rPr sz="2200" spc="-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fr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-4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of</a:t>
            </a:r>
            <a:r>
              <a:rPr sz="2200" spc="-2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lowest</a:t>
            </a:r>
            <a:r>
              <a:rPr sz="2200" spc="-4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cost</a:t>
            </a:r>
            <a:endParaRPr sz="2200">
              <a:latin typeface="Georgia"/>
              <a:cs typeface="Georgia"/>
            </a:endParaRPr>
          </a:p>
          <a:p>
            <a:pPr marL="582168">
              <a:lnSpc>
                <a:spcPct val="94685"/>
              </a:lnSpc>
              <a:spcBef>
                <a:spcPts val="668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2.</a:t>
            </a:r>
            <a:r>
              <a:rPr sz="2200" spc="-1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ete</a:t>
            </a:r>
            <a:r>
              <a:rPr sz="2200" spc="-5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v,w)</a:t>
            </a:r>
            <a:r>
              <a:rPr sz="2200" spc="-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-4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endParaRPr sz="2200">
              <a:latin typeface="Georgia"/>
              <a:cs typeface="Georgia"/>
            </a:endParaRPr>
          </a:p>
          <a:p>
            <a:pPr marL="582168">
              <a:lnSpc>
                <a:spcPct val="94685"/>
              </a:lnSpc>
              <a:spcBef>
                <a:spcPts val="668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3.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Add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(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v,</a:t>
            </a:r>
            <a:r>
              <a:rPr sz="2200" spc="-6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w)to</a:t>
            </a:r>
            <a:r>
              <a:rPr sz="2200" spc="-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T,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-1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it doe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’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-1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create</a:t>
            </a:r>
            <a:r>
              <a:rPr sz="22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 cycle</a:t>
            </a:r>
            <a:endParaRPr sz="2200">
              <a:latin typeface="Georgia"/>
              <a:cs typeface="Georgia"/>
            </a:endParaRPr>
          </a:p>
          <a:p>
            <a:pPr marL="582168">
              <a:lnSpc>
                <a:spcPct val="94685"/>
              </a:lnSpc>
              <a:spcBef>
                <a:spcPts val="670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4.</a:t>
            </a:r>
            <a:r>
              <a:rPr sz="2200" spc="-1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Else</a:t>
            </a:r>
            <a:r>
              <a:rPr sz="2200" spc="-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discard(v,</a:t>
            </a:r>
            <a:r>
              <a:rPr sz="2200" spc="-9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w)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/>
          <p:nvPr/>
        </p:nvSpPr>
        <p:spPr>
          <a:xfrm>
            <a:off x="3581400" y="3124200"/>
            <a:ext cx="1219200" cy="457200"/>
          </a:xfrm>
          <a:custGeom>
            <a:avLst/>
            <a:gdLst/>
            <a:ahLst/>
            <a:cxnLst/>
            <a:rect l="l" t="t" r="r" b="b"/>
            <a:pathLst>
              <a:path w="1219200" h="457200">
                <a:moveTo>
                  <a:pt x="0" y="0"/>
                </a:moveTo>
                <a:lnTo>
                  <a:pt x="1219200" y="4572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90800" y="1354836"/>
            <a:ext cx="914400" cy="1752600"/>
          </a:xfrm>
          <a:custGeom>
            <a:avLst/>
            <a:gdLst/>
            <a:ahLst/>
            <a:cxnLst/>
            <a:rect l="l" t="t" r="r" b="b"/>
            <a:pathLst>
              <a:path w="914400" h="1752600">
                <a:moveTo>
                  <a:pt x="0" y="0"/>
                </a:moveTo>
                <a:lnTo>
                  <a:pt x="914400" y="1752600"/>
                </a:lnTo>
              </a:path>
            </a:pathLst>
          </a:custGeom>
          <a:ln w="9144">
            <a:solidFill>
              <a:srgbClr val="99C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52600" y="3717036"/>
            <a:ext cx="1066800" cy="1600200"/>
          </a:xfrm>
          <a:custGeom>
            <a:avLst/>
            <a:gdLst/>
            <a:ahLst/>
            <a:cxnLst/>
            <a:rect l="l" t="t" r="r" b="b"/>
            <a:pathLst>
              <a:path w="1066800" h="1600200">
                <a:moveTo>
                  <a:pt x="0" y="0"/>
                </a:moveTo>
                <a:lnTo>
                  <a:pt x="1066800" y="1600200"/>
                </a:lnTo>
              </a:path>
            </a:pathLst>
          </a:custGeom>
          <a:ln w="9144">
            <a:solidFill>
              <a:srgbClr val="99C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19400" y="3107436"/>
            <a:ext cx="685800" cy="1981200"/>
          </a:xfrm>
          <a:custGeom>
            <a:avLst/>
            <a:gdLst/>
            <a:ahLst/>
            <a:cxnLst/>
            <a:rect l="l" t="t" r="r" b="b"/>
            <a:pathLst>
              <a:path w="685800" h="1981200">
                <a:moveTo>
                  <a:pt x="685800" y="0"/>
                </a:moveTo>
                <a:lnTo>
                  <a:pt x="0" y="1981200"/>
                </a:lnTo>
              </a:path>
            </a:pathLst>
          </a:custGeom>
          <a:ln w="9144">
            <a:solidFill>
              <a:srgbClr val="99C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667000" y="1354836"/>
            <a:ext cx="3962400" cy="1981200"/>
          </a:xfrm>
          <a:custGeom>
            <a:avLst/>
            <a:gdLst/>
            <a:ahLst/>
            <a:cxnLst/>
            <a:rect l="l" t="t" r="r" b="b"/>
            <a:pathLst>
              <a:path w="3962400" h="1981200">
                <a:moveTo>
                  <a:pt x="0" y="0"/>
                </a:moveTo>
                <a:lnTo>
                  <a:pt x="3962400" y="1981200"/>
                </a:lnTo>
              </a:path>
            </a:pathLst>
          </a:custGeom>
          <a:ln w="9144">
            <a:solidFill>
              <a:srgbClr val="99C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76800" y="3640836"/>
            <a:ext cx="2057400" cy="1447800"/>
          </a:xfrm>
          <a:custGeom>
            <a:avLst/>
            <a:gdLst/>
            <a:ahLst/>
            <a:cxnLst/>
            <a:rect l="l" t="t" r="r" b="b"/>
            <a:pathLst>
              <a:path w="2057400" h="1447800">
                <a:moveTo>
                  <a:pt x="0" y="0"/>
                </a:moveTo>
                <a:lnTo>
                  <a:pt x="2057400" y="14478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29400" y="3336036"/>
            <a:ext cx="304800" cy="1828800"/>
          </a:xfrm>
          <a:custGeom>
            <a:avLst/>
            <a:gdLst/>
            <a:ahLst/>
            <a:cxnLst/>
            <a:rect l="l" t="t" r="r" b="b"/>
            <a:pathLst>
              <a:path w="304800" h="1828800">
                <a:moveTo>
                  <a:pt x="0" y="0"/>
                </a:moveTo>
                <a:lnTo>
                  <a:pt x="304800" y="1828800"/>
                </a:lnTo>
              </a:path>
            </a:pathLst>
          </a:custGeom>
          <a:ln w="9144">
            <a:solidFill>
              <a:srgbClr val="99C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38600" y="4876800"/>
            <a:ext cx="2286000" cy="345948"/>
          </a:xfrm>
          <a:custGeom>
            <a:avLst/>
            <a:gdLst/>
            <a:ahLst/>
            <a:cxnLst/>
            <a:rect l="l" t="t" r="r" b="b"/>
            <a:pathLst>
              <a:path w="2286000" h="345948">
                <a:moveTo>
                  <a:pt x="0" y="345948"/>
                </a:moveTo>
                <a:lnTo>
                  <a:pt x="2286000" y="345948"/>
                </a:lnTo>
                <a:lnTo>
                  <a:pt x="22860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ln w="9144">
            <a:solidFill>
              <a:srgbClr val="CCF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05400" y="3336036"/>
            <a:ext cx="1295400" cy="228600"/>
          </a:xfrm>
          <a:custGeom>
            <a:avLst/>
            <a:gdLst/>
            <a:ahLst/>
            <a:cxnLst/>
            <a:rect l="l" t="t" r="r" b="b"/>
            <a:pathLst>
              <a:path w="1295400" h="228600">
                <a:moveTo>
                  <a:pt x="0" y="228600"/>
                </a:moveTo>
                <a:lnTo>
                  <a:pt x="12954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00800" y="1812036"/>
            <a:ext cx="152400" cy="1219200"/>
          </a:xfrm>
          <a:custGeom>
            <a:avLst/>
            <a:gdLst/>
            <a:ahLst/>
            <a:cxnLst/>
            <a:rect l="l" t="t" r="r" b="b"/>
            <a:pathLst>
              <a:path w="152400" h="1219200">
                <a:moveTo>
                  <a:pt x="0" y="0"/>
                </a:moveTo>
                <a:lnTo>
                  <a:pt x="152400" y="12192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19600" y="745236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0" y="0"/>
                </a:moveTo>
                <a:lnTo>
                  <a:pt x="1676400" y="6858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95600" y="821436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1066800" y="0"/>
                </a:moveTo>
                <a:lnTo>
                  <a:pt x="0" y="4572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8800" y="3107436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1524000" y="0"/>
                </a:moveTo>
                <a:lnTo>
                  <a:pt x="0" y="5334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572000" y="3793236"/>
            <a:ext cx="228600" cy="990600"/>
          </a:xfrm>
          <a:custGeom>
            <a:avLst/>
            <a:gdLst/>
            <a:ahLst/>
            <a:cxnLst/>
            <a:rect l="l" t="t" r="r" b="b"/>
            <a:pathLst>
              <a:path w="228600" h="990600">
                <a:moveTo>
                  <a:pt x="228600" y="0"/>
                </a:moveTo>
                <a:lnTo>
                  <a:pt x="0" y="990600"/>
                </a:lnTo>
              </a:path>
            </a:pathLst>
          </a:custGeom>
          <a:ln w="9144">
            <a:solidFill>
              <a:srgbClr val="99C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24200" y="5088636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48200" y="51648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45720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62600" y="5012436"/>
            <a:ext cx="1295400" cy="685800"/>
          </a:xfrm>
          <a:custGeom>
            <a:avLst/>
            <a:gdLst/>
            <a:ahLst/>
            <a:cxnLst/>
            <a:rect l="l" t="t" r="r" b="b"/>
            <a:pathLst>
              <a:path w="1295400" h="685800">
                <a:moveTo>
                  <a:pt x="0" y="685800"/>
                </a:moveTo>
                <a:lnTo>
                  <a:pt x="12954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62200" y="1050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4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5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62200" y="1050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5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4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962400" y="516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4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962400" y="516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4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276600" y="2802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76600" y="2802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590800" y="4860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4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4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5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590800" y="4860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5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4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4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572000" y="3336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72000" y="33360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91000" y="4783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4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91000" y="4783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4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19800" y="1354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019800" y="1354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24600" y="30312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324600" y="30312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29200" y="5469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3"/>
                </a:lnTo>
                <a:lnTo>
                  <a:pt x="3489" y="309960"/>
                </a:lnTo>
                <a:lnTo>
                  <a:pt x="7749" y="330791"/>
                </a:lnTo>
                <a:lnTo>
                  <a:pt x="13594" y="350997"/>
                </a:lnTo>
                <a:lnTo>
                  <a:pt x="20955" y="370511"/>
                </a:lnTo>
                <a:lnTo>
                  <a:pt x="29763" y="389264"/>
                </a:lnTo>
                <a:lnTo>
                  <a:pt x="39951" y="407186"/>
                </a:lnTo>
                <a:lnTo>
                  <a:pt x="51450" y="424209"/>
                </a:lnTo>
                <a:lnTo>
                  <a:pt x="64190" y="440265"/>
                </a:lnTo>
                <a:lnTo>
                  <a:pt x="78104" y="455285"/>
                </a:lnTo>
                <a:lnTo>
                  <a:pt x="93124" y="469200"/>
                </a:lnTo>
                <a:lnTo>
                  <a:pt x="109179" y="481942"/>
                </a:lnTo>
                <a:lnTo>
                  <a:pt x="126202" y="493442"/>
                </a:lnTo>
                <a:lnTo>
                  <a:pt x="144124" y="503631"/>
                </a:lnTo>
                <a:lnTo>
                  <a:pt x="162877" y="512441"/>
                </a:lnTo>
                <a:lnTo>
                  <a:pt x="182392" y="519803"/>
                </a:lnTo>
                <a:lnTo>
                  <a:pt x="202600" y="525649"/>
                </a:lnTo>
                <a:lnTo>
                  <a:pt x="223433" y="529909"/>
                </a:lnTo>
                <a:lnTo>
                  <a:pt x="244822" y="532515"/>
                </a:lnTo>
                <a:lnTo>
                  <a:pt x="266700" y="533400"/>
                </a:lnTo>
                <a:lnTo>
                  <a:pt x="288577" y="532515"/>
                </a:lnTo>
                <a:lnTo>
                  <a:pt x="309966" y="529909"/>
                </a:lnTo>
                <a:lnTo>
                  <a:pt x="330799" y="525649"/>
                </a:lnTo>
                <a:lnTo>
                  <a:pt x="351007" y="519803"/>
                </a:lnTo>
                <a:lnTo>
                  <a:pt x="370522" y="512441"/>
                </a:lnTo>
                <a:lnTo>
                  <a:pt x="389275" y="503631"/>
                </a:lnTo>
                <a:lnTo>
                  <a:pt x="407197" y="493442"/>
                </a:lnTo>
                <a:lnTo>
                  <a:pt x="424220" y="481942"/>
                </a:lnTo>
                <a:lnTo>
                  <a:pt x="440275" y="469200"/>
                </a:lnTo>
                <a:lnTo>
                  <a:pt x="455294" y="455285"/>
                </a:lnTo>
                <a:lnTo>
                  <a:pt x="469209" y="440265"/>
                </a:lnTo>
                <a:lnTo>
                  <a:pt x="481949" y="424209"/>
                </a:lnTo>
                <a:lnTo>
                  <a:pt x="493448" y="407186"/>
                </a:lnTo>
                <a:lnTo>
                  <a:pt x="503636" y="389264"/>
                </a:lnTo>
                <a:lnTo>
                  <a:pt x="512445" y="370511"/>
                </a:lnTo>
                <a:lnTo>
                  <a:pt x="519805" y="350997"/>
                </a:lnTo>
                <a:lnTo>
                  <a:pt x="525650" y="330791"/>
                </a:lnTo>
                <a:lnTo>
                  <a:pt x="529910" y="309960"/>
                </a:lnTo>
                <a:lnTo>
                  <a:pt x="532516" y="288573"/>
                </a:lnTo>
                <a:lnTo>
                  <a:pt x="533400" y="266700"/>
                </a:lnTo>
                <a:lnTo>
                  <a:pt x="532516" y="244826"/>
                </a:lnTo>
                <a:lnTo>
                  <a:pt x="529910" y="223439"/>
                </a:lnTo>
                <a:lnTo>
                  <a:pt x="525650" y="202608"/>
                </a:lnTo>
                <a:lnTo>
                  <a:pt x="519805" y="182402"/>
                </a:lnTo>
                <a:lnTo>
                  <a:pt x="512445" y="162888"/>
                </a:lnTo>
                <a:lnTo>
                  <a:pt x="503636" y="144135"/>
                </a:lnTo>
                <a:lnTo>
                  <a:pt x="493448" y="126213"/>
                </a:lnTo>
                <a:lnTo>
                  <a:pt x="481949" y="109190"/>
                </a:lnTo>
                <a:lnTo>
                  <a:pt x="469209" y="93134"/>
                </a:lnTo>
                <a:lnTo>
                  <a:pt x="455294" y="78114"/>
                </a:lnTo>
                <a:lnTo>
                  <a:pt x="440275" y="64199"/>
                </a:lnTo>
                <a:lnTo>
                  <a:pt x="424220" y="51457"/>
                </a:lnTo>
                <a:lnTo>
                  <a:pt x="407197" y="39957"/>
                </a:lnTo>
                <a:lnTo>
                  <a:pt x="389275" y="29768"/>
                </a:lnTo>
                <a:lnTo>
                  <a:pt x="370522" y="20958"/>
                </a:lnTo>
                <a:lnTo>
                  <a:pt x="351007" y="13596"/>
                </a:lnTo>
                <a:lnTo>
                  <a:pt x="330799" y="7750"/>
                </a:lnTo>
                <a:lnTo>
                  <a:pt x="309966" y="3490"/>
                </a:lnTo>
                <a:lnTo>
                  <a:pt x="288577" y="884"/>
                </a:lnTo>
                <a:lnTo>
                  <a:pt x="266700" y="0"/>
                </a:lnTo>
                <a:lnTo>
                  <a:pt x="244822" y="884"/>
                </a:lnTo>
                <a:lnTo>
                  <a:pt x="223433" y="3490"/>
                </a:lnTo>
                <a:lnTo>
                  <a:pt x="202600" y="7750"/>
                </a:lnTo>
                <a:lnTo>
                  <a:pt x="182392" y="13596"/>
                </a:lnTo>
                <a:lnTo>
                  <a:pt x="162877" y="20958"/>
                </a:lnTo>
                <a:lnTo>
                  <a:pt x="144124" y="29768"/>
                </a:lnTo>
                <a:lnTo>
                  <a:pt x="126202" y="39957"/>
                </a:lnTo>
                <a:lnTo>
                  <a:pt x="109179" y="51457"/>
                </a:lnTo>
                <a:lnTo>
                  <a:pt x="93124" y="64199"/>
                </a:lnTo>
                <a:lnTo>
                  <a:pt x="78104" y="78114"/>
                </a:lnTo>
                <a:lnTo>
                  <a:pt x="64190" y="93134"/>
                </a:lnTo>
                <a:lnTo>
                  <a:pt x="51450" y="109190"/>
                </a:lnTo>
                <a:lnTo>
                  <a:pt x="39951" y="126213"/>
                </a:lnTo>
                <a:lnTo>
                  <a:pt x="29763" y="144135"/>
                </a:lnTo>
                <a:lnTo>
                  <a:pt x="20954" y="162888"/>
                </a:lnTo>
                <a:lnTo>
                  <a:pt x="13594" y="182402"/>
                </a:lnTo>
                <a:lnTo>
                  <a:pt x="7749" y="202608"/>
                </a:lnTo>
                <a:lnTo>
                  <a:pt x="3489" y="223439"/>
                </a:lnTo>
                <a:lnTo>
                  <a:pt x="883" y="244826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029200" y="54696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6"/>
                </a:lnTo>
                <a:lnTo>
                  <a:pt x="3489" y="223439"/>
                </a:lnTo>
                <a:lnTo>
                  <a:pt x="7749" y="202608"/>
                </a:lnTo>
                <a:lnTo>
                  <a:pt x="13594" y="182402"/>
                </a:lnTo>
                <a:lnTo>
                  <a:pt x="20954" y="162888"/>
                </a:lnTo>
                <a:lnTo>
                  <a:pt x="29763" y="144135"/>
                </a:lnTo>
                <a:lnTo>
                  <a:pt x="39951" y="126213"/>
                </a:lnTo>
                <a:lnTo>
                  <a:pt x="51450" y="109190"/>
                </a:lnTo>
                <a:lnTo>
                  <a:pt x="64190" y="93134"/>
                </a:lnTo>
                <a:lnTo>
                  <a:pt x="78104" y="78114"/>
                </a:lnTo>
                <a:lnTo>
                  <a:pt x="93124" y="64199"/>
                </a:lnTo>
                <a:lnTo>
                  <a:pt x="109179" y="51457"/>
                </a:lnTo>
                <a:lnTo>
                  <a:pt x="126202" y="39957"/>
                </a:lnTo>
                <a:lnTo>
                  <a:pt x="144124" y="29768"/>
                </a:lnTo>
                <a:lnTo>
                  <a:pt x="162877" y="20958"/>
                </a:lnTo>
                <a:lnTo>
                  <a:pt x="182392" y="13596"/>
                </a:lnTo>
                <a:lnTo>
                  <a:pt x="202600" y="7750"/>
                </a:lnTo>
                <a:lnTo>
                  <a:pt x="223433" y="3490"/>
                </a:lnTo>
                <a:lnTo>
                  <a:pt x="244822" y="884"/>
                </a:lnTo>
                <a:lnTo>
                  <a:pt x="266700" y="0"/>
                </a:lnTo>
                <a:lnTo>
                  <a:pt x="288577" y="884"/>
                </a:lnTo>
                <a:lnTo>
                  <a:pt x="309966" y="3490"/>
                </a:lnTo>
                <a:lnTo>
                  <a:pt x="330799" y="7750"/>
                </a:lnTo>
                <a:lnTo>
                  <a:pt x="351007" y="13596"/>
                </a:lnTo>
                <a:lnTo>
                  <a:pt x="370522" y="20958"/>
                </a:lnTo>
                <a:lnTo>
                  <a:pt x="389275" y="29768"/>
                </a:lnTo>
                <a:lnTo>
                  <a:pt x="407197" y="39957"/>
                </a:lnTo>
                <a:lnTo>
                  <a:pt x="424220" y="51457"/>
                </a:lnTo>
                <a:lnTo>
                  <a:pt x="440275" y="64199"/>
                </a:lnTo>
                <a:lnTo>
                  <a:pt x="455294" y="78114"/>
                </a:lnTo>
                <a:lnTo>
                  <a:pt x="469209" y="93134"/>
                </a:lnTo>
                <a:lnTo>
                  <a:pt x="481949" y="109190"/>
                </a:lnTo>
                <a:lnTo>
                  <a:pt x="493448" y="126213"/>
                </a:lnTo>
                <a:lnTo>
                  <a:pt x="503636" y="144135"/>
                </a:lnTo>
                <a:lnTo>
                  <a:pt x="512445" y="162888"/>
                </a:lnTo>
                <a:lnTo>
                  <a:pt x="519805" y="182402"/>
                </a:lnTo>
                <a:lnTo>
                  <a:pt x="525650" y="202608"/>
                </a:lnTo>
                <a:lnTo>
                  <a:pt x="529910" y="223439"/>
                </a:lnTo>
                <a:lnTo>
                  <a:pt x="532516" y="244826"/>
                </a:lnTo>
                <a:lnTo>
                  <a:pt x="533400" y="266700"/>
                </a:lnTo>
                <a:lnTo>
                  <a:pt x="532516" y="288573"/>
                </a:lnTo>
                <a:lnTo>
                  <a:pt x="529910" y="309960"/>
                </a:lnTo>
                <a:lnTo>
                  <a:pt x="525650" y="330791"/>
                </a:lnTo>
                <a:lnTo>
                  <a:pt x="519805" y="350997"/>
                </a:lnTo>
                <a:lnTo>
                  <a:pt x="512445" y="370511"/>
                </a:lnTo>
                <a:lnTo>
                  <a:pt x="503636" y="389264"/>
                </a:lnTo>
                <a:lnTo>
                  <a:pt x="493448" y="407186"/>
                </a:lnTo>
                <a:lnTo>
                  <a:pt x="481949" y="424209"/>
                </a:lnTo>
                <a:lnTo>
                  <a:pt x="469209" y="440265"/>
                </a:lnTo>
                <a:lnTo>
                  <a:pt x="455294" y="455285"/>
                </a:lnTo>
                <a:lnTo>
                  <a:pt x="440275" y="469200"/>
                </a:lnTo>
                <a:lnTo>
                  <a:pt x="424220" y="481942"/>
                </a:lnTo>
                <a:lnTo>
                  <a:pt x="407197" y="493442"/>
                </a:lnTo>
                <a:lnTo>
                  <a:pt x="389275" y="503631"/>
                </a:lnTo>
                <a:lnTo>
                  <a:pt x="370522" y="512441"/>
                </a:lnTo>
                <a:lnTo>
                  <a:pt x="351007" y="519803"/>
                </a:lnTo>
                <a:lnTo>
                  <a:pt x="330799" y="525649"/>
                </a:lnTo>
                <a:lnTo>
                  <a:pt x="309966" y="529909"/>
                </a:lnTo>
                <a:lnTo>
                  <a:pt x="288577" y="532515"/>
                </a:lnTo>
                <a:lnTo>
                  <a:pt x="266700" y="533400"/>
                </a:lnTo>
                <a:lnTo>
                  <a:pt x="244822" y="532515"/>
                </a:lnTo>
                <a:lnTo>
                  <a:pt x="223433" y="529909"/>
                </a:lnTo>
                <a:lnTo>
                  <a:pt x="202600" y="525649"/>
                </a:lnTo>
                <a:lnTo>
                  <a:pt x="182392" y="519803"/>
                </a:lnTo>
                <a:lnTo>
                  <a:pt x="162877" y="512441"/>
                </a:lnTo>
                <a:lnTo>
                  <a:pt x="144124" y="503631"/>
                </a:lnTo>
                <a:lnTo>
                  <a:pt x="126202" y="493442"/>
                </a:lnTo>
                <a:lnTo>
                  <a:pt x="109179" y="481942"/>
                </a:lnTo>
                <a:lnTo>
                  <a:pt x="93124" y="469200"/>
                </a:lnTo>
                <a:lnTo>
                  <a:pt x="78104" y="455285"/>
                </a:lnTo>
                <a:lnTo>
                  <a:pt x="64190" y="440265"/>
                </a:lnTo>
                <a:lnTo>
                  <a:pt x="51450" y="424209"/>
                </a:lnTo>
                <a:lnTo>
                  <a:pt x="39951" y="407186"/>
                </a:lnTo>
                <a:lnTo>
                  <a:pt x="29763" y="389264"/>
                </a:lnTo>
                <a:lnTo>
                  <a:pt x="20955" y="370511"/>
                </a:lnTo>
                <a:lnTo>
                  <a:pt x="13594" y="350997"/>
                </a:lnTo>
                <a:lnTo>
                  <a:pt x="7749" y="330791"/>
                </a:lnTo>
                <a:lnTo>
                  <a:pt x="3489" y="309960"/>
                </a:lnTo>
                <a:lnTo>
                  <a:pt x="883" y="288573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629400" y="4783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4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5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4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629400" y="47838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4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5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4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371600" y="34122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88577"/>
                </a:lnTo>
                <a:lnTo>
                  <a:pt x="3489" y="309966"/>
                </a:lnTo>
                <a:lnTo>
                  <a:pt x="7749" y="330799"/>
                </a:lnTo>
                <a:lnTo>
                  <a:pt x="13594" y="351007"/>
                </a:lnTo>
                <a:lnTo>
                  <a:pt x="20955" y="370522"/>
                </a:lnTo>
                <a:lnTo>
                  <a:pt x="29763" y="389275"/>
                </a:lnTo>
                <a:lnTo>
                  <a:pt x="39951" y="407197"/>
                </a:lnTo>
                <a:lnTo>
                  <a:pt x="51450" y="424220"/>
                </a:lnTo>
                <a:lnTo>
                  <a:pt x="64190" y="440275"/>
                </a:lnTo>
                <a:lnTo>
                  <a:pt x="78104" y="455295"/>
                </a:lnTo>
                <a:lnTo>
                  <a:pt x="93124" y="469209"/>
                </a:lnTo>
                <a:lnTo>
                  <a:pt x="109179" y="481949"/>
                </a:lnTo>
                <a:lnTo>
                  <a:pt x="126202" y="493448"/>
                </a:lnTo>
                <a:lnTo>
                  <a:pt x="144124" y="503636"/>
                </a:lnTo>
                <a:lnTo>
                  <a:pt x="162877" y="512445"/>
                </a:lnTo>
                <a:lnTo>
                  <a:pt x="182392" y="519805"/>
                </a:lnTo>
                <a:lnTo>
                  <a:pt x="202600" y="525650"/>
                </a:lnTo>
                <a:lnTo>
                  <a:pt x="223433" y="529910"/>
                </a:lnTo>
                <a:lnTo>
                  <a:pt x="244822" y="532516"/>
                </a:lnTo>
                <a:lnTo>
                  <a:pt x="266700" y="533400"/>
                </a:lnTo>
                <a:lnTo>
                  <a:pt x="288577" y="532516"/>
                </a:lnTo>
                <a:lnTo>
                  <a:pt x="309966" y="529910"/>
                </a:lnTo>
                <a:lnTo>
                  <a:pt x="330799" y="525650"/>
                </a:lnTo>
                <a:lnTo>
                  <a:pt x="351007" y="519805"/>
                </a:lnTo>
                <a:lnTo>
                  <a:pt x="370522" y="512444"/>
                </a:lnTo>
                <a:lnTo>
                  <a:pt x="389275" y="503636"/>
                </a:lnTo>
                <a:lnTo>
                  <a:pt x="407197" y="493448"/>
                </a:lnTo>
                <a:lnTo>
                  <a:pt x="424220" y="481949"/>
                </a:lnTo>
                <a:lnTo>
                  <a:pt x="440275" y="469209"/>
                </a:lnTo>
                <a:lnTo>
                  <a:pt x="455294" y="455295"/>
                </a:lnTo>
                <a:lnTo>
                  <a:pt x="469209" y="440275"/>
                </a:lnTo>
                <a:lnTo>
                  <a:pt x="481949" y="424220"/>
                </a:lnTo>
                <a:lnTo>
                  <a:pt x="493448" y="407197"/>
                </a:lnTo>
                <a:lnTo>
                  <a:pt x="503636" y="389275"/>
                </a:lnTo>
                <a:lnTo>
                  <a:pt x="512444" y="370522"/>
                </a:lnTo>
                <a:lnTo>
                  <a:pt x="519805" y="351007"/>
                </a:lnTo>
                <a:lnTo>
                  <a:pt x="525650" y="330799"/>
                </a:lnTo>
                <a:lnTo>
                  <a:pt x="529910" y="309966"/>
                </a:lnTo>
                <a:lnTo>
                  <a:pt x="532516" y="288577"/>
                </a:lnTo>
                <a:lnTo>
                  <a:pt x="533400" y="266700"/>
                </a:lnTo>
                <a:lnTo>
                  <a:pt x="532516" y="244822"/>
                </a:lnTo>
                <a:lnTo>
                  <a:pt x="529910" y="223433"/>
                </a:lnTo>
                <a:lnTo>
                  <a:pt x="525650" y="202600"/>
                </a:lnTo>
                <a:lnTo>
                  <a:pt x="519805" y="182392"/>
                </a:lnTo>
                <a:lnTo>
                  <a:pt x="512445" y="162877"/>
                </a:lnTo>
                <a:lnTo>
                  <a:pt x="503636" y="144124"/>
                </a:lnTo>
                <a:lnTo>
                  <a:pt x="493448" y="126202"/>
                </a:lnTo>
                <a:lnTo>
                  <a:pt x="481949" y="109179"/>
                </a:lnTo>
                <a:lnTo>
                  <a:pt x="469209" y="93124"/>
                </a:lnTo>
                <a:lnTo>
                  <a:pt x="455294" y="78105"/>
                </a:lnTo>
                <a:lnTo>
                  <a:pt x="440275" y="64190"/>
                </a:lnTo>
                <a:lnTo>
                  <a:pt x="424220" y="51450"/>
                </a:lnTo>
                <a:lnTo>
                  <a:pt x="407197" y="39951"/>
                </a:lnTo>
                <a:lnTo>
                  <a:pt x="389275" y="29763"/>
                </a:lnTo>
                <a:lnTo>
                  <a:pt x="370522" y="20955"/>
                </a:lnTo>
                <a:lnTo>
                  <a:pt x="351007" y="13594"/>
                </a:lnTo>
                <a:lnTo>
                  <a:pt x="330799" y="7749"/>
                </a:lnTo>
                <a:lnTo>
                  <a:pt x="309966" y="3489"/>
                </a:lnTo>
                <a:lnTo>
                  <a:pt x="288577" y="883"/>
                </a:lnTo>
                <a:lnTo>
                  <a:pt x="266700" y="0"/>
                </a:lnTo>
                <a:lnTo>
                  <a:pt x="244822" y="883"/>
                </a:lnTo>
                <a:lnTo>
                  <a:pt x="223433" y="3489"/>
                </a:lnTo>
                <a:lnTo>
                  <a:pt x="202600" y="7749"/>
                </a:lnTo>
                <a:lnTo>
                  <a:pt x="182392" y="13594"/>
                </a:lnTo>
                <a:lnTo>
                  <a:pt x="162877" y="20954"/>
                </a:lnTo>
                <a:lnTo>
                  <a:pt x="144124" y="29763"/>
                </a:lnTo>
                <a:lnTo>
                  <a:pt x="126202" y="39951"/>
                </a:lnTo>
                <a:lnTo>
                  <a:pt x="109179" y="51450"/>
                </a:lnTo>
                <a:lnTo>
                  <a:pt x="93124" y="64190"/>
                </a:lnTo>
                <a:lnTo>
                  <a:pt x="78104" y="78105"/>
                </a:lnTo>
                <a:lnTo>
                  <a:pt x="64190" y="93124"/>
                </a:lnTo>
                <a:lnTo>
                  <a:pt x="51450" y="109179"/>
                </a:lnTo>
                <a:lnTo>
                  <a:pt x="39951" y="126202"/>
                </a:lnTo>
                <a:lnTo>
                  <a:pt x="29763" y="144124"/>
                </a:lnTo>
                <a:lnTo>
                  <a:pt x="20955" y="162877"/>
                </a:lnTo>
                <a:lnTo>
                  <a:pt x="13594" y="182392"/>
                </a:lnTo>
                <a:lnTo>
                  <a:pt x="7749" y="202600"/>
                </a:lnTo>
                <a:lnTo>
                  <a:pt x="3489" y="223433"/>
                </a:lnTo>
                <a:lnTo>
                  <a:pt x="883" y="244822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371600" y="34122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883" y="244822"/>
                </a:lnTo>
                <a:lnTo>
                  <a:pt x="3489" y="223433"/>
                </a:lnTo>
                <a:lnTo>
                  <a:pt x="7749" y="202600"/>
                </a:lnTo>
                <a:lnTo>
                  <a:pt x="13594" y="182392"/>
                </a:lnTo>
                <a:lnTo>
                  <a:pt x="20955" y="162877"/>
                </a:lnTo>
                <a:lnTo>
                  <a:pt x="29763" y="144124"/>
                </a:lnTo>
                <a:lnTo>
                  <a:pt x="39951" y="126202"/>
                </a:lnTo>
                <a:lnTo>
                  <a:pt x="51450" y="109179"/>
                </a:lnTo>
                <a:lnTo>
                  <a:pt x="64190" y="93124"/>
                </a:lnTo>
                <a:lnTo>
                  <a:pt x="78104" y="78105"/>
                </a:lnTo>
                <a:lnTo>
                  <a:pt x="93124" y="64190"/>
                </a:lnTo>
                <a:lnTo>
                  <a:pt x="109179" y="51450"/>
                </a:lnTo>
                <a:lnTo>
                  <a:pt x="126202" y="39951"/>
                </a:lnTo>
                <a:lnTo>
                  <a:pt x="144124" y="29763"/>
                </a:lnTo>
                <a:lnTo>
                  <a:pt x="162877" y="20954"/>
                </a:lnTo>
                <a:lnTo>
                  <a:pt x="182392" y="13594"/>
                </a:lnTo>
                <a:lnTo>
                  <a:pt x="202600" y="7749"/>
                </a:lnTo>
                <a:lnTo>
                  <a:pt x="223433" y="3489"/>
                </a:lnTo>
                <a:lnTo>
                  <a:pt x="244822" y="883"/>
                </a:lnTo>
                <a:lnTo>
                  <a:pt x="266700" y="0"/>
                </a:lnTo>
                <a:lnTo>
                  <a:pt x="288577" y="883"/>
                </a:lnTo>
                <a:lnTo>
                  <a:pt x="309966" y="3489"/>
                </a:lnTo>
                <a:lnTo>
                  <a:pt x="330799" y="7749"/>
                </a:lnTo>
                <a:lnTo>
                  <a:pt x="351007" y="13594"/>
                </a:lnTo>
                <a:lnTo>
                  <a:pt x="370522" y="20955"/>
                </a:lnTo>
                <a:lnTo>
                  <a:pt x="389275" y="29763"/>
                </a:lnTo>
                <a:lnTo>
                  <a:pt x="407197" y="39951"/>
                </a:lnTo>
                <a:lnTo>
                  <a:pt x="424220" y="51450"/>
                </a:lnTo>
                <a:lnTo>
                  <a:pt x="440275" y="64190"/>
                </a:lnTo>
                <a:lnTo>
                  <a:pt x="455294" y="78105"/>
                </a:lnTo>
                <a:lnTo>
                  <a:pt x="469209" y="93124"/>
                </a:lnTo>
                <a:lnTo>
                  <a:pt x="481949" y="109179"/>
                </a:lnTo>
                <a:lnTo>
                  <a:pt x="493448" y="126202"/>
                </a:lnTo>
                <a:lnTo>
                  <a:pt x="503636" y="144124"/>
                </a:lnTo>
                <a:lnTo>
                  <a:pt x="512445" y="162877"/>
                </a:lnTo>
                <a:lnTo>
                  <a:pt x="519805" y="182392"/>
                </a:lnTo>
                <a:lnTo>
                  <a:pt x="525650" y="202600"/>
                </a:lnTo>
                <a:lnTo>
                  <a:pt x="529910" y="223433"/>
                </a:lnTo>
                <a:lnTo>
                  <a:pt x="532516" y="244822"/>
                </a:lnTo>
                <a:lnTo>
                  <a:pt x="533400" y="266700"/>
                </a:lnTo>
                <a:lnTo>
                  <a:pt x="532516" y="288577"/>
                </a:lnTo>
                <a:lnTo>
                  <a:pt x="529910" y="309966"/>
                </a:lnTo>
                <a:lnTo>
                  <a:pt x="525650" y="330799"/>
                </a:lnTo>
                <a:lnTo>
                  <a:pt x="519805" y="351007"/>
                </a:lnTo>
                <a:lnTo>
                  <a:pt x="512444" y="370522"/>
                </a:lnTo>
                <a:lnTo>
                  <a:pt x="503636" y="389275"/>
                </a:lnTo>
                <a:lnTo>
                  <a:pt x="493448" y="407197"/>
                </a:lnTo>
                <a:lnTo>
                  <a:pt x="481949" y="424220"/>
                </a:lnTo>
                <a:lnTo>
                  <a:pt x="469209" y="440275"/>
                </a:lnTo>
                <a:lnTo>
                  <a:pt x="455294" y="455295"/>
                </a:lnTo>
                <a:lnTo>
                  <a:pt x="440275" y="469209"/>
                </a:lnTo>
                <a:lnTo>
                  <a:pt x="424220" y="481949"/>
                </a:lnTo>
                <a:lnTo>
                  <a:pt x="407197" y="493448"/>
                </a:lnTo>
                <a:lnTo>
                  <a:pt x="389275" y="503636"/>
                </a:lnTo>
                <a:lnTo>
                  <a:pt x="370522" y="512444"/>
                </a:lnTo>
                <a:lnTo>
                  <a:pt x="351007" y="519805"/>
                </a:lnTo>
                <a:lnTo>
                  <a:pt x="330799" y="525650"/>
                </a:lnTo>
                <a:lnTo>
                  <a:pt x="309966" y="529910"/>
                </a:lnTo>
                <a:lnTo>
                  <a:pt x="288577" y="532516"/>
                </a:lnTo>
                <a:lnTo>
                  <a:pt x="266700" y="533400"/>
                </a:lnTo>
                <a:lnTo>
                  <a:pt x="244822" y="532516"/>
                </a:lnTo>
                <a:lnTo>
                  <a:pt x="223433" y="529910"/>
                </a:lnTo>
                <a:lnTo>
                  <a:pt x="202600" y="525650"/>
                </a:lnTo>
                <a:lnTo>
                  <a:pt x="182392" y="519805"/>
                </a:lnTo>
                <a:lnTo>
                  <a:pt x="162877" y="512445"/>
                </a:lnTo>
                <a:lnTo>
                  <a:pt x="144124" y="503636"/>
                </a:lnTo>
                <a:lnTo>
                  <a:pt x="126202" y="493448"/>
                </a:lnTo>
                <a:lnTo>
                  <a:pt x="109179" y="481949"/>
                </a:lnTo>
                <a:lnTo>
                  <a:pt x="93124" y="469209"/>
                </a:lnTo>
                <a:lnTo>
                  <a:pt x="78104" y="455295"/>
                </a:lnTo>
                <a:lnTo>
                  <a:pt x="64190" y="440275"/>
                </a:lnTo>
                <a:lnTo>
                  <a:pt x="51450" y="424220"/>
                </a:lnTo>
                <a:lnTo>
                  <a:pt x="39951" y="407197"/>
                </a:lnTo>
                <a:lnTo>
                  <a:pt x="29763" y="389275"/>
                </a:lnTo>
                <a:lnTo>
                  <a:pt x="20955" y="370522"/>
                </a:lnTo>
                <a:lnTo>
                  <a:pt x="13594" y="351007"/>
                </a:lnTo>
                <a:lnTo>
                  <a:pt x="7749" y="330799"/>
                </a:lnTo>
                <a:lnTo>
                  <a:pt x="3489" y="309966"/>
                </a:lnTo>
                <a:lnTo>
                  <a:pt x="883" y="288577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343400" y="1888236"/>
            <a:ext cx="1066800" cy="283463"/>
          </a:xfrm>
          <a:custGeom>
            <a:avLst/>
            <a:gdLst/>
            <a:ahLst/>
            <a:cxnLst/>
            <a:rect l="l" t="t" r="r" b="b"/>
            <a:pathLst>
              <a:path w="1066800" h="283463">
                <a:moveTo>
                  <a:pt x="0" y="283463"/>
                </a:moveTo>
                <a:lnTo>
                  <a:pt x="1066800" y="283463"/>
                </a:lnTo>
                <a:lnTo>
                  <a:pt x="1066800" y="0"/>
                </a:lnTo>
                <a:lnTo>
                  <a:pt x="0" y="0"/>
                </a:lnTo>
                <a:lnTo>
                  <a:pt x="0" y="283463"/>
                </a:lnTo>
                <a:close/>
              </a:path>
            </a:pathLst>
          </a:custGeom>
          <a:ln w="9144">
            <a:solidFill>
              <a:srgbClr val="CCF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590800" y="2116836"/>
            <a:ext cx="838200" cy="283463"/>
          </a:xfrm>
          <a:custGeom>
            <a:avLst/>
            <a:gdLst/>
            <a:ahLst/>
            <a:cxnLst/>
            <a:rect l="l" t="t" r="r" b="b"/>
            <a:pathLst>
              <a:path w="838200" h="283463">
                <a:moveTo>
                  <a:pt x="0" y="283463"/>
                </a:moveTo>
                <a:lnTo>
                  <a:pt x="838200" y="283463"/>
                </a:lnTo>
                <a:lnTo>
                  <a:pt x="838200" y="0"/>
                </a:lnTo>
                <a:lnTo>
                  <a:pt x="0" y="0"/>
                </a:lnTo>
                <a:lnTo>
                  <a:pt x="0" y="283463"/>
                </a:lnTo>
                <a:close/>
              </a:path>
            </a:pathLst>
          </a:custGeom>
          <a:ln w="9144">
            <a:solidFill>
              <a:srgbClr val="CCFF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139944" y="448149"/>
            <a:ext cx="1182163" cy="5316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Manchester</a:t>
            </a:r>
            <a:endParaRPr sz="1600">
              <a:latin typeface="Arial" pitchFamily="34" charset="0"/>
              <a:cs typeface="Arial" pitchFamily="34" charset="0"/>
            </a:endParaRPr>
          </a:p>
          <a:p>
            <a:pPr marL="32511" marR="30403">
              <a:lnSpc>
                <a:spcPct val="95825"/>
              </a:lnSpc>
              <a:spcBef>
                <a:spcPts val="913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40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59302" y="1137237"/>
            <a:ext cx="21894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30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62837" y="1286349"/>
            <a:ext cx="96244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Li</a:t>
            </a:r>
            <a:r>
              <a:rPr sz="1600" b="1" spc="-39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erpo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l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28433" y="1514702"/>
            <a:ext cx="911481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5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She</a:t>
            </a:r>
            <a:r>
              <a:rPr sz="1600" b="1" spc="-9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fi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ld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84009" y="2343991"/>
            <a:ext cx="21894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40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73020" y="2886683"/>
            <a:ext cx="1222066" cy="5497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5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Shre</a:t>
            </a:r>
            <a:r>
              <a:rPr sz="1600" b="1" spc="39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w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ury</a:t>
            </a:r>
            <a:endParaRPr sz="1600">
              <a:latin typeface="Arial" pitchFamily="34" charset="0"/>
              <a:cs typeface="Arial" pitchFamily="34" charset="0"/>
            </a:endParaRPr>
          </a:p>
          <a:p>
            <a:pPr marL="127000" marR="30449">
              <a:lnSpc>
                <a:spcPct val="95825"/>
              </a:lnSpc>
              <a:spcBef>
                <a:spcPts val="1054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80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68902" y="2936192"/>
            <a:ext cx="219557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50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78856" y="3194771"/>
            <a:ext cx="2189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30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50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46722" y="3236561"/>
            <a:ext cx="117932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No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ti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am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16728" y="3555585"/>
            <a:ext cx="675230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B/ham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79775" y="4003246"/>
            <a:ext cx="2959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-54" dirty="0">
                <a:latin typeface="Arial" pitchFamily="34" charset="0"/>
                <a:cs typeface="Arial" pitchFamily="34" charset="0"/>
              </a:rPr>
              <a:t>1</a:t>
            </a:r>
            <a:r>
              <a:rPr sz="1200" b="1" spc="4" dirty="0">
                <a:latin typeface="Arial" pitchFamily="34" charset="0"/>
                <a:cs typeface="Arial" pitchFamily="34" charset="0"/>
              </a:rPr>
              <a:t>1</a:t>
            </a:r>
            <a:r>
              <a:rPr sz="1200" b="1" spc="0" dirty="0">
                <a:latin typeface="Arial" pitchFamily="34" charset="0"/>
                <a:cs typeface="Arial" pitchFamily="34" charset="0"/>
              </a:rPr>
              <a:t>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357" y="4029937"/>
            <a:ext cx="1268349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5"/>
              </a:lnSpc>
              <a:spcBef>
                <a:spcPts val="86"/>
              </a:spcBef>
            </a:pPr>
            <a:r>
              <a:rPr sz="1600" b="1" spc="-5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1600" b="1" spc="1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1600" b="1" spc="-25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sz="1600" b="1" spc="9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1600" b="1" spc="3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w</a:t>
            </a:r>
            <a:r>
              <a:rPr sz="1600" b="1" spc="-25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th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7029" y="4079446"/>
            <a:ext cx="21894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70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8009" y="4109672"/>
            <a:ext cx="30429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100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16856" y="4383999"/>
            <a:ext cx="2189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30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90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31594" y="4460199"/>
            <a:ext cx="304339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30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120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29246" y="4792565"/>
            <a:ext cx="718606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xf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rd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1702" y="4813125"/>
            <a:ext cx="21894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50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6510" y="5478619"/>
            <a:ext cx="708877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Cardiff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356" y="5499255"/>
            <a:ext cx="21894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80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3010" y="5621480"/>
            <a:ext cx="218947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70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6752" y="6088219"/>
            <a:ext cx="1359721" cy="2280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Sou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ha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sz="1600" b="1" spc="-4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on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4200" y="4876800"/>
            <a:ext cx="914400" cy="211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038600" y="4876800"/>
            <a:ext cx="152400" cy="211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4191000" y="4876800"/>
            <a:ext cx="2133600" cy="3459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70560">
              <a:lnSpc>
                <a:spcPct val="95825"/>
              </a:lnSpc>
              <a:spcBef>
                <a:spcPts val="430"/>
              </a:spcBef>
            </a:pPr>
            <a:r>
              <a:rPr sz="1600" b="1" spc="0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Bristol</a:t>
            </a:r>
            <a:endParaRPr sz="16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4200" y="5088636"/>
            <a:ext cx="914400" cy="1341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038600" y="5088636"/>
            <a:ext cx="152400" cy="1341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590800" y="2116836"/>
            <a:ext cx="838200" cy="2834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075">
              <a:lnSpc>
                <a:spcPct val="95825"/>
              </a:lnSpc>
              <a:spcBef>
                <a:spcPts val="395"/>
              </a:spcBef>
            </a:pPr>
            <a:r>
              <a:rPr sz="1200" b="1" spc="4" dirty="0">
                <a:latin typeface="Arial" pitchFamily="34" charset="0"/>
                <a:cs typeface="Arial" pitchFamily="34" charset="0"/>
              </a:rPr>
              <a:t>70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43400" y="1888236"/>
            <a:ext cx="1066800" cy="2834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8">
              <a:lnSpc>
                <a:spcPct val="95825"/>
              </a:lnSpc>
              <a:spcBef>
                <a:spcPts val="395"/>
              </a:spcBef>
            </a:pPr>
            <a:r>
              <a:rPr sz="1200" b="1" spc="-54" dirty="0">
                <a:latin typeface="Arial" pitchFamily="34" charset="0"/>
                <a:cs typeface="Arial" pitchFamily="34" charset="0"/>
              </a:rPr>
              <a:t>1</a:t>
            </a:r>
            <a:r>
              <a:rPr sz="1200" b="1" spc="0" dirty="0">
                <a:latin typeface="Arial" pitchFamily="34" charset="0"/>
                <a:cs typeface="Arial" pitchFamily="34" charset="0"/>
              </a:rPr>
              <a:t>10</a:t>
            </a:r>
            <a:endParaRPr sz="120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91C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43606" y="1521891"/>
            <a:ext cx="839876" cy="5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00"/>
              </a:lnSpc>
              <a:spcBef>
                <a:spcPts val="220"/>
              </a:spcBef>
            </a:pP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NP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5196" y="1521891"/>
            <a:ext cx="2346315" cy="5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00"/>
              </a:lnSpc>
              <a:spcBef>
                <a:spcPts val="220"/>
              </a:spcBef>
            </a:pP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Problems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97629" y="2885822"/>
            <a:ext cx="1345527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1600" b="1" spc="-14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697101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Trav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ll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ng</a:t>
            </a:r>
            <a:r>
              <a:rPr sz="3300" spc="-1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Sale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s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man P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r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oblem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1465" indent="-274320" algn="just">
              <a:lnSpc>
                <a:spcPts val="3090"/>
              </a:lnSpc>
              <a:spcBef>
                <a:spcPts val="1000"/>
              </a:spcBef>
              <a:tabLst>
                <a:tab pos="1244600" algn="l"/>
              </a:tabLst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b="1" spc="0" dirty="0">
                <a:latin typeface="Georgia"/>
                <a:cs typeface="Georgia"/>
              </a:rPr>
              <a:t>Tas</a:t>
            </a:r>
            <a:r>
              <a:rPr sz="2700" b="1" spc="-4" dirty="0">
                <a:latin typeface="Georgia"/>
                <a:cs typeface="Georgia"/>
              </a:rPr>
              <a:t>k</a:t>
            </a:r>
            <a:r>
              <a:rPr sz="2700" b="1" spc="0" dirty="0">
                <a:latin typeface="Georgia"/>
                <a:cs typeface="Georgia"/>
              </a:rPr>
              <a:t>:</a:t>
            </a:r>
            <a:r>
              <a:rPr sz="2700" b="1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Given</a:t>
            </a:r>
            <a:r>
              <a:rPr sz="2700" spc="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list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cities and the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distances be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ween </a:t>
            </a:r>
            <a:endParaRPr sz="2700">
              <a:latin typeface="Georgia"/>
              <a:cs typeface="Georgia"/>
            </a:endParaRPr>
          </a:p>
          <a:p>
            <a:pPr marL="515112" marR="211465" algn="just">
              <a:lnSpc>
                <a:spcPts val="3067"/>
              </a:lnSpc>
              <a:spcBef>
                <a:spcPts val="173"/>
              </a:spcBef>
              <a:tabLst>
                <a:tab pos="1244600" algn="l"/>
              </a:tabLst>
            </a:pPr>
            <a:r>
              <a:rPr sz="2700" spc="0" dirty="0">
                <a:latin typeface="Georgia"/>
                <a:cs typeface="Georgia"/>
              </a:rPr>
              <a:t>each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pair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ci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es, what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shor</a:t>
            </a:r>
            <a:r>
              <a:rPr sz="2700" spc="-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est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pos</a:t>
            </a:r>
            <a:r>
              <a:rPr sz="2700" spc="-1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ible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-1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oute </a:t>
            </a:r>
            <a:endParaRPr sz="2700">
              <a:latin typeface="Georgia"/>
              <a:cs typeface="Georgia"/>
            </a:endParaRPr>
          </a:p>
          <a:p>
            <a:pPr marL="515112" marR="211465" algn="just">
              <a:lnSpc>
                <a:spcPts val="3067"/>
              </a:lnSpc>
              <a:spcBef>
                <a:spcPts val="171"/>
              </a:spcBef>
              <a:tabLst>
                <a:tab pos="1244600" algn="l"/>
              </a:tabLst>
            </a:pPr>
            <a:r>
              <a:rPr sz="2700" spc="0" dirty="0">
                <a:latin typeface="Georgia"/>
                <a:cs typeface="Georgia"/>
              </a:rPr>
              <a:t>that	visits</a:t>
            </a:r>
            <a:r>
              <a:rPr sz="2700" spc="38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each</a:t>
            </a:r>
            <a:r>
              <a:rPr sz="2700" spc="38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city</a:t>
            </a:r>
            <a:r>
              <a:rPr sz="2700" spc="38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actly</a:t>
            </a:r>
            <a:r>
              <a:rPr sz="2700" spc="38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once</a:t>
            </a:r>
            <a:r>
              <a:rPr sz="2700" spc="38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and</a:t>
            </a:r>
            <a:r>
              <a:rPr sz="2700" spc="375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urns</a:t>
            </a:r>
            <a:r>
              <a:rPr sz="2700" spc="380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38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</a:t>
            </a:r>
            <a:endParaRPr sz="2700">
              <a:latin typeface="Georgia"/>
              <a:cs typeface="Georgia"/>
            </a:endParaRPr>
          </a:p>
          <a:p>
            <a:pPr marL="515112" marR="211465" algn="just">
              <a:lnSpc>
                <a:spcPts val="3067"/>
              </a:lnSpc>
              <a:spcBef>
                <a:spcPts val="171"/>
              </a:spcBef>
              <a:tabLst>
                <a:tab pos="1244600" algn="l"/>
              </a:tabLst>
            </a:pPr>
            <a:r>
              <a:rPr sz="2700" spc="0" dirty="0">
                <a:latin typeface="Georgia"/>
                <a:cs typeface="Georgia"/>
              </a:rPr>
              <a:t>origin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city?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t is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 problem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b="1" spc="0" dirty="0">
                <a:latin typeface="Georgia"/>
                <a:cs typeface="Georgia"/>
              </a:rPr>
              <a:t>Proble</a:t>
            </a:r>
            <a:r>
              <a:rPr sz="2700" b="1" spc="-4" dirty="0">
                <a:latin typeface="Georgia"/>
                <a:cs typeface="Georgia"/>
              </a:rPr>
              <a:t>m</a:t>
            </a:r>
            <a:r>
              <a:rPr sz="2700" b="1" spc="0" dirty="0">
                <a:latin typeface="Georgia"/>
                <a:cs typeface="Georgia"/>
              </a:rPr>
              <a:t>:</a:t>
            </a:r>
            <a:endParaRPr sz="2700">
              <a:latin typeface="Georgia"/>
              <a:cs typeface="Georgia"/>
            </a:endParaRPr>
          </a:p>
          <a:p>
            <a:pPr marL="789736" marR="223721" indent="-274624" algn="just">
              <a:lnSpc>
                <a:spcPts val="2499"/>
              </a:lnSpc>
              <a:spcBef>
                <a:spcPts val="681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Undi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ected</a:t>
            </a:r>
            <a:r>
              <a:rPr sz="2200" spc="38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we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ghted</a:t>
            </a:r>
            <a:r>
              <a:rPr sz="2200" spc="40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ap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200" spc="42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such</a:t>
            </a:r>
            <a:r>
              <a:rPr sz="2200" spc="44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that</a:t>
            </a:r>
            <a:r>
              <a:rPr sz="2200" spc="44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ci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ies</a:t>
            </a:r>
            <a:r>
              <a:rPr sz="2200" spc="44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re</a:t>
            </a:r>
            <a:r>
              <a:rPr sz="2200" spc="44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200" spc="44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1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h's </a:t>
            </a:r>
            <a:endParaRPr sz="2200">
              <a:latin typeface="Georgia"/>
              <a:cs typeface="Georgia"/>
            </a:endParaRPr>
          </a:p>
          <a:p>
            <a:pPr marL="789736" marR="223721" algn="just">
              <a:lnSpc>
                <a:spcPts val="2499"/>
              </a:lnSpc>
              <a:spcBef>
                <a:spcPts val="139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verti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es, p</a:t>
            </a:r>
            <a:r>
              <a:rPr sz="2200" spc="1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hs</a:t>
            </a:r>
            <a:r>
              <a:rPr sz="2200" spc="4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are</a:t>
            </a:r>
            <a:r>
              <a:rPr sz="2200" spc="4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200" spc="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grap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's</a:t>
            </a:r>
            <a:r>
              <a:rPr sz="22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ge</a:t>
            </a:r>
            <a:r>
              <a:rPr sz="2200" spc="1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,</a:t>
            </a:r>
            <a:r>
              <a:rPr sz="2200" spc="3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 </a:t>
            </a:r>
            <a:r>
              <a:rPr sz="2200" spc="26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7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pa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h's</a:t>
            </a:r>
            <a:r>
              <a:rPr sz="2200" spc="3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dist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nce</a:t>
            </a:r>
            <a:r>
              <a:rPr sz="22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is </a:t>
            </a:r>
            <a:endParaRPr sz="2200">
              <a:latin typeface="Georgia"/>
              <a:cs typeface="Georgia"/>
            </a:endParaRPr>
          </a:p>
          <a:p>
            <a:pPr marL="789736" marR="223721" algn="just">
              <a:lnSpc>
                <a:spcPts val="2499"/>
              </a:lnSpc>
              <a:spcBef>
                <a:spcPts val="139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200" spc="-3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'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ngt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200">
              <a:latin typeface="Georgia"/>
              <a:cs typeface="Georgia"/>
            </a:endParaRPr>
          </a:p>
          <a:p>
            <a:pPr marL="789736" marR="224087" indent="-274624" algn="just">
              <a:lnSpc>
                <a:spcPts val="2499"/>
              </a:lnSpc>
              <a:spcBef>
                <a:spcPts val="670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 </a:t>
            </a:r>
            <a:r>
              <a:rPr sz="2200" spc="29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 </a:t>
            </a:r>
            <a:r>
              <a:rPr sz="2200" spc="30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 </a:t>
            </a:r>
            <a:r>
              <a:rPr sz="2200" spc="29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nimi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z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ti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 </a:t>
            </a:r>
            <a:r>
              <a:rPr sz="2200" spc="20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blem </a:t>
            </a:r>
            <a:r>
              <a:rPr sz="2200" spc="22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st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art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ng </a:t>
            </a:r>
            <a:r>
              <a:rPr sz="2200" spc="2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 </a:t>
            </a:r>
            <a:r>
              <a:rPr sz="2200" spc="28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nis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ing </a:t>
            </a:r>
            <a:r>
              <a:rPr sz="2200" spc="24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 </a:t>
            </a:r>
            <a:r>
              <a:rPr sz="2200" spc="29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 </a:t>
            </a:r>
            <a:endParaRPr sz="2200">
              <a:latin typeface="Georgia"/>
              <a:cs typeface="Georgia"/>
            </a:endParaRPr>
          </a:p>
          <a:p>
            <a:pPr marL="789736" marR="224087" algn="just">
              <a:lnSpc>
                <a:spcPts val="2499"/>
              </a:lnSpc>
              <a:spcBef>
                <a:spcPts val="139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speci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ied</a:t>
            </a:r>
            <a:r>
              <a:rPr sz="2200" spc="-7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vert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2200" spc="-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after</a:t>
            </a:r>
            <a:r>
              <a:rPr sz="2200" spc="-4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hav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ng</a:t>
            </a:r>
            <a:r>
              <a:rPr sz="2200" spc="-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vis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ted</a:t>
            </a:r>
            <a:r>
              <a:rPr sz="2200" spc="-6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ch</a:t>
            </a:r>
            <a:r>
              <a:rPr sz="2200" spc="48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vert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2200" spc="-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act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200" spc="-3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once.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08997" marR="340931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Continue..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5"/>
              </a:spcBef>
            </a:pPr>
            <a:endParaRPr sz="55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0" dirty="0">
                <a:latin typeface="Georgia"/>
                <a:cs typeface="Georgia"/>
              </a:rPr>
              <a:t>The</a:t>
            </a:r>
            <a:r>
              <a:rPr sz="2800" b="1" spc="-54" dirty="0">
                <a:latin typeface="Georgia"/>
                <a:cs typeface="Georgia"/>
              </a:rPr>
              <a:t> </a:t>
            </a:r>
            <a:r>
              <a:rPr sz="2800" b="1" spc="0" dirty="0">
                <a:latin typeface="Georgia"/>
                <a:cs typeface="Georgia"/>
              </a:rPr>
              <a:t>orig</a:t>
            </a:r>
            <a:r>
              <a:rPr sz="2800" b="1" spc="-4" dirty="0">
                <a:latin typeface="Georgia"/>
                <a:cs typeface="Georgia"/>
              </a:rPr>
              <a:t>i</a:t>
            </a:r>
            <a:r>
              <a:rPr sz="2800" b="1" spc="0" dirty="0">
                <a:latin typeface="Georgia"/>
                <a:cs typeface="Georgia"/>
              </a:rPr>
              <a:t>n</a:t>
            </a:r>
            <a:r>
              <a:rPr sz="2800" b="1" spc="4" dirty="0">
                <a:latin typeface="Georgia"/>
                <a:cs typeface="Georgia"/>
              </a:rPr>
              <a:t>a</a:t>
            </a:r>
            <a:r>
              <a:rPr sz="2800" b="1" spc="0" dirty="0">
                <a:latin typeface="Georgia"/>
                <a:cs typeface="Georgia"/>
              </a:rPr>
              <a:t>l</a:t>
            </a:r>
            <a:r>
              <a:rPr sz="2800" b="1" spc="-93" dirty="0">
                <a:latin typeface="Georgia"/>
                <a:cs typeface="Georgia"/>
              </a:rPr>
              <a:t> </a:t>
            </a:r>
            <a:r>
              <a:rPr sz="2800" b="1" spc="0" dirty="0">
                <a:latin typeface="Georgia"/>
                <a:cs typeface="Georgia"/>
              </a:rPr>
              <a:t>for</a:t>
            </a:r>
            <a:r>
              <a:rPr sz="2800" b="1" spc="9" dirty="0">
                <a:latin typeface="Georgia"/>
                <a:cs typeface="Georgia"/>
              </a:rPr>
              <a:t>m</a:t>
            </a:r>
            <a:r>
              <a:rPr sz="2800" b="1" spc="0" dirty="0">
                <a:latin typeface="Georgia"/>
                <a:cs typeface="Georgia"/>
              </a:rPr>
              <a:t>ula</a:t>
            </a:r>
            <a:r>
              <a:rPr sz="2800" b="1" spc="9" dirty="0">
                <a:latin typeface="Georgia"/>
                <a:cs typeface="Georgia"/>
              </a:rPr>
              <a:t>t</a:t>
            </a:r>
            <a:r>
              <a:rPr sz="2800" b="1" spc="0" dirty="0">
                <a:latin typeface="Georgia"/>
                <a:cs typeface="Georgia"/>
              </a:rPr>
              <a:t>io</a:t>
            </a:r>
            <a:r>
              <a:rPr sz="2800" b="1" spc="-14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: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7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In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tanc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: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 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ghted graph</a:t>
            </a:r>
            <a:r>
              <a:rPr sz="24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Question:</a:t>
            </a:r>
            <a:r>
              <a:rPr sz="2400" spc="-2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Find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 minim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u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m-weight</a:t>
            </a:r>
            <a:r>
              <a:rPr sz="2400" spc="5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cle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in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G.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44"/>
              </a:spcBef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0" dirty="0">
                <a:latin typeface="Georgia"/>
                <a:cs typeface="Georgia"/>
              </a:rPr>
              <a:t>The</a:t>
            </a:r>
            <a:r>
              <a:rPr sz="2800" b="1" spc="-54" dirty="0">
                <a:latin typeface="Georgia"/>
                <a:cs typeface="Georgia"/>
              </a:rPr>
              <a:t> </a:t>
            </a:r>
            <a:r>
              <a:rPr sz="2800" b="1" spc="0" dirty="0">
                <a:latin typeface="Georgia"/>
                <a:cs typeface="Georgia"/>
              </a:rPr>
              <a:t>ye</a:t>
            </a:r>
            <a:r>
              <a:rPr sz="2800" b="1" spc="-9" dirty="0">
                <a:latin typeface="Georgia"/>
                <a:cs typeface="Georgia"/>
              </a:rPr>
              <a:t>s</a:t>
            </a:r>
            <a:r>
              <a:rPr sz="2800" b="1" spc="-4" dirty="0">
                <a:latin typeface="Georgia"/>
                <a:cs typeface="Georgia"/>
              </a:rPr>
              <a:t>-</a:t>
            </a:r>
            <a:r>
              <a:rPr sz="2800" b="1" spc="0" dirty="0">
                <a:latin typeface="Georgia"/>
                <a:cs typeface="Georgia"/>
              </a:rPr>
              <a:t>no</a:t>
            </a:r>
            <a:r>
              <a:rPr sz="2800" b="1" spc="-48" dirty="0">
                <a:latin typeface="Georgia"/>
                <a:cs typeface="Georgia"/>
              </a:rPr>
              <a:t> </a:t>
            </a:r>
            <a:r>
              <a:rPr sz="2800" b="1" spc="0" dirty="0">
                <a:latin typeface="Georgia"/>
                <a:cs typeface="Georgia"/>
              </a:rPr>
              <a:t>formula</a:t>
            </a:r>
            <a:r>
              <a:rPr sz="2800" b="1" spc="9" dirty="0">
                <a:latin typeface="Georgia"/>
                <a:cs typeface="Georgia"/>
              </a:rPr>
              <a:t>t</a:t>
            </a:r>
            <a:r>
              <a:rPr sz="2800" b="1" spc="0" dirty="0">
                <a:latin typeface="Georgia"/>
                <a:cs typeface="Georgia"/>
              </a:rPr>
              <a:t>io</a:t>
            </a:r>
            <a:r>
              <a:rPr sz="2800" b="1" spc="4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: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7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In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tanc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: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 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ghted graph</a:t>
            </a:r>
            <a:r>
              <a:rPr sz="24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and a real number d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Question:</a:t>
            </a:r>
            <a:r>
              <a:rPr sz="2400" spc="-2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Does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 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ave a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amiltonian</a:t>
            </a:r>
            <a:r>
              <a:rPr sz="2400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cycle of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weight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&lt;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=</a:t>
            </a:r>
            <a:endParaRPr sz="2400">
              <a:latin typeface="Georgia"/>
              <a:cs typeface="Georgia"/>
            </a:endParaRPr>
          </a:p>
          <a:p>
            <a:pPr marL="789736">
              <a:lnSpc>
                <a:spcPct val="94685"/>
              </a:lnSpc>
              <a:spcBef>
                <a:spcPts val="155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d?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1752" y="1600200"/>
            <a:ext cx="2365248" cy="23622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81399" y="1652016"/>
            <a:ext cx="5254751" cy="2310383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14599" y="4114800"/>
            <a:ext cx="4383023" cy="2209799"/>
          </a:xfrm>
          <a:prstGeom prst="rect">
            <a:avLst/>
          </a:prstGeom>
          <a:blipFill>
            <a:blip r:embed="rId4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58349" marR="3558763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Ex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mple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08997" marR="340931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Continue..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1615" indent="-274320" algn="just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16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not</a:t>
            </a:r>
            <a:r>
              <a:rPr sz="2700" spc="14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diffic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lt</a:t>
            </a:r>
            <a:r>
              <a:rPr sz="2700" spc="163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find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ution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TS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16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small </a:t>
            </a:r>
            <a:endParaRPr sz="2700">
              <a:latin typeface="Georgia"/>
              <a:cs typeface="Georgia"/>
            </a:endParaRPr>
          </a:p>
          <a:p>
            <a:pPr marL="515112" marR="211615" algn="just">
              <a:lnSpc>
                <a:spcPts val="3067"/>
              </a:lnSpc>
              <a:spcBef>
                <a:spcPts val="171"/>
              </a:spcBef>
            </a:pP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raph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like this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but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size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graph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gr</a:t>
            </a:r>
            <a:r>
              <a:rPr sz="2700" spc="-1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ws the </a:t>
            </a:r>
            <a:endParaRPr sz="2700">
              <a:latin typeface="Georgia"/>
              <a:cs typeface="Georgia"/>
            </a:endParaRPr>
          </a:p>
          <a:p>
            <a:pPr marL="515112" marR="211615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tim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-de</a:t>
            </a:r>
            <a:r>
              <a:rPr sz="2700" spc="-1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and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appea</a:t>
            </a:r>
            <a:r>
              <a:rPr sz="2700" spc="-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s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 sc</a:t>
            </a:r>
            <a:r>
              <a:rPr sz="2700" spc="1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le ve</a:t>
            </a:r>
            <a:r>
              <a:rPr sz="2700" spc="-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y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bad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y</a:t>
            </a:r>
            <a:r>
              <a:rPr sz="2700" spc="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and</a:t>
            </a:r>
            <a:r>
              <a:rPr sz="2700" spc="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it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</a:t>
            </a:r>
            <a:endParaRPr sz="2700">
              <a:latin typeface="Georgia"/>
              <a:cs typeface="Georgia"/>
            </a:endParaRPr>
          </a:p>
          <a:p>
            <a:pPr marL="515112" marR="211615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stron</a:t>
            </a: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ly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believed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are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olynomial 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-1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e </a:t>
            </a:r>
            <a:endParaRPr sz="2700">
              <a:latin typeface="Georgia"/>
              <a:cs typeface="Georgia"/>
            </a:endParaRPr>
          </a:p>
          <a:p>
            <a:pPr marL="515112" marR="211615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algorithms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for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this problem.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sz="2300" spc="27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</a:t>
            </a:r>
            <a:r>
              <a:rPr sz="2700" spc="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re</a:t>
            </a:r>
            <a:r>
              <a:rPr sz="2700" spc="40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40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</a:t>
            </a:r>
            <a:r>
              <a:rPr sz="2700" spc="4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algorithms</a:t>
            </a:r>
            <a:r>
              <a:rPr sz="2700" spc="40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which</a:t>
            </a:r>
            <a:r>
              <a:rPr sz="2700" spc="40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-14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ve</a:t>
            </a:r>
            <a:r>
              <a:rPr sz="2700" spc="4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-9" dirty="0">
                <a:latin typeface="Georgia"/>
                <a:cs typeface="Georgia"/>
              </a:rPr>
              <a:t>h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40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</a:t>
            </a:r>
            <a:r>
              <a:rPr sz="2700" spc="-9" dirty="0">
                <a:latin typeface="Georgia"/>
                <a:cs typeface="Georgia"/>
              </a:rPr>
              <a:t>le</a:t>
            </a:r>
            <a:r>
              <a:rPr sz="2700" spc="0" dirty="0">
                <a:latin typeface="Georgia"/>
                <a:cs typeface="Georgia"/>
              </a:rPr>
              <a:t>m</a:t>
            </a:r>
            <a:r>
              <a:rPr sz="2700" spc="4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5"/>
              </a:spcBef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olynomial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</a:t>
            </a:r>
            <a:r>
              <a:rPr sz="2700" spc="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184969" marR="3186657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NP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complete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200"/>
              </a:lnSpc>
              <a:spcBef>
                <a:spcPts val="60"/>
              </a:spcBef>
            </a:pPr>
            <a:endParaRPr sz="1200"/>
          </a:p>
          <a:p>
            <a:pPr marL="240792">
              <a:lnSpc>
                <a:spcPct val="94685"/>
              </a:lnSpc>
            </a:pPr>
            <a:r>
              <a:rPr sz="20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000" spc="189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latin typeface="Georgia"/>
                <a:cs typeface="Georgia"/>
              </a:rPr>
              <a:t>NP-complete problems</a:t>
            </a:r>
            <a:r>
              <a:rPr sz="2400" spc="2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are the hard</a:t>
            </a:r>
            <a:r>
              <a:rPr sz="2400" spc="4" dirty="0">
                <a:latin typeface="Georgia"/>
                <a:cs typeface="Georgia"/>
              </a:rPr>
              <a:t>e</a:t>
            </a:r>
            <a:r>
              <a:rPr sz="2400" spc="0" dirty="0">
                <a:latin typeface="Georgia"/>
                <a:cs typeface="Georgia"/>
              </a:rPr>
              <a:t>st probl</a:t>
            </a:r>
            <a:r>
              <a:rPr sz="2400" spc="4" dirty="0">
                <a:latin typeface="Georgia"/>
                <a:cs typeface="Georgia"/>
              </a:rPr>
              <a:t>e</a:t>
            </a:r>
            <a:r>
              <a:rPr sz="2400" spc="0" dirty="0">
                <a:latin typeface="Georgia"/>
                <a:cs typeface="Georgia"/>
              </a:rPr>
              <a:t>ms</a:t>
            </a:r>
            <a:r>
              <a:rPr sz="2400" spc="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in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NP</a:t>
            </a:r>
            <a:r>
              <a:rPr sz="2400" spc="-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set.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1425"/>
              </a:spcBef>
            </a:pPr>
            <a:r>
              <a:rPr sz="20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000" spc="189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0" dirty="0">
                <a:latin typeface="Georgia"/>
                <a:cs typeface="Georgia"/>
              </a:rPr>
              <a:t>De</a:t>
            </a:r>
            <a:r>
              <a:rPr sz="2400" b="1" spc="4" dirty="0">
                <a:latin typeface="Georgia"/>
                <a:cs typeface="Georgia"/>
              </a:rPr>
              <a:t>f</a:t>
            </a:r>
            <a:r>
              <a:rPr sz="2400" b="1" spc="0" dirty="0">
                <a:latin typeface="Georgia"/>
                <a:cs typeface="Georgia"/>
              </a:rPr>
              <a:t>in</a:t>
            </a:r>
            <a:r>
              <a:rPr sz="2400" b="1" spc="4" dirty="0">
                <a:latin typeface="Georgia"/>
                <a:cs typeface="Georgia"/>
              </a:rPr>
              <a:t>i</a:t>
            </a:r>
            <a:r>
              <a:rPr sz="2400" b="1" spc="0" dirty="0">
                <a:latin typeface="Georgia"/>
                <a:cs typeface="Georgia"/>
              </a:rPr>
              <a:t>tio</a:t>
            </a:r>
            <a:r>
              <a:rPr sz="2400" b="1" spc="-4" dirty="0">
                <a:latin typeface="Georgia"/>
                <a:cs typeface="Georgia"/>
              </a:rPr>
              <a:t>n</a:t>
            </a:r>
            <a:r>
              <a:rPr sz="2400" spc="0" dirty="0">
                <a:latin typeface="Georgia"/>
                <a:cs typeface="Georgia"/>
              </a:rPr>
              <a:t>:</a:t>
            </a:r>
            <a:r>
              <a:rPr sz="2400" spc="-1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 problem</a:t>
            </a:r>
            <a:r>
              <a:rPr sz="2400" spc="2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B 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s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b="1" spc="0" dirty="0">
                <a:latin typeface="Georgia"/>
                <a:cs typeface="Georgia"/>
              </a:rPr>
              <a:t>N</a:t>
            </a:r>
            <a:r>
              <a:rPr sz="2400" b="1" spc="-4" dirty="0">
                <a:latin typeface="Georgia"/>
                <a:cs typeface="Georgia"/>
              </a:rPr>
              <a:t>P</a:t>
            </a:r>
            <a:r>
              <a:rPr sz="2400" b="1" spc="4" dirty="0">
                <a:latin typeface="Georgia"/>
                <a:cs typeface="Georgia"/>
              </a:rPr>
              <a:t>-</a:t>
            </a:r>
            <a:r>
              <a:rPr sz="2400" b="1" spc="0" dirty="0">
                <a:latin typeface="Georgia"/>
                <a:cs typeface="Georgia"/>
              </a:rPr>
              <a:t>co</a:t>
            </a:r>
            <a:r>
              <a:rPr sz="2400" b="1" spc="-4" dirty="0">
                <a:latin typeface="Georgia"/>
                <a:cs typeface="Georgia"/>
              </a:rPr>
              <a:t>m</a:t>
            </a:r>
            <a:r>
              <a:rPr sz="2400" b="1" spc="0" dirty="0">
                <a:latin typeface="Georgia"/>
                <a:cs typeface="Georgia"/>
              </a:rPr>
              <a:t>p</a:t>
            </a:r>
            <a:r>
              <a:rPr sz="2400" b="1" spc="4" dirty="0">
                <a:latin typeface="Georgia"/>
                <a:cs typeface="Georgia"/>
              </a:rPr>
              <a:t>l</a:t>
            </a:r>
            <a:r>
              <a:rPr sz="2400" b="1" spc="0" dirty="0">
                <a:latin typeface="Georgia"/>
                <a:cs typeface="Georgia"/>
              </a:rPr>
              <a:t>e</a:t>
            </a:r>
            <a:r>
              <a:rPr sz="2400" b="1" spc="-9" dirty="0">
                <a:latin typeface="Georgia"/>
                <a:cs typeface="Georgia"/>
              </a:rPr>
              <a:t>t</a:t>
            </a:r>
            <a:r>
              <a:rPr sz="2400" b="1" spc="0" dirty="0">
                <a:latin typeface="Georgia"/>
                <a:cs typeface="Georgia"/>
              </a:rPr>
              <a:t>e</a:t>
            </a:r>
            <a:r>
              <a:rPr sz="2400" b="1" spc="-1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if:</a:t>
            </a:r>
            <a:endParaRPr sz="2400">
              <a:latin typeface="Georgia"/>
              <a:cs typeface="Georgia"/>
            </a:endParaRPr>
          </a:p>
          <a:p>
            <a:pPr marL="1155446">
              <a:lnSpc>
                <a:spcPct val="102091"/>
              </a:lnSpc>
              <a:spcBef>
                <a:spcPts val="1668"/>
              </a:spcBef>
            </a:pPr>
            <a:r>
              <a:rPr sz="2400" spc="0" dirty="0">
                <a:latin typeface="Georgia"/>
                <a:cs typeface="Georgia"/>
              </a:rPr>
              <a:t>(1) B </a:t>
            </a:r>
            <a:r>
              <a:rPr sz="2400" spc="0" dirty="0">
                <a:latin typeface="Symbol"/>
                <a:cs typeface="Symbol"/>
              </a:rPr>
              <a:t></a:t>
            </a:r>
            <a:r>
              <a:rPr sz="2400" spc="-3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0" dirty="0">
                <a:latin typeface="Georgia"/>
                <a:cs typeface="Georgia"/>
              </a:rPr>
              <a:t>NP</a:t>
            </a:r>
            <a:endParaRPr sz="2400">
              <a:latin typeface="Georgia"/>
              <a:cs typeface="Georgia"/>
            </a:endParaRPr>
          </a:p>
          <a:p>
            <a:pPr marL="1155446">
              <a:lnSpc>
                <a:spcPts val="2854"/>
              </a:lnSpc>
              <a:spcBef>
                <a:spcPts val="1669"/>
              </a:spcBef>
            </a:pPr>
            <a:r>
              <a:rPr sz="2400" spc="0" dirty="0">
                <a:latin typeface="Georgia"/>
                <a:cs typeface="Georgia"/>
              </a:rPr>
              <a:t>(2)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</a:t>
            </a:r>
            <a:r>
              <a:rPr sz="2400" spc="4" dirty="0">
                <a:latin typeface="Georgia"/>
                <a:cs typeface="Georgia"/>
              </a:rPr>
              <a:t> </a:t>
            </a:r>
            <a:r>
              <a:rPr sz="2400" spc="0" dirty="0">
                <a:latin typeface="Symbol"/>
                <a:cs typeface="Symbol"/>
              </a:rPr>
              <a:t></a:t>
            </a:r>
            <a:r>
              <a:rPr sz="2400" spc="0" baseline="-22000" dirty="0">
                <a:latin typeface="Georgia"/>
                <a:cs typeface="Georgia"/>
              </a:rPr>
              <a:t>p</a:t>
            </a:r>
            <a:r>
              <a:rPr sz="2400" spc="170" baseline="-22000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B for all A </a:t>
            </a:r>
            <a:r>
              <a:rPr sz="2400" spc="0" dirty="0">
                <a:latin typeface="Symbol"/>
                <a:cs typeface="Symbol"/>
              </a:rPr>
              <a:t></a:t>
            </a:r>
            <a:r>
              <a:rPr sz="2400" spc="-1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spc="0" dirty="0">
                <a:latin typeface="Georgia"/>
                <a:cs typeface="Georgia"/>
              </a:rPr>
              <a:t>NP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2056"/>
              </a:spcBef>
            </a:pPr>
            <a:r>
              <a:rPr sz="20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050" spc="179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latin typeface="Georgia"/>
                <a:cs typeface="Georgia"/>
              </a:rPr>
              <a:t>If B </a:t>
            </a:r>
            <a:r>
              <a:rPr sz="2400" spc="-9" dirty="0">
                <a:latin typeface="Georgia"/>
                <a:cs typeface="Georgia"/>
              </a:rPr>
              <a:t>s</a:t>
            </a:r>
            <a:r>
              <a:rPr sz="2400" spc="0" dirty="0">
                <a:latin typeface="Georgia"/>
                <a:cs typeface="Georgia"/>
              </a:rPr>
              <a:t>atisfies</a:t>
            </a:r>
            <a:r>
              <a:rPr sz="2400" spc="-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only property</a:t>
            </a:r>
            <a:r>
              <a:rPr sz="2400" spc="2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(2)</a:t>
            </a:r>
            <a:r>
              <a:rPr sz="2400" spc="-1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we</a:t>
            </a:r>
            <a:r>
              <a:rPr sz="2400" spc="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say that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B</a:t>
            </a:r>
            <a:r>
              <a:rPr sz="2400" spc="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is</a:t>
            </a:r>
            <a:r>
              <a:rPr sz="2400" spc="-14" dirty="0">
                <a:latin typeface="Georgia"/>
                <a:cs typeface="Georgia"/>
              </a:rPr>
              <a:t> </a:t>
            </a:r>
            <a:r>
              <a:rPr sz="2400" b="1" spc="0" dirty="0">
                <a:latin typeface="Georgia"/>
                <a:cs typeface="Georgia"/>
              </a:rPr>
              <a:t>N</a:t>
            </a:r>
            <a:r>
              <a:rPr sz="2400" b="1" spc="-4" dirty="0">
                <a:latin typeface="Georgia"/>
                <a:cs typeface="Georgia"/>
              </a:rPr>
              <a:t>P</a:t>
            </a:r>
            <a:r>
              <a:rPr sz="2400" b="1" spc="0" dirty="0">
                <a:latin typeface="Georgia"/>
                <a:cs typeface="Georgia"/>
              </a:rPr>
              <a:t>-hard</a:t>
            </a:r>
            <a:endParaRPr sz="24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4068"/>
              </a:spcBef>
            </a:pPr>
            <a:r>
              <a:rPr sz="20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0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050" spc="179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latin typeface="Georgia"/>
                <a:cs typeface="Georgia"/>
              </a:rPr>
              <a:t>An equ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valent</a:t>
            </a:r>
            <a:r>
              <a:rPr sz="2400" spc="-2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but casual defin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t</a:t>
            </a:r>
            <a:r>
              <a:rPr sz="2400" spc="-9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on:</a:t>
            </a:r>
            <a:r>
              <a:rPr sz="2400" spc="-4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A problem</a:t>
            </a:r>
            <a:r>
              <a:rPr sz="2400" spc="1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R</a:t>
            </a:r>
            <a:r>
              <a:rPr sz="2400" spc="-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is </a:t>
            </a:r>
            <a:r>
              <a:rPr sz="2400" spc="-4" dirty="0">
                <a:latin typeface="Georgia"/>
                <a:cs typeface="Georgia"/>
              </a:rPr>
              <a:t>N</a:t>
            </a:r>
            <a:r>
              <a:rPr sz="2400" spc="19" dirty="0">
                <a:latin typeface="Georgia"/>
                <a:cs typeface="Georgia"/>
              </a:rPr>
              <a:t>P</a:t>
            </a:r>
            <a:r>
              <a:rPr sz="2400" spc="0" dirty="0">
                <a:latin typeface="Georgia"/>
                <a:cs typeface="Georgia"/>
              </a:rPr>
              <a:t>-</a:t>
            </a:r>
            <a:endParaRPr sz="2400">
              <a:latin typeface="Georgia"/>
              <a:cs typeface="Georgia"/>
            </a:endParaRPr>
          </a:p>
          <a:p>
            <a:pPr marL="479529" marR="926533" algn="ctr">
              <a:lnSpc>
                <a:spcPts val="2590"/>
              </a:lnSpc>
              <a:spcBef>
                <a:spcPts val="129"/>
              </a:spcBef>
            </a:pPr>
            <a:r>
              <a:rPr sz="2400" spc="0" dirty="0">
                <a:latin typeface="Georgia"/>
                <a:cs typeface="Georgia"/>
              </a:rPr>
              <a:t>complete if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R 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s</a:t>
            </a:r>
            <a:r>
              <a:rPr sz="2400" spc="-1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the "</a:t>
            </a:r>
            <a:r>
              <a:rPr sz="2400" spc="-4" dirty="0">
                <a:latin typeface="Georgia"/>
                <a:cs typeface="Georgia"/>
              </a:rPr>
              <a:t>m</a:t>
            </a:r>
            <a:r>
              <a:rPr sz="2400" spc="0" dirty="0">
                <a:latin typeface="Georgia"/>
                <a:cs typeface="Georgia"/>
              </a:rPr>
              <a:t>ost</a:t>
            </a:r>
            <a:r>
              <a:rPr sz="2400" spc="-9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d</a:t>
            </a:r>
            <a:r>
              <a:rPr sz="2400" spc="4" dirty="0">
                <a:latin typeface="Georgia"/>
                <a:cs typeface="Georgia"/>
              </a:rPr>
              <a:t>i</a:t>
            </a:r>
            <a:r>
              <a:rPr sz="2400" spc="0" dirty="0">
                <a:latin typeface="Georgia"/>
                <a:cs typeface="Georgia"/>
              </a:rPr>
              <a:t>fficult"</a:t>
            </a:r>
            <a:r>
              <a:rPr sz="2400" spc="-44" dirty="0">
                <a:latin typeface="Georgia"/>
                <a:cs typeface="Georgia"/>
              </a:rPr>
              <a:t> </a:t>
            </a:r>
            <a:r>
              <a:rPr sz="2400" spc="0" dirty="0">
                <a:latin typeface="Georgia"/>
                <a:cs typeface="Georgia"/>
              </a:rPr>
              <a:t>of all NP </a:t>
            </a:r>
            <a:r>
              <a:rPr sz="2400" spc="-9" dirty="0">
                <a:latin typeface="Georgia"/>
                <a:cs typeface="Georgia"/>
              </a:rPr>
              <a:t>p</a:t>
            </a:r>
            <a:r>
              <a:rPr sz="2400" spc="0" dirty="0">
                <a:latin typeface="Georgia"/>
                <a:cs typeface="Georgia"/>
              </a:rPr>
              <a:t>roblems.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4128" y="4698492"/>
            <a:ext cx="6637020" cy="1571244"/>
          </a:xfrm>
          <a:custGeom>
            <a:avLst/>
            <a:gdLst/>
            <a:ahLst/>
            <a:cxnLst/>
            <a:rect l="l" t="t" r="r" b="b"/>
            <a:pathLst>
              <a:path w="6637020" h="1571244">
                <a:moveTo>
                  <a:pt x="0" y="1571243"/>
                </a:moveTo>
                <a:lnTo>
                  <a:pt x="6637020" y="1571243"/>
                </a:lnTo>
                <a:lnTo>
                  <a:pt x="6637020" y="0"/>
                </a:lnTo>
                <a:lnTo>
                  <a:pt x="0" y="0"/>
                </a:lnTo>
                <a:lnTo>
                  <a:pt x="0" y="157124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4128" y="4698492"/>
            <a:ext cx="6637020" cy="1571244"/>
          </a:xfrm>
          <a:custGeom>
            <a:avLst/>
            <a:gdLst/>
            <a:ahLst/>
            <a:cxnLst/>
            <a:rect l="l" t="t" r="r" b="b"/>
            <a:pathLst>
              <a:path w="6637020" h="1571244">
                <a:moveTo>
                  <a:pt x="0" y="1571243"/>
                </a:moveTo>
                <a:lnTo>
                  <a:pt x="6637020" y="1571243"/>
                </a:lnTo>
                <a:lnTo>
                  <a:pt x="6637020" y="0"/>
                </a:lnTo>
                <a:lnTo>
                  <a:pt x="0" y="0"/>
                </a:lnTo>
                <a:lnTo>
                  <a:pt x="0" y="15712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02258" y="5028438"/>
            <a:ext cx="975360" cy="890016"/>
          </a:xfrm>
          <a:custGeom>
            <a:avLst/>
            <a:gdLst/>
            <a:ahLst/>
            <a:cxnLst/>
            <a:rect l="l" t="t" r="r" b="b"/>
            <a:pathLst>
              <a:path w="975360" h="890015">
                <a:moveTo>
                  <a:pt x="0" y="890016"/>
                </a:moveTo>
                <a:lnTo>
                  <a:pt x="975360" y="890016"/>
                </a:lnTo>
                <a:lnTo>
                  <a:pt x="975360" y="0"/>
                </a:lnTo>
                <a:lnTo>
                  <a:pt x="0" y="0"/>
                </a:lnTo>
                <a:lnTo>
                  <a:pt x="0" y="8900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02258" y="5028438"/>
            <a:ext cx="975360" cy="890016"/>
          </a:xfrm>
          <a:custGeom>
            <a:avLst/>
            <a:gdLst/>
            <a:ahLst/>
            <a:cxnLst/>
            <a:rect l="l" t="t" r="r" b="b"/>
            <a:pathLst>
              <a:path w="975360" h="890015">
                <a:moveTo>
                  <a:pt x="0" y="890016"/>
                </a:moveTo>
                <a:lnTo>
                  <a:pt x="975360" y="890016"/>
                </a:lnTo>
                <a:lnTo>
                  <a:pt x="975360" y="0"/>
                </a:lnTo>
                <a:lnTo>
                  <a:pt x="0" y="0"/>
                </a:lnTo>
                <a:lnTo>
                  <a:pt x="0" y="89001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80054" y="5028438"/>
            <a:ext cx="3305555" cy="890016"/>
          </a:xfrm>
          <a:custGeom>
            <a:avLst/>
            <a:gdLst/>
            <a:ahLst/>
            <a:cxnLst/>
            <a:rect l="l" t="t" r="r" b="b"/>
            <a:pathLst>
              <a:path w="3305555" h="890015">
                <a:moveTo>
                  <a:pt x="0" y="890016"/>
                </a:moveTo>
                <a:lnTo>
                  <a:pt x="3305555" y="890016"/>
                </a:lnTo>
                <a:lnTo>
                  <a:pt x="3305555" y="0"/>
                </a:lnTo>
                <a:lnTo>
                  <a:pt x="0" y="0"/>
                </a:lnTo>
                <a:lnTo>
                  <a:pt x="0" y="8900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80054" y="5028438"/>
            <a:ext cx="3305555" cy="890016"/>
          </a:xfrm>
          <a:custGeom>
            <a:avLst/>
            <a:gdLst/>
            <a:ahLst/>
            <a:cxnLst/>
            <a:rect l="l" t="t" r="r" b="b"/>
            <a:pathLst>
              <a:path w="3305555" h="890015">
                <a:moveTo>
                  <a:pt x="0" y="890016"/>
                </a:moveTo>
                <a:lnTo>
                  <a:pt x="3305555" y="890016"/>
                </a:lnTo>
                <a:lnTo>
                  <a:pt x="3305555" y="0"/>
                </a:lnTo>
                <a:lnTo>
                  <a:pt x="0" y="0"/>
                </a:lnTo>
                <a:lnTo>
                  <a:pt x="0" y="89001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2054" y="5436870"/>
            <a:ext cx="885444" cy="76200"/>
          </a:xfrm>
          <a:custGeom>
            <a:avLst/>
            <a:gdLst/>
            <a:ahLst/>
            <a:cxnLst/>
            <a:rect l="l" t="t" r="r" b="b"/>
            <a:pathLst>
              <a:path w="885444" h="76200">
                <a:moveTo>
                  <a:pt x="821944" y="48005"/>
                </a:moveTo>
                <a:lnTo>
                  <a:pt x="809243" y="48006"/>
                </a:lnTo>
                <a:lnTo>
                  <a:pt x="809243" y="76199"/>
                </a:lnTo>
                <a:lnTo>
                  <a:pt x="885444" y="38099"/>
                </a:lnTo>
                <a:lnTo>
                  <a:pt x="821944" y="48005"/>
                </a:lnTo>
                <a:close/>
              </a:path>
              <a:path w="885444" h="76200">
                <a:moveTo>
                  <a:pt x="821944" y="28193"/>
                </a:moveTo>
                <a:lnTo>
                  <a:pt x="809243" y="0"/>
                </a:lnTo>
                <a:lnTo>
                  <a:pt x="809244" y="28193"/>
                </a:lnTo>
                <a:lnTo>
                  <a:pt x="821944" y="28193"/>
                </a:lnTo>
                <a:close/>
              </a:path>
              <a:path w="885444" h="76200">
                <a:moveTo>
                  <a:pt x="0" y="28193"/>
                </a:moveTo>
                <a:lnTo>
                  <a:pt x="0" y="48005"/>
                </a:lnTo>
                <a:lnTo>
                  <a:pt x="821944" y="48005"/>
                </a:lnTo>
                <a:lnTo>
                  <a:pt x="885444" y="38099"/>
                </a:lnTo>
                <a:lnTo>
                  <a:pt x="809243" y="0"/>
                </a:lnTo>
                <a:lnTo>
                  <a:pt x="821944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98954" y="5436870"/>
            <a:ext cx="1181099" cy="76200"/>
          </a:xfrm>
          <a:custGeom>
            <a:avLst/>
            <a:gdLst/>
            <a:ahLst/>
            <a:cxnLst/>
            <a:rect l="l" t="t" r="r" b="b"/>
            <a:pathLst>
              <a:path w="1181099" h="76200">
                <a:moveTo>
                  <a:pt x="1117599" y="48005"/>
                </a:moveTo>
                <a:lnTo>
                  <a:pt x="1104900" y="48005"/>
                </a:lnTo>
                <a:lnTo>
                  <a:pt x="1104899" y="76199"/>
                </a:lnTo>
                <a:lnTo>
                  <a:pt x="1181099" y="38099"/>
                </a:lnTo>
                <a:lnTo>
                  <a:pt x="1117599" y="48005"/>
                </a:lnTo>
                <a:close/>
              </a:path>
              <a:path w="1181099" h="76200">
                <a:moveTo>
                  <a:pt x="1117599" y="28193"/>
                </a:moveTo>
                <a:lnTo>
                  <a:pt x="1104899" y="0"/>
                </a:lnTo>
                <a:lnTo>
                  <a:pt x="1104900" y="28193"/>
                </a:lnTo>
                <a:lnTo>
                  <a:pt x="1117599" y="28193"/>
                </a:lnTo>
                <a:close/>
              </a:path>
              <a:path w="1181099" h="76200">
                <a:moveTo>
                  <a:pt x="0" y="28193"/>
                </a:moveTo>
                <a:lnTo>
                  <a:pt x="0" y="48005"/>
                </a:lnTo>
                <a:lnTo>
                  <a:pt x="1117599" y="48005"/>
                </a:lnTo>
                <a:lnTo>
                  <a:pt x="1181099" y="38099"/>
                </a:lnTo>
                <a:lnTo>
                  <a:pt x="1104899" y="0"/>
                </a:lnTo>
                <a:lnTo>
                  <a:pt x="1117599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88277" y="5151120"/>
            <a:ext cx="872108" cy="333121"/>
          </a:xfrm>
          <a:custGeom>
            <a:avLst/>
            <a:gdLst/>
            <a:ahLst/>
            <a:cxnLst/>
            <a:rect l="l" t="t" r="r" b="b"/>
            <a:pathLst>
              <a:path w="872108" h="333121">
                <a:moveTo>
                  <a:pt x="0" y="314578"/>
                </a:moveTo>
                <a:lnTo>
                  <a:pt x="6857" y="333120"/>
                </a:lnTo>
                <a:lnTo>
                  <a:pt x="803827" y="45065"/>
                </a:lnTo>
                <a:lnTo>
                  <a:pt x="815721" y="40766"/>
                </a:lnTo>
                <a:lnTo>
                  <a:pt x="813434" y="71627"/>
                </a:lnTo>
                <a:lnTo>
                  <a:pt x="872108" y="9905"/>
                </a:lnTo>
                <a:lnTo>
                  <a:pt x="808990" y="22224"/>
                </a:lnTo>
                <a:lnTo>
                  <a:pt x="797117" y="26515"/>
                </a:lnTo>
                <a:lnTo>
                  <a:pt x="0" y="314578"/>
                </a:lnTo>
                <a:close/>
              </a:path>
              <a:path w="872108" h="333121">
                <a:moveTo>
                  <a:pt x="808990" y="22224"/>
                </a:moveTo>
                <a:lnTo>
                  <a:pt x="872108" y="9905"/>
                </a:lnTo>
                <a:lnTo>
                  <a:pt x="787526" y="0"/>
                </a:lnTo>
                <a:lnTo>
                  <a:pt x="797117" y="26515"/>
                </a:lnTo>
                <a:lnTo>
                  <a:pt x="808990" y="22224"/>
                </a:lnTo>
                <a:close/>
              </a:path>
              <a:path w="872108" h="333121">
                <a:moveTo>
                  <a:pt x="813434" y="71627"/>
                </a:moveTo>
                <a:lnTo>
                  <a:pt x="815721" y="40766"/>
                </a:lnTo>
                <a:lnTo>
                  <a:pt x="803827" y="45065"/>
                </a:lnTo>
                <a:lnTo>
                  <a:pt x="813434" y="71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88404" y="5487035"/>
            <a:ext cx="871981" cy="331749"/>
          </a:xfrm>
          <a:custGeom>
            <a:avLst/>
            <a:gdLst/>
            <a:ahLst/>
            <a:cxnLst/>
            <a:rect l="l" t="t" r="r" b="b"/>
            <a:pathLst>
              <a:path w="871981" h="331749">
                <a:moveTo>
                  <a:pt x="808863" y="309524"/>
                </a:moveTo>
                <a:lnTo>
                  <a:pt x="796934" y="305232"/>
                </a:lnTo>
                <a:lnTo>
                  <a:pt x="787400" y="331749"/>
                </a:lnTo>
                <a:lnTo>
                  <a:pt x="871981" y="321690"/>
                </a:lnTo>
                <a:lnTo>
                  <a:pt x="808863" y="309524"/>
                </a:lnTo>
                <a:close/>
              </a:path>
              <a:path w="871981" h="331749">
                <a:moveTo>
                  <a:pt x="815594" y="290880"/>
                </a:moveTo>
                <a:lnTo>
                  <a:pt x="813180" y="260045"/>
                </a:lnTo>
                <a:lnTo>
                  <a:pt x="803639" y="286582"/>
                </a:lnTo>
                <a:lnTo>
                  <a:pt x="815594" y="290880"/>
                </a:lnTo>
                <a:close/>
              </a:path>
              <a:path w="871981" h="331749">
                <a:moveTo>
                  <a:pt x="6603" y="0"/>
                </a:moveTo>
                <a:lnTo>
                  <a:pt x="0" y="18541"/>
                </a:lnTo>
                <a:lnTo>
                  <a:pt x="796934" y="305232"/>
                </a:lnTo>
                <a:lnTo>
                  <a:pt x="808863" y="309524"/>
                </a:lnTo>
                <a:lnTo>
                  <a:pt x="871981" y="321690"/>
                </a:lnTo>
                <a:lnTo>
                  <a:pt x="813180" y="260045"/>
                </a:lnTo>
                <a:lnTo>
                  <a:pt x="815594" y="290880"/>
                </a:lnTo>
                <a:lnTo>
                  <a:pt x="803639" y="286582"/>
                </a:lnTo>
                <a:lnTo>
                  <a:pt x="6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55814" y="5132070"/>
            <a:ext cx="883919" cy="76200"/>
          </a:xfrm>
          <a:custGeom>
            <a:avLst/>
            <a:gdLst/>
            <a:ahLst/>
            <a:cxnLst/>
            <a:rect l="l" t="t" r="r" b="b"/>
            <a:pathLst>
              <a:path w="883919" h="76200">
                <a:moveTo>
                  <a:pt x="820419" y="48005"/>
                </a:moveTo>
                <a:lnTo>
                  <a:pt x="807720" y="48005"/>
                </a:lnTo>
                <a:lnTo>
                  <a:pt x="807719" y="76199"/>
                </a:lnTo>
                <a:lnTo>
                  <a:pt x="883919" y="38099"/>
                </a:lnTo>
                <a:lnTo>
                  <a:pt x="820419" y="48005"/>
                </a:lnTo>
                <a:close/>
              </a:path>
              <a:path w="883919" h="76200">
                <a:moveTo>
                  <a:pt x="820419" y="28193"/>
                </a:moveTo>
                <a:lnTo>
                  <a:pt x="807719" y="0"/>
                </a:lnTo>
                <a:lnTo>
                  <a:pt x="807720" y="28193"/>
                </a:lnTo>
                <a:lnTo>
                  <a:pt x="820419" y="28193"/>
                </a:lnTo>
                <a:close/>
              </a:path>
              <a:path w="883919" h="76200">
                <a:moveTo>
                  <a:pt x="0" y="28193"/>
                </a:moveTo>
                <a:lnTo>
                  <a:pt x="0" y="48005"/>
                </a:lnTo>
                <a:lnTo>
                  <a:pt x="820419" y="48005"/>
                </a:lnTo>
                <a:lnTo>
                  <a:pt x="883919" y="38099"/>
                </a:lnTo>
                <a:lnTo>
                  <a:pt x="807719" y="0"/>
                </a:lnTo>
                <a:lnTo>
                  <a:pt x="820419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63433" y="5756910"/>
            <a:ext cx="883920" cy="76200"/>
          </a:xfrm>
          <a:custGeom>
            <a:avLst/>
            <a:gdLst/>
            <a:ahLst/>
            <a:cxnLst/>
            <a:rect l="l" t="t" r="r" b="b"/>
            <a:pathLst>
              <a:path w="883920" h="76200">
                <a:moveTo>
                  <a:pt x="820420" y="48005"/>
                </a:moveTo>
                <a:lnTo>
                  <a:pt x="807720" y="48005"/>
                </a:lnTo>
                <a:lnTo>
                  <a:pt x="807720" y="76199"/>
                </a:lnTo>
                <a:lnTo>
                  <a:pt x="883920" y="38099"/>
                </a:lnTo>
                <a:lnTo>
                  <a:pt x="820420" y="48005"/>
                </a:lnTo>
                <a:close/>
              </a:path>
              <a:path w="883920" h="76200">
                <a:moveTo>
                  <a:pt x="820420" y="28193"/>
                </a:moveTo>
                <a:lnTo>
                  <a:pt x="807720" y="0"/>
                </a:lnTo>
                <a:lnTo>
                  <a:pt x="807720" y="28193"/>
                </a:lnTo>
                <a:lnTo>
                  <a:pt x="820420" y="28193"/>
                </a:lnTo>
                <a:close/>
              </a:path>
              <a:path w="883920" h="76200">
                <a:moveTo>
                  <a:pt x="0" y="28193"/>
                </a:moveTo>
                <a:lnTo>
                  <a:pt x="0" y="48005"/>
                </a:lnTo>
                <a:lnTo>
                  <a:pt x="820420" y="48005"/>
                </a:lnTo>
                <a:lnTo>
                  <a:pt x="883920" y="38099"/>
                </a:lnTo>
                <a:lnTo>
                  <a:pt x="807720" y="0"/>
                </a:lnTo>
                <a:lnTo>
                  <a:pt x="820420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7166" y="5071682"/>
            <a:ext cx="302964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>
                <a:latin typeface="Symbol"/>
                <a:cs typeface="Symbol"/>
              </a:rPr>
              <a:t>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0054" y="5028438"/>
            <a:ext cx="3305555" cy="8900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1302258" y="5028438"/>
            <a:ext cx="975360" cy="8900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024128" y="4698492"/>
            <a:ext cx="6637020" cy="15712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42"/>
              </a:spcBef>
            </a:pPr>
            <a:endParaRPr sz="500"/>
          </a:p>
          <a:p>
            <a:pPr marL="708405">
              <a:lnSpc>
                <a:spcPts val="5122"/>
              </a:lnSpc>
              <a:spcBef>
                <a:spcPts val="2000"/>
              </a:spcBef>
            </a:pPr>
            <a:r>
              <a:rPr sz="4200" spc="0" baseline="3000" dirty="0">
                <a:latin typeface="Times New Roman" pitchFamily="18" charset="0"/>
                <a:cs typeface="Times New Roman" pitchFamily="18" charset="0"/>
              </a:rPr>
              <a:t>f             </a:t>
            </a:r>
            <a:r>
              <a:rPr sz="4200" spc="268" baseline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4200" spc="0" baseline="32000" dirty="0">
                <a:latin typeface="Symbol"/>
                <a:cs typeface="Symbol"/>
              </a:rPr>
              <a:t></a:t>
            </a:r>
            <a:r>
              <a:rPr sz="4200" spc="0" baseline="340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sz="4200" spc="229" baseline="3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latin typeface="Arial" pitchFamily="34" charset="0"/>
                <a:cs typeface="Arial" pitchFamily="34" charset="0"/>
              </a:rPr>
              <a:t>Pro</a:t>
            </a:r>
            <a:r>
              <a:rPr sz="2400" spc="-9" dirty="0">
                <a:latin typeface="Arial" pitchFamily="34" charset="0"/>
                <a:cs typeface="Arial" pitchFamily="34" charset="0"/>
              </a:rPr>
              <a:t>b</a:t>
            </a:r>
            <a:r>
              <a:rPr sz="2400" spc="0" dirty="0">
                <a:latin typeface="Arial" pitchFamily="34" charset="0"/>
                <a:cs typeface="Arial" pitchFamily="34" charset="0"/>
              </a:rPr>
              <a:t>l</a:t>
            </a:r>
            <a:r>
              <a:rPr sz="2400" spc="-9" dirty="0">
                <a:latin typeface="Arial" pitchFamily="34" charset="0"/>
                <a:cs typeface="Arial" pitchFamily="34" charset="0"/>
              </a:rPr>
              <a:t>e</a:t>
            </a:r>
            <a:r>
              <a:rPr sz="2400" spc="0" dirty="0">
                <a:latin typeface="Arial" pitchFamily="34" charset="0"/>
                <a:cs typeface="Arial" pitchFamily="34" charset="0"/>
              </a:rPr>
              <a:t>m</a:t>
            </a:r>
            <a:r>
              <a:rPr sz="2400" spc="19" dirty="0"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>
                <a:latin typeface="Arial" pitchFamily="34" charset="0"/>
                <a:cs typeface="Arial" pitchFamily="34" charset="0"/>
              </a:rPr>
              <a:t>B</a:t>
            </a:r>
            <a:endParaRPr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326701" marR="3327585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Reduct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ons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9092">
              <a:lnSpc>
                <a:spcPts val="2165"/>
              </a:lnSpc>
              <a:spcBef>
                <a:spcPts val="108"/>
              </a:spcBef>
            </a:pPr>
            <a:r>
              <a:rPr sz="3450" spc="0" baseline="300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3450" spc="0" baseline="300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450" spc="257" baseline="300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4050" spc="0" baseline="3000" dirty="0">
                <a:latin typeface="Georgia"/>
                <a:cs typeface="Georgia"/>
              </a:rPr>
              <a:t>Reduction is</a:t>
            </a:r>
            <a:r>
              <a:rPr sz="4050" spc="-9" baseline="3000" dirty="0">
                <a:latin typeface="Georgia"/>
                <a:cs typeface="Georgia"/>
              </a:rPr>
              <a:t> </a:t>
            </a:r>
            <a:r>
              <a:rPr sz="4050" spc="0" baseline="3000" dirty="0">
                <a:latin typeface="Georgia"/>
                <a:cs typeface="Georgia"/>
              </a:rPr>
              <a:t>a way</a:t>
            </a:r>
            <a:r>
              <a:rPr sz="4050" spc="-9" baseline="3000" dirty="0">
                <a:latin typeface="Georgia"/>
                <a:cs typeface="Georgia"/>
              </a:rPr>
              <a:t> </a:t>
            </a:r>
            <a:r>
              <a:rPr sz="4050" spc="0" baseline="3000" dirty="0">
                <a:latin typeface="Georgia"/>
                <a:cs typeface="Georgia"/>
              </a:rPr>
              <a:t>of </a:t>
            </a:r>
            <a:r>
              <a:rPr sz="4050" spc="-9" baseline="3000" dirty="0">
                <a:latin typeface="Georgia"/>
                <a:cs typeface="Georgia"/>
              </a:rPr>
              <a:t>s</a:t>
            </a:r>
            <a:r>
              <a:rPr sz="4050" spc="0" baseline="3000" dirty="0">
                <a:latin typeface="Georgia"/>
                <a:cs typeface="Georgia"/>
              </a:rPr>
              <a:t>aying that</a:t>
            </a:r>
            <a:r>
              <a:rPr sz="4050" spc="14" baseline="3000" dirty="0">
                <a:latin typeface="Georgia"/>
                <a:cs typeface="Georgia"/>
              </a:rPr>
              <a:t> </a:t>
            </a:r>
            <a:r>
              <a:rPr sz="4050" spc="0" baseline="3000" dirty="0">
                <a:latin typeface="Georgia"/>
                <a:cs typeface="Georgia"/>
              </a:rPr>
              <a:t>one problem</a:t>
            </a:r>
            <a:r>
              <a:rPr sz="4050" spc="-34" baseline="3000" dirty="0">
                <a:latin typeface="Georgia"/>
                <a:cs typeface="Georgia"/>
              </a:rPr>
              <a:t> </a:t>
            </a:r>
            <a:r>
              <a:rPr sz="4050" spc="0" baseline="3000" dirty="0">
                <a:latin typeface="Georgia"/>
                <a:cs typeface="Georgia"/>
              </a:rPr>
              <a:t>is</a:t>
            </a:r>
            <a:endParaRPr sz="2700">
              <a:latin typeface="Georgia"/>
              <a:cs typeface="Georgia"/>
            </a:endParaRPr>
          </a:p>
          <a:p>
            <a:pPr marL="483412">
              <a:lnSpc>
                <a:spcPct val="94685"/>
              </a:lnSpc>
              <a:spcBef>
                <a:spcPts val="61"/>
              </a:spcBef>
            </a:pPr>
            <a:r>
              <a:rPr sz="2700" b="1" spc="0" dirty="0">
                <a:latin typeface="Georgia"/>
                <a:cs typeface="Georgia"/>
              </a:rPr>
              <a:t>“easier”</a:t>
            </a:r>
            <a:r>
              <a:rPr sz="2700" b="1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another.</a:t>
            </a:r>
            <a:endParaRPr sz="2700">
              <a:latin typeface="Georgia"/>
              <a:cs typeface="Georgia"/>
            </a:endParaRPr>
          </a:p>
          <a:p>
            <a:pPr marL="2090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We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y that</a:t>
            </a:r>
            <a:r>
              <a:rPr sz="2700" spc="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em</a:t>
            </a:r>
            <a:r>
              <a:rPr sz="2700" spc="-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is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easier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than </a:t>
            </a: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r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blem</a:t>
            </a:r>
            <a:r>
              <a:rPr sz="2700" spc="-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B,</a:t>
            </a:r>
            <a:endParaRPr sz="2700">
              <a:latin typeface="Georgia"/>
              <a:cs typeface="Georgia"/>
            </a:endParaRPr>
          </a:p>
          <a:p>
            <a:pPr marL="1993359" marR="3283997" algn="ctr">
              <a:lnSpc>
                <a:spcPts val="3254"/>
              </a:lnSpc>
              <a:spcBef>
                <a:spcPts val="162"/>
              </a:spcBef>
            </a:pPr>
            <a:r>
              <a:rPr sz="4050" spc="0" baseline="-1000" dirty="0">
                <a:latin typeface="Georgia"/>
                <a:cs typeface="Georgia"/>
              </a:rPr>
              <a:t>(i.e.,</a:t>
            </a:r>
            <a:r>
              <a:rPr sz="4050" spc="-19" baseline="-1000" dirty="0">
                <a:latin typeface="Georgia"/>
                <a:cs typeface="Georgia"/>
              </a:rPr>
              <a:t> </a:t>
            </a:r>
            <a:r>
              <a:rPr sz="4050" spc="0" baseline="-1000" dirty="0">
                <a:latin typeface="Georgia"/>
                <a:cs typeface="Georgia"/>
              </a:rPr>
              <a:t>we</a:t>
            </a:r>
            <a:r>
              <a:rPr sz="4050" spc="-9" baseline="-1000" dirty="0">
                <a:latin typeface="Georgia"/>
                <a:cs typeface="Georgia"/>
              </a:rPr>
              <a:t> </a:t>
            </a:r>
            <a:r>
              <a:rPr sz="4050" spc="0" baseline="-1000" dirty="0">
                <a:latin typeface="Georgia"/>
                <a:cs typeface="Georgia"/>
              </a:rPr>
              <a:t>write</a:t>
            </a:r>
            <a:r>
              <a:rPr sz="4050" spc="-14" baseline="-1000" dirty="0">
                <a:latin typeface="Georgia"/>
                <a:cs typeface="Georgia"/>
              </a:rPr>
              <a:t> </a:t>
            </a:r>
            <a:r>
              <a:rPr sz="4050" b="1" spc="0" baseline="-1000" dirty="0">
                <a:latin typeface="Georgia"/>
                <a:cs typeface="Georgia"/>
              </a:rPr>
              <a:t>“A</a:t>
            </a:r>
            <a:r>
              <a:rPr sz="4050" b="1" spc="9" baseline="-1000" dirty="0">
                <a:latin typeface="Georgia"/>
                <a:cs typeface="Georgia"/>
              </a:rPr>
              <a:t> </a:t>
            </a:r>
            <a:r>
              <a:rPr sz="4050" spc="0" baseline="-1000" dirty="0">
                <a:latin typeface="Symbol"/>
                <a:cs typeface="Symbol"/>
              </a:rPr>
              <a:t></a:t>
            </a:r>
            <a:r>
              <a:rPr sz="4050" spc="14" baseline="-1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4050" b="1" spc="-4" baseline="-1000" dirty="0">
                <a:latin typeface="Georgia"/>
                <a:cs typeface="Georgia"/>
              </a:rPr>
              <a:t>B</a:t>
            </a:r>
            <a:r>
              <a:rPr sz="4050" b="1" spc="4" baseline="-1000" dirty="0">
                <a:latin typeface="Georgia"/>
                <a:cs typeface="Georgia"/>
              </a:rPr>
              <a:t>”</a:t>
            </a:r>
            <a:r>
              <a:rPr sz="4050" spc="0" baseline="-1000" dirty="0">
                <a:latin typeface="Georgia"/>
                <a:cs typeface="Georgia"/>
              </a:rPr>
              <a:t>)</a:t>
            </a:r>
            <a:endParaRPr sz="2700">
              <a:latin typeface="Georgia"/>
              <a:cs typeface="Georgia"/>
            </a:endParaRPr>
          </a:p>
          <a:p>
            <a:pPr marL="455980">
              <a:lnSpc>
                <a:spcPct val="94685"/>
              </a:lnSpc>
              <a:spcBef>
                <a:spcPts val="644"/>
              </a:spcBef>
            </a:pPr>
            <a:r>
              <a:rPr sz="2700" spc="0" dirty="0">
                <a:latin typeface="Georgia"/>
                <a:cs typeface="Georgia"/>
              </a:rPr>
              <a:t>if we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can solve A 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sing the 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gorithm that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so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ves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B.</a:t>
            </a:r>
            <a:endParaRPr sz="2700">
              <a:latin typeface="Georgia"/>
              <a:cs typeface="Georgia"/>
            </a:endParaRPr>
          </a:p>
          <a:p>
            <a:pPr marL="209092">
              <a:lnSpc>
                <a:spcPct val="94685"/>
              </a:lnSpc>
              <a:spcBef>
                <a:spcPts val="82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b="1" spc="0" dirty="0">
                <a:latin typeface="Georgia"/>
                <a:cs typeface="Georgia"/>
              </a:rPr>
              <a:t>Idea:</a:t>
            </a:r>
            <a:r>
              <a:rPr sz="2700" b="1" spc="-34" dirty="0"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DD0011"/>
                </a:solidFill>
                <a:latin typeface="Georgia"/>
                <a:cs typeface="Georgia"/>
              </a:rPr>
              <a:t>transf</a:t>
            </a:r>
            <a:r>
              <a:rPr sz="2700" spc="-9" dirty="0">
                <a:solidFill>
                  <a:srgbClr val="DD0011"/>
                </a:solidFill>
                <a:latin typeface="Georgia"/>
                <a:cs typeface="Georgia"/>
              </a:rPr>
              <a:t>o</a:t>
            </a:r>
            <a:r>
              <a:rPr sz="2700" spc="0" dirty="0">
                <a:solidFill>
                  <a:srgbClr val="DD0011"/>
                </a:solidFill>
                <a:latin typeface="Georgia"/>
                <a:cs typeface="Georgia"/>
              </a:rPr>
              <a:t>rm the inputs</a:t>
            </a:r>
            <a:r>
              <a:rPr sz="2700" spc="-9" dirty="0">
                <a:solidFill>
                  <a:srgbClr val="DD0011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DD0011"/>
                </a:solidFill>
                <a:latin typeface="Georgia"/>
                <a:cs typeface="Georgia"/>
              </a:rPr>
              <a:t>of A</a:t>
            </a:r>
            <a:r>
              <a:rPr sz="2700" spc="-9" dirty="0">
                <a:solidFill>
                  <a:srgbClr val="DD0011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DD0011"/>
                </a:solidFill>
                <a:latin typeface="Georgia"/>
                <a:cs typeface="Georgia"/>
              </a:rPr>
              <a:t>to</a:t>
            </a:r>
            <a:r>
              <a:rPr sz="2700" spc="4" dirty="0">
                <a:solidFill>
                  <a:srgbClr val="DD0011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DD0011"/>
                </a:solidFill>
                <a:latin typeface="Georgia"/>
                <a:cs typeface="Georgia"/>
              </a:rPr>
              <a:t>inputs</a:t>
            </a:r>
            <a:r>
              <a:rPr sz="2700" spc="-9" dirty="0">
                <a:solidFill>
                  <a:srgbClr val="DD0011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DD0011"/>
                </a:solidFill>
                <a:latin typeface="Georgia"/>
                <a:cs typeface="Georgia"/>
              </a:rPr>
              <a:t>of B</a:t>
            </a:r>
            <a:endParaRPr sz="2700">
              <a:latin typeface="Georgia"/>
              <a:cs typeface="Georgia"/>
            </a:endParaRPr>
          </a:p>
          <a:p>
            <a:pPr marL="6853367" marR="658698" indent="-38100" algn="r">
              <a:lnSpc>
                <a:spcPts val="3750"/>
              </a:lnSpc>
              <a:spcBef>
                <a:spcPts val="7086"/>
              </a:spcBef>
              <a:tabLst>
                <a:tab pos="7797800" algn="l"/>
              </a:tabLst>
            </a:pPr>
            <a:r>
              <a:rPr sz="2700" spc="-25" baseline="-38000" dirty="0">
                <a:latin typeface="Arial" pitchFamily="34" charset="0"/>
                <a:cs typeface="Arial" pitchFamily="34" charset="0"/>
              </a:rPr>
              <a:t>y</a:t>
            </a:r>
            <a:r>
              <a:rPr sz="2700" spc="-4" baseline="-38000" dirty="0">
                <a:latin typeface="Arial" pitchFamily="34" charset="0"/>
                <a:cs typeface="Arial" pitchFamily="34" charset="0"/>
              </a:rPr>
              <a:t>e</a:t>
            </a:r>
            <a:r>
              <a:rPr sz="2700" spc="0" baseline="-38000" dirty="0">
                <a:latin typeface="Arial" pitchFamily="34" charset="0"/>
                <a:cs typeface="Arial" pitchFamily="34" charset="0"/>
              </a:rPr>
              <a:t>s        </a:t>
            </a:r>
            <a:r>
              <a:rPr sz="2700" spc="179" baseline="-38000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25" dirty="0">
                <a:latin typeface="Arial" pitchFamily="34" charset="0"/>
                <a:cs typeface="Arial" pitchFamily="34" charset="0"/>
              </a:rPr>
              <a:t>y</a:t>
            </a:r>
            <a:r>
              <a:rPr sz="1800" spc="0" dirty="0">
                <a:latin typeface="Arial" pitchFamily="34" charset="0"/>
                <a:cs typeface="Arial" pitchFamily="34" charset="0"/>
              </a:rPr>
              <a:t>es </a:t>
            </a:r>
            <a:endParaRPr sz="1800">
              <a:latin typeface="Arial" pitchFamily="34" charset="0"/>
              <a:cs typeface="Arial" pitchFamily="34" charset="0"/>
            </a:endParaRPr>
          </a:p>
          <a:p>
            <a:pPr marL="6853367" marR="658698" algn="r">
              <a:lnSpc>
                <a:spcPts val="3750"/>
              </a:lnSpc>
              <a:spcBef>
                <a:spcPts val="1200"/>
              </a:spcBef>
              <a:tabLst>
                <a:tab pos="7797800" algn="l"/>
              </a:tabLst>
            </a:pPr>
            <a:r>
              <a:rPr sz="2700" spc="-4" baseline="-38000" dirty="0">
                <a:latin typeface="Arial" pitchFamily="34" charset="0"/>
                <a:cs typeface="Arial" pitchFamily="34" charset="0"/>
              </a:rPr>
              <a:t>n</a:t>
            </a:r>
            <a:r>
              <a:rPr sz="2700" spc="0" baseline="-38000" dirty="0">
                <a:latin typeface="Arial" pitchFamily="34" charset="0"/>
                <a:cs typeface="Arial" pitchFamily="34" charset="0"/>
              </a:rPr>
              <a:t>o	</a:t>
            </a:r>
            <a:r>
              <a:rPr sz="1800" spc="-4" dirty="0">
                <a:latin typeface="Arial" pitchFamily="34" charset="0"/>
                <a:cs typeface="Arial" pitchFamily="34" charset="0"/>
              </a:rPr>
              <a:t>no</a:t>
            </a:r>
            <a:endParaRPr sz="1800">
              <a:latin typeface="Arial" pitchFamily="34" charset="0"/>
              <a:cs typeface="Arial" pitchFamily="34" charset="0"/>
            </a:endParaRPr>
          </a:p>
          <a:p>
            <a:pPr marL="2220722">
              <a:lnSpc>
                <a:spcPct val="95825"/>
              </a:lnSpc>
            </a:pPr>
            <a:r>
              <a:rPr sz="1800" spc="0" dirty="0">
                <a:latin typeface="Arial" pitchFamily="34" charset="0"/>
                <a:cs typeface="Arial" pitchFamily="34" charset="0"/>
              </a:rPr>
              <a:t>Pro</a:t>
            </a:r>
            <a:r>
              <a:rPr sz="1800" spc="-9" dirty="0">
                <a:latin typeface="Arial" pitchFamily="34" charset="0"/>
                <a:cs typeface="Arial" pitchFamily="34" charset="0"/>
              </a:rPr>
              <a:t>b</a:t>
            </a:r>
            <a:r>
              <a:rPr sz="1800" spc="0" dirty="0">
                <a:latin typeface="Arial" pitchFamily="34" charset="0"/>
                <a:cs typeface="Arial" pitchFamily="34" charset="0"/>
              </a:rPr>
              <a:t>l</a:t>
            </a:r>
            <a:r>
              <a:rPr sz="1800" spc="-9" dirty="0">
                <a:latin typeface="Arial" pitchFamily="34" charset="0"/>
                <a:cs typeface="Arial" pitchFamily="34" charset="0"/>
              </a:rPr>
              <a:t>e</a:t>
            </a:r>
            <a:r>
              <a:rPr sz="1800" spc="0" dirty="0">
                <a:latin typeface="Arial" pitchFamily="34" charset="0"/>
                <a:cs typeface="Arial" pitchFamily="34" charset="0"/>
              </a:rPr>
              <a:t>m</a:t>
            </a:r>
            <a:r>
              <a:rPr sz="1800" spc="-74" dirty="0">
                <a:latin typeface="Arial" pitchFamily="34" charset="0"/>
                <a:cs typeface="Arial" pitchFamily="34" charset="0"/>
              </a:rPr>
              <a:t> </a:t>
            </a:r>
            <a:r>
              <a:rPr sz="1800" spc="0" dirty="0">
                <a:latin typeface="Arial" pitchFamily="34" charset="0"/>
                <a:cs typeface="Arial" pitchFamily="34" charset="0"/>
              </a:rPr>
              <a:t>A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74420" y="1420368"/>
            <a:ext cx="6637020" cy="1571243"/>
          </a:xfrm>
          <a:custGeom>
            <a:avLst/>
            <a:gdLst/>
            <a:ahLst/>
            <a:cxnLst/>
            <a:rect l="l" t="t" r="r" b="b"/>
            <a:pathLst>
              <a:path w="6637020" h="1571243">
                <a:moveTo>
                  <a:pt x="0" y="1571243"/>
                </a:moveTo>
                <a:lnTo>
                  <a:pt x="6637020" y="1571243"/>
                </a:lnTo>
                <a:lnTo>
                  <a:pt x="6637020" y="0"/>
                </a:lnTo>
                <a:lnTo>
                  <a:pt x="0" y="0"/>
                </a:lnTo>
                <a:lnTo>
                  <a:pt x="0" y="157124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4420" y="1420368"/>
            <a:ext cx="6637020" cy="1571243"/>
          </a:xfrm>
          <a:custGeom>
            <a:avLst/>
            <a:gdLst/>
            <a:ahLst/>
            <a:cxnLst/>
            <a:rect l="l" t="t" r="r" b="b"/>
            <a:pathLst>
              <a:path w="6637020" h="1571243">
                <a:moveTo>
                  <a:pt x="0" y="1571243"/>
                </a:moveTo>
                <a:lnTo>
                  <a:pt x="6637020" y="1571243"/>
                </a:lnTo>
                <a:lnTo>
                  <a:pt x="6637020" y="0"/>
                </a:lnTo>
                <a:lnTo>
                  <a:pt x="0" y="0"/>
                </a:lnTo>
                <a:lnTo>
                  <a:pt x="0" y="15712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54074" y="1750314"/>
            <a:ext cx="973836" cy="890015"/>
          </a:xfrm>
          <a:custGeom>
            <a:avLst/>
            <a:gdLst/>
            <a:ahLst/>
            <a:cxnLst/>
            <a:rect l="l" t="t" r="r" b="b"/>
            <a:pathLst>
              <a:path w="973836" h="890015">
                <a:moveTo>
                  <a:pt x="0" y="890015"/>
                </a:moveTo>
                <a:lnTo>
                  <a:pt x="973836" y="890015"/>
                </a:lnTo>
                <a:lnTo>
                  <a:pt x="973836" y="0"/>
                </a:lnTo>
                <a:lnTo>
                  <a:pt x="0" y="0"/>
                </a:lnTo>
                <a:lnTo>
                  <a:pt x="0" y="8900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54074" y="1750314"/>
            <a:ext cx="973836" cy="890015"/>
          </a:xfrm>
          <a:custGeom>
            <a:avLst/>
            <a:gdLst/>
            <a:ahLst/>
            <a:cxnLst/>
            <a:rect l="l" t="t" r="r" b="b"/>
            <a:pathLst>
              <a:path w="973836" h="890015">
                <a:moveTo>
                  <a:pt x="0" y="890015"/>
                </a:moveTo>
                <a:lnTo>
                  <a:pt x="973836" y="890015"/>
                </a:lnTo>
                <a:lnTo>
                  <a:pt x="973836" y="0"/>
                </a:lnTo>
                <a:lnTo>
                  <a:pt x="0" y="0"/>
                </a:lnTo>
                <a:lnTo>
                  <a:pt x="0" y="890015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31870" y="1750314"/>
            <a:ext cx="3304031" cy="890015"/>
          </a:xfrm>
          <a:custGeom>
            <a:avLst/>
            <a:gdLst/>
            <a:ahLst/>
            <a:cxnLst/>
            <a:rect l="l" t="t" r="r" b="b"/>
            <a:pathLst>
              <a:path w="3304031" h="890015">
                <a:moveTo>
                  <a:pt x="0" y="890015"/>
                </a:moveTo>
                <a:lnTo>
                  <a:pt x="3304031" y="890015"/>
                </a:lnTo>
                <a:lnTo>
                  <a:pt x="3304031" y="0"/>
                </a:lnTo>
                <a:lnTo>
                  <a:pt x="0" y="0"/>
                </a:lnTo>
                <a:lnTo>
                  <a:pt x="0" y="8900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31870" y="1750314"/>
            <a:ext cx="3304031" cy="890015"/>
          </a:xfrm>
          <a:custGeom>
            <a:avLst/>
            <a:gdLst/>
            <a:ahLst/>
            <a:cxnLst/>
            <a:rect l="l" t="t" r="r" b="b"/>
            <a:pathLst>
              <a:path w="3304031" h="890015">
                <a:moveTo>
                  <a:pt x="0" y="890015"/>
                </a:moveTo>
                <a:lnTo>
                  <a:pt x="3304031" y="890015"/>
                </a:lnTo>
                <a:lnTo>
                  <a:pt x="3304031" y="0"/>
                </a:lnTo>
                <a:lnTo>
                  <a:pt x="0" y="0"/>
                </a:lnTo>
                <a:lnTo>
                  <a:pt x="0" y="89001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3870" y="2158746"/>
            <a:ext cx="883919" cy="76200"/>
          </a:xfrm>
          <a:custGeom>
            <a:avLst/>
            <a:gdLst/>
            <a:ahLst/>
            <a:cxnLst/>
            <a:rect l="l" t="t" r="r" b="b"/>
            <a:pathLst>
              <a:path w="883919" h="76200">
                <a:moveTo>
                  <a:pt x="820419" y="48005"/>
                </a:moveTo>
                <a:lnTo>
                  <a:pt x="807720" y="48005"/>
                </a:lnTo>
                <a:lnTo>
                  <a:pt x="807720" y="76200"/>
                </a:lnTo>
                <a:lnTo>
                  <a:pt x="883919" y="38100"/>
                </a:lnTo>
                <a:lnTo>
                  <a:pt x="820419" y="48005"/>
                </a:lnTo>
                <a:close/>
              </a:path>
              <a:path w="883919" h="76200">
                <a:moveTo>
                  <a:pt x="820419" y="28193"/>
                </a:moveTo>
                <a:lnTo>
                  <a:pt x="807720" y="0"/>
                </a:lnTo>
                <a:lnTo>
                  <a:pt x="807720" y="28193"/>
                </a:lnTo>
                <a:lnTo>
                  <a:pt x="820419" y="28193"/>
                </a:lnTo>
                <a:close/>
              </a:path>
              <a:path w="883919" h="76200">
                <a:moveTo>
                  <a:pt x="0" y="28193"/>
                </a:moveTo>
                <a:lnTo>
                  <a:pt x="0" y="48005"/>
                </a:lnTo>
                <a:lnTo>
                  <a:pt x="820419" y="48005"/>
                </a:lnTo>
                <a:lnTo>
                  <a:pt x="883919" y="38100"/>
                </a:lnTo>
                <a:lnTo>
                  <a:pt x="807720" y="0"/>
                </a:lnTo>
                <a:lnTo>
                  <a:pt x="820419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50770" y="2158746"/>
            <a:ext cx="1181100" cy="76200"/>
          </a:xfrm>
          <a:custGeom>
            <a:avLst/>
            <a:gdLst/>
            <a:ahLst/>
            <a:cxnLst/>
            <a:rect l="l" t="t" r="r" b="b"/>
            <a:pathLst>
              <a:path w="1181100" h="76200">
                <a:moveTo>
                  <a:pt x="1117600" y="48005"/>
                </a:moveTo>
                <a:lnTo>
                  <a:pt x="1104900" y="48005"/>
                </a:lnTo>
                <a:lnTo>
                  <a:pt x="1104900" y="76200"/>
                </a:lnTo>
                <a:lnTo>
                  <a:pt x="1181100" y="38100"/>
                </a:lnTo>
                <a:lnTo>
                  <a:pt x="1117600" y="48005"/>
                </a:lnTo>
                <a:close/>
              </a:path>
              <a:path w="1181100" h="76200">
                <a:moveTo>
                  <a:pt x="1117600" y="28193"/>
                </a:moveTo>
                <a:lnTo>
                  <a:pt x="1104900" y="0"/>
                </a:lnTo>
                <a:lnTo>
                  <a:pt x="1104900" y="28193"/>
                </a:lnTo>
                <a:lnTo>
                  <a:pt x="1117600" y="28193"/>
                </a:lnTo>
                <a:close/>
              </a:path>
              <a:path w="1181100" h="76200">
                <a:moveTo>
                  <a:pt x="0" y="28193"/>
                </a:moveTo>
                <a:lnTo>
                  <a:pt x="0" y="48005"/>
                </a:lnTo>
                <a:lnTo>
                  <a:pt x="1117600" y="48005"/>
                </a:lnTo>
                <a:lnTo>
                  <a:pt x="1181100" y="38100"/>
                </a:lnTo>
                <a:lnTo>
                  <a:pt x="1104900" y="0"/>
                </a:lnTo>
                <a:lnTo>
                  <a:pt x="1117600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40093" y="1872996"/>
            <a:ext cx="870584" cy="333120"/>
          </a:xfrm>
          <a:custGeom>
            <a:avLst/>
            <a:gdLst/>
            <a:ahLst/>
            <a:cxnLst/>
            <a:rect l="l" t="t" r="r" b="b"/>
            <a:pathLst>
              <a:path w="870584" h="333120">
                <a:moveTo>
                  <a:pt x="0" y="314578"/>
                </a:moveTo>
                <a:lnTo>
                  <a:pt x="6857" y="333120"/>
                </a:lnTo>
                <a:lnTo>
                  <a:pt x="802346" y="45183"/>
                </a:lnTo>
                <a:lnTo>
                  <a:pt x="814197" y="40893"/>
                </a:lnTo>
                <a:lnTo>
                  <a:pt x="811910" y="71627"/>
                </a:lnTo>
                <a:lnTo>
                  <a:pt x="870584" y="9905"/>
                </a:lnTo>
                <a:lnTo>
                  <a:pt x="807465" y="22225"/>
                </a:lnTo>
                <a:lnTo>
                  <a:pt x="795596" y="26522"/>
                </a:lnTo>
                <a:lnTo>
                  <a:pt x="0" y="314578"/>
                </a:lnTo>
                <a:close/>
              </a:path>
              <a:path w="870584" h="333120">
                <a:moveTo>
                  <a:pt x="807465" y="22225"/>
                </a:moveTo>
                <a:lnTo>
                  <a:pt x="870584" y="9905"/>
                </a:lnTo>
                <a:lnTo>
                  <a:pt x="786002" y="0"/>
                </a:lnTo>
                <a:lnTo>
                  <a:pt x="795596" y="26522"/>
                </a:lnTo>
                <a:lnTo>
                  <a:pt x="807465" y="22225"/>
                </a:lnTo>
                <a:close/>
              </a:path>
              <a:path w="870584" h="333120">
                <a:moveTo>
                  <a:pt x="811910" y="71627"/>
                </a:moveTo>
                <a:lnTo>
                  <a:pt x="814197" y="40893"/>
                </a:lnTo>
                <a:lnTo>
                  <a:pt x="802346" y="45183"/>
                </a:lnTo>
                <a:lnTo>
                  <a:pt x="811910" y="71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40220" y="2208911"/>
            <a:ext cx="870457" cy="331724"/>
          </a:xfrm>
          <a:custGeom>
            <a:avLst/>
            <a:gdLst/>
            <a:ahLst/>
            <a:cxnLst/>
            <a:rect l="l" t="t" r="r" b="b"/>
            <a:pathLst>
              <a:path w="870457" h="331724">
                <a:moveTo>
                  <a:pt x="807338" y="309499"/>
                </a:moveTo>
                <a:lnTo>
                  <a:pt x="795406" y="305198"/>
                </a:lnTo>
                <a:lnTo>
                  <a:pt x="785876" y="331724"/>
                </a:lnTo>
                <a:lnTo>
                  <a:pt x="870457" y="321690"/>
                </a:lnTo>
                <a:lnTo>
                  <a:pt x="807338" y="309499"/>
                </a:lnTo>
                <a:close/>
              </a:path>
              <a:path w="870457" h="331724">
                <a:moveTo>
                  <a:pt x="814070" y="290829"/>
                </a:moveTo>
                <a:lnTo>
                  <a:pt x="811656" y="259968"/>
                </a:lnTo>
                <a:lnTo>
                  <a:pt x="802115" y="286524"/>
                </a:lnTo>
                <a:lnTo>
                  <a:pt x="814070" y="290829"/>
                </a:lnTo>
                <a:close/>
              </a:path>
              <a:path w="870457" h="331724">
                <a:moveTo>
                  <a:pt x="6603" y="0"/>
                </a:moveTo>
                <a:lnTo>
                  <a:pt x="0" y="18541"/>
                </a:lnTo>
                <a:lnTo>
                  <a:pt x="795406" y="305198"/>
                </a:lnTo>
                <a:lnTo>
                  <a:pt x="807338" y="309499"/>
                </a:lnTo>
                <a:lnTo>
                  <a:pt x="870457" y="321690"/>
                </a:lnTo>
                <a:lnTo>
                  <a:pt x="811656" y="259968"/>
                </a:lnTo>
                <a:lnTo>
                  <a:pt x="814070" y="290829"/>
                </a:lnTo>
                <a:lnTo>
                  <a:pt x="802115" y="286524"/>
                </a:lnTo>
                <a:lnTo>
                  <a:pt x="6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06106" y="1853946"/>
            <a:ext cx="883920" cy="76200"/>
          </a:xfrm>
          <a:custGeom>
            <a:avLst/>
            <a:gdLst/>
            <a:ahLst/>
            <a:cxnLst/>
            <a:rect l="l" t="t" r="r" b="b"/>
            <a:pathLst>
              <a:path w="883920" h="76200">
                <a:moveTo>
                  <a:pt x="820420" y="48005"/>
                </a:moveTo>
                <a:lnTo>
                  <a:pt x="807720" y="48005"/>
                </a:lnTo>
                <a:lnTo>
                  <a:pt x="807720" y="76200"/>
                </a:lnTo>
                <a:lnTo>
                  <a:pt x="883920" y="38100"/>
                </a:lnTo>
                <a:lnTo>
                  <a:pt x="820420" y="48005"/>
                </a:lnTo>
                <a:close/>
              </a:path>
              <a:path w="883920" h="76200">
                <a:moveTo>
                  <a:pt x="820420" y="28193"/>
                </a:moveTo>
                <a:lnTo>
                  <a:pt x="807720" y="0"/>
                </a:lnTo>
                <a:lnTo>
                  <a:pt x="807720" y="28193"/>
                </a:lnTo>
                <a:lnTo>
                  <a:pt x="820420" y="28193"/>
                </a:lnTo>
                <a:close/>
              </a:path>
              <a:path w="883920" h="76200">
                <a:moveTo>
                  <a:pt x="0" y="28193"/>
                </a:moveTo>
                <a:lnTo>
                  <a:pt x="0" y="48005"/>
                </a:lnTo>
                <a:lnTo>
                  <a:pt x="820420" y="48005"/>
                </a:lnTo>
                <a:lnTo>
                  <a:pt x="883920" y="38100"/>
                </a:lnTo>
                <a:lnTo>
                  <a:pt x="807720" y="0"/>
                </a:lnTo>
                <a:lnTo>
                  <a:pt x="820420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13726" y="2478786"/>
            <a:ext cx="885444" cy="76200"/>
          </a:xfrm>
          <a:custGeom>
            <a:avLst/>
            <a:gdLst/>
            <a:ahLst/>
            <a:cxnLst/>
            <a:rect l="l" t="t" r="r" b="b"/>
            <a:pathLst>
              <a:path w="885444" h="76200">
                <a:moveTo>
                  <a:pt x="821944" y="48005"/>
                </a:moveTo>
                <a:lnTo>
                  <a:pt x="809243" y="48006"/>
                </a:lnTo>
                <a:lnTo>
                  <a:pt x="809244" y="76200"/>
                </a:lnTo>
                <a:lnTo>
                  <a:pt x="885444" y="38100"/>
                </a:lnTo>
                <a:lnTo>
                  <a:pt x="821944" y="48005"/>
                </a:lnTo>
                <a:close/>
              </a:path>
              <a:path w="885444" h="76200">
                <a:moveTo>
                  <a:pt x="821944" y="28193"/>
                </a:moveTo>
                <a:lnTo>
                  <a:pt x="809244" y="0"/>
                </a:lnTo>
                <a:lnTo>
                  <a:pt x="809244" y="28193"/>
                </a:lnTo>
                <a:lnTo>
                  <a:pt x="821944" y="28193"/>
                </a:lnTo>
                <a:close/>
              </a:path>
              <a:path w="885444" h="76200">
                <a:moveTo>
                  <a:pt x="0" y="28193"/>
                </a:moveTo>
                <a:lnTo>
                  <a:pt x="0" y="48005"/>
                </a:lnTo>
                <a:lnTo>
                  <a:pt x="821944" y="48005"/>
                </a:lnTo>
                <a:lnTo>
                  <a:pt x="885444" y="38100"/>
                </a:lnTo>
                <a:lnTo>
                  <a:pt x="809244" y="0"/>
                </a:lnTo>
                <a:lnTo>
                  <a:pt x="821944" y="28193"/>
                </a:lnTo>
                <a:lnTo>
                  <a:pt x="0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68523" y="1792669"/>
            <a:ext cx="273822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00"/>
              </a:lnSpc>
              <a:spcBef>
                <a:spcPts val="150"/>
              </a:spcBef>
            </a:pPr>
            <a:r>
              <a:rPr sz="2800" spc="0" dirty="0">
                <a:latin typeface="Symbol"/>
                <a:cs typeface="Symbol"/>
              </a:rPr>
              <a:t>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1870" y="1750314"/>
            <a:ext cx="3304031" cy="8900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40434">
              <a:lnSpc>
                <a:spcPct val="95825"/>
              </a:lnSpc>
              <a:spcBef>
                <a:spcPts val="1151"/>
              </a:spcBef>
            </a:pPr>
            <a:r>
              <a:rPr sz="2400" spc="0" dirty="0">
                <a:latin typeface="Arial" pitchFamily="34" charset="0"/>
                <a:cs typeface="Arial" pitchFamily="34" charset="0"/>
              </a:rPr>
              <a:t>Pro</a:t>
            </a:r>
            <a:r>
              <a:rPr sz="2400" spc="-9" dirty="0">
                <a:latin typeface="Arial" pitchFamily="34" charset="0"/>
                <a:cs typeface="Arial" pitchFamily="34" charset="0"/>
              </a:rPr>
              <a:t>b</a:t>
            </a:r>
            <a:r>
              <a:rPr sz="2400" spc="0" dirty="0">
                <a:latin typeface="Arial" pitchFamily="34" charset="0"/>
                <a:cs typeface="Arial" pitchFamily="34" charset="0"/>
              </a:rPr>
              <a:t>l</a:t>
            </a:r>
            <a:r>
              <a:rPr sz="2400" spc="-9" dirty="0">
                <a:latin typeface="Arial" pitchFamily="34" charset="0"/>
                <a:cs typeface="Arial" pitchFamily="34" charset="0"/>
              </a:rPr>
              <a:t>e</a:t>
            </a:r>
            <a:r>
              <a:rPr sz="2400" spc="0" dirty="0">
                <a:latin typeface="Arial" pitchFamily="34" charset="0"/>
                <a:cs typeface="Arial" pitchFamily="34" charset="0"/>
              </a:rPr>
              <a:t>m</a:t>
            </a:r>
            <a:r>
              <a:rPr sz="2400" spc="19" dirty="0"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>
                <a:latin typeface="Arial" pitchFamily="34" charset="0"/>
                <a:cs typeface="Arial" pitchFamily="34" charset="0"/>
              </a:rPr>
              <a:t>B</a:t>
            </a:r>
            <a:endParaRPr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074" y="1750314"/>
            <a:ext cx="973836" cy="8900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2"/>
              </a:spcBef>
            </a:pPr>
            <a:endParaRPr sz="600"/>
          </a:p>
          <a:p>
            <a:pPr marL="389905" marR="391556" algn="ctr">
              <a:lnSpc>
                <a:spcPct val="95825"/>
              </a:lnSpc>
              <a:spcBef>
                <a:spcPts val="1000"/>
              </a:spcBef>
            </a:pPr>
            <a:r>
              <a:rPr sz="2800" spc="0" dirty="0">
                <a:latin typeface="Times New Roman" pitchFamily="18" charset="0"/>
                <a:cs typeface="Times New Roman" pitchFamily="18" charset="0"/>
              </a:rPr>
              <a:t>f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009520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Implic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tions of</a:t>
            </a:r>
            <a:r>
              <a:rPr sz="33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9" dirty="0">
                <a:solidFill>
                  <a:srgbClr val="8B438F"/>
                </a:solidFill>
                <a:latin typeface="Georgia"/>
                <a:cs typeface="Georgia"/>
              </a:rPr>
              <a:t>R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educt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on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00" y="1277112"/>
            <a:ext cx="8833866" cy="1318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52400" y="1408938"/>
            <a:ext cx="922019" cy="15826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2"/>
              </a:spcBef>
            </a:pPr>
            <a:endParaRPr sz="600"/>
          </a:p>
          <a:p>
            <a:pPr marR="39396" algn="r">
              <a:lnSpc>
                <a:spcPct val="102091"/>
              </a:lnSpc>
              <a:spcBef>
                <a:spcPts val="2000"/>
              </a:spcBef>
            </a:pPr>
            <a:r>
              <a:rPr sz="2800" spc="0" dirty="0">
                <a:latin typeface="Symbol"/>
                <a:cs typeface="Symbol"/>
              </a:rPr>
              <a:t>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420" y="1408938"/>
            <a:ext cx="6637020" cy="15826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44"/>
              </a:spcBef>
            </a:pPr>
            <a:endParaRPr sz="600"/>
          </a:p>
          <a:p>
            <a:pPr marR="278397" algn="r">
              <a:lnSpc>
                <a:spcPct val="95825"/>
              </a:lnSpc>
              <a:spcBef>
                <a:spcPts val="2000"/>
              </a:spcBef>
            </a:pPr>
            <a:r>
              <a:rPr sz="1800" spc="-25" dirty="0">
                <a:latin typeface="Arial" pitchFamily="34" charset="0"/>
                <a:cs typeface="Arial" pitchFamily="34" charset="0"/>
              </a:rPr>
              <a:t>y</a:t>
            </a:r>
            <a:r>
              <a:rPr sz="1800" spc="-4" dirty="0">
                <a:latin typeface="Arial" pitchFamily="34" charset="0"/>
                <a:cs typeface="Arial" pitchFamily="34" charset="0"/>
              </a:rPr>
              <a:t>e</a:t>
            </a:r>
            <a:r>
              <a:rPr sz="1800" spc="0" dirty="0">
                <a:latin typeface="Arial" pitchFamily="34" charset="0"/>
                <a:cs typeface="Arial" pitchFamily="34" charset="0"/>
              </a:rPr>
              <a:t>s</a:t>
            </a:r>
            <a:endParaRPr sz="1800">
              <a:latin typeface="Arial" pitchFamily="34" charset="0"/>
              <a:cs typeface="Arial" pitchFamily="34" charset="0"/>
            </a:endParaRPr>
          </a:p>
          <a:p>
            <a:pPr marR="339598" algn="r">
              <a:lnSpc>
                <a:spcPct val="95825"/>
              </a:lnSpc>
              <a:spcBef>
                <a:spcPts val="2908"/>
              </a:spcBef>
            </a:pPr>
            <a:r>
              <a:rPr sz="1800" spc="-4" dirty="0">
                <a:latin typeface="Arial" pitchFamily="34" charset="0"/>
                <a:cs typeface="Arial" pitchFamily="34" charset="0"/>
              </a:rPr>
              <a:t>no</a:t>
            </a:r>
            <a:endParaRPr sz="1800">
              <a:latin typeface="Arial" pitchFamily="34" charset="0"/>
              <a:cs typeface="Arial" pitchFamily="34" charset="0"/>
            </a:endParaRPr>
          </a:p>
          <a:p>
            <a:pPr marL="1349375">
              <a:lnSpc>
                <a:spcPct val="95825"/>
              </a:lnSpc>
              <a:spcBef>
                <a:spcPts val="440"/>
              </a:spcBef>
            </a:pPr>
            <a:r>
              <a:rPr sz="1800" spc="0" dirty="0">
                <a:latin typeface="Arial" pitchFamily="34" charset="0"/>
                <a:cs typeface="Arial" pitchFamily="34" charset="0"/>
              </a:rPr>
              <a:t>Pro</a:t>
            </a:r>
            <a:r>
              <a:rPr sz="1800" spc="-9" dirty="0">
                <a:latin typeface="Arial" pitchFamily="34" charset="0"/>
                <a:cs typeface="Arial" pitchFamily="34" charset="0"/>
              </a:rPr>
              <a:t>b</a:t>
            </a:r>
            <a:r>
              <a:rPr sz="1800" spc="0" dirty="0">
                <a:latin typeface="Arial" pitchFamily="34" charset="0"/>
                <a:cs typeface="Arial" pitchFamily="34" charset="0"/>
              </a:rPr>
              <a:t>l</a:t>
            </a:r>
            <a:r>
              <a:rPr sz="1800" spc="-9" dirty="0">
                <a:latin typeface="Arial" pitchFamily="34" charset="0"/>
                <a:cs typeface="Arial" pitchFamily="34" charset="0"/>
              </a:rPr>
              <a:t>e</a:t>
            </a:r>
            <a:r>
              <a:rPr sz="1800" spc="0" dirty="0">
                <a:latin typeface="Arial" pitchFamily="34" charset="0"/>
                <a:cs typeface="Arial" pitchFamily="34" charset="0"/>
              </a:rPr>
              <a:t>m</a:t>
            </a:r>
            <a:r>
              <a:rPr sz="1800" spc="-74" dirty="0">
                <a:latin typeface="Arial" pitchFamily="34" charset="0"/>
                <a:cs typeface="Arial" pitchFamily="34" charset="0"/>
              </a:rPr>
              <a:t> </a:t>
            </a:r>
            <a:r>
              <a:rPr sz="1800" spc="0" dirty="0">
                <a:latin typeface="Arial" pitchFamily="34" charset="0"/>
                <a:cs typeface="Arial" pitchFamily="34" charset="0"/>
              </a:rPr>
              <a:t>A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1440" y="1408938"/>
            <a:ext cx="1274825" cy="15826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44"/>
              </a:spcBef>
            </a:pPr>
            <a:endParaRPr sz="1400"/>
          </a:p>
          <a:p>
            <a:pPr marL="314198">
              <a:lnSpc>
                <a:spcPct val="95825"/>
              </a:lnSpc>
            </a:pPr>
            <a:r>
              <a:rPr sz="1800" spc="-25" dirty="0">
                <a:latin typeface="Arial" pitchFamily="34" charset="0"/>
                <a:cs typeface="Arial" pitchFamily="34" charset="0"/>
              </a:rPr>
              <a:t>y</a:t>
            </a:r>
            <a:r>
              <a:rPr sz="1800" spc="-4" dirty="0">
                <a:latin typeface="Arial" pitchFamily="34" charset="0"/>
                <a:cs typeface="Arial" pitchFamily="34" charset="0"/>
              </a:rPr>
              <a:t>e</a:t>
            </a:r>
            <a:r>
              <a:rPr sz="1800" spc="0" dirty="0">
                <a:latin typeface="Arial" pitchFamily="34" charset="0"/>
                <a:cs typeface="Arial" pitchFamily="34" charset="0"/>
              </a:rPr>
              <a:t>s</a:t>
            </a:r>
            <a:endParaRPr sz="1800">
              <a:latin typeface="Arial" pitchFamily="34" charset="0"/>
              <a:cs typeface="Arial" pitchFamily="34" charset="0"/>
            </a:endParaRPr>
          </a:p>
          <a:p>
            <a:pPr marL="352298">
              <a:lnSpc>
                <a:spcPct val="95825"/>
              </a:lnSpc>
              <a:spcBef>
                <a:spcPts val="2908"/>
              </a:spcBef>
            </a:pPr>
            <a:r>
              <a:rPr sz="1800" spc="-4" dirty="0">
                <a:latin typeface="Arial" pitchFamily="34" charset="0"/>
                <a:cs typeface="Arial" pitchFamily="34" charset="0"/>
              </a:rPr>
              <a:t>no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2991612"/>
            <a:ext cx="8833866" cy="33969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2"/>
              </a:spcBef>
            </a:pPr>
            <a:endParaRPr sz="800"/>
          </a:p>
          <a:p>
            <a:pPr marL="1081125">
              <a:lnSpc>
                <a:spcPts val="2611"/>
              </a:lnSpc>
              <a:spcBef>
                <a:spcPts val="3000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-</a:t>
            </a:r>
            <a:r>
              <a:rPr sz="2200" spc="-1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If A </a:t>
            </a:r>
            <a:r>
              <a:rPr sz="2200" spc="-4" dirty="0">
                <a:solidFill>
                  <a:srgbClr val="424455"/>
                </a:solidFill>
                <a:latin typeface="Symbol"/>
                <a:cs typeface="Symbol"/>
              </a:rPr>
              <a:t></a:t>
            </a:r>
            <a:r>
              <a:rPr sz="2175" spc="0" baseline="-2200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175" spc="187" baseline="-2200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 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-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 </a:t>
            </a:r>
            <a:r>
              <a:rPr sz="2200" spc="0" dirty="0">
                <a:solidFill>
                  <a:srgbClr val="424455"/>
                </a:solidFill>
                <a:latin typeface="Symbol"/>
                <a:cs typeface="Symbol"/>
              </a:rPr>
              <a:t></a:t>
            </a:r>
            <a:r>
              <a:rPr sz="2200" spc="-29" dirty="0">
                <a:solidFill>
                  <a:srgbClr val="42445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P,</a:t>
            </a:r>
            <a:r>
              <a:rPr sz="22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then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 </a:t>
            </a:r>
            <a:r>
              <a:rPr sz="2200" spc="0" dirty="0">
                <a:solidFill>
                  <a:srgbClr val="424455"/>
                </a:solidFill>
                <a:latin typeface="Symbol"/>
                <a:cs typeface="Symbol"/>
              </a:rPr>
              <a:t></a:t>
            </a:r>
            <a:r>
              <a:rPr sz="2200" spc="-29" dirty="0">
                <a:solidFill>
                  <a:srgbClr val="42445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endParaRPr sz="2200">
              <a:latin typeface="Georgia"/>
              <a:cs typeface="Georgia"/>
            </a:endParaRPr>
          </a:p>
          <a:p>
            <a:pPr marL="1081125">
              <a:lnSpc>
                <a:spcPts val="2611"/>
              </a:lnSpc>
              <a:spcBef>
                <a:spcPts val="1673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-</a:t>
            </a:r>
            <a:r>
              <a:rPr sz="2200" spc="-1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if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Symbol"/>
                <a:cs typeface="Symbol"/>
              </a:rPr>
              <a:t></a:t>
            </a:r>
            <a:r>
              <a:rPr sz="2175" spc="0" baseline="-2200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175" spc="202" baseline="-2200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and</a:t>
            </a:r>
            <a:r>
              <a:rPr sz="2200" spc="-3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Symbol"/>
                <a:cs typeface="Symbol"/>
              </a:rPr>
              <a:t></a:t>
            </a:r>
            <a:r>
              <a:rPr sz="2200" spc="-45" dirty="0">
                <a:solidFill>
                  <a:srgbClr val="42445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P,</a:t>
            </a:r>
            <a:r>
              <a:rPr sz="2200" spc="-3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then</a:t>
            </a:r>
            <a:r>
              <a:rPr sz="2200" spc="-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Symbol"/>
                <a:cs typeface="Symbol"/>
              </a:rPr>
              <a:t></a:t>
            </a:r>
            <a:r>
              <a:rPr sz="2200" spc="-45" dirty="0">
                <a:solidFill>
                  <a:srgbClr val="42445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290125" marR="3289579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Importance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"/>
              </a:spcBef>
            </a:pPr>
            <a:endParaRPr sz="55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1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1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100" spc="103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spc="0" dirty="0">
                <a:latin typeface="Georgia"/>
                <a:cs typeface="Georgia"/>
              </a:rPr>
              <a:t>L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arning</a:t>
            </a:r>
            <a:r>
              <a:rPr sz="2500" spc="-8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reduction</a:t>
            </a:r>
            <a:r>
              <a:rPr sz="2500" spc="-7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in g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neral</a:t>
            </a:r>
            <a:r>
              <a:rPr sz="2500" spc="-6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is</a:t>
            </a:r>
            <a:r>
              <a:rPr sz="2500" spc="-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very</a:t>
            </a:r>
            <a:r>
              <a:rPr sz="2500" spc="-5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importan</a:t>
            </a:r>
            <a:r>
              <a:rPr sz="2500" spc="4" dirty="0">
                <a:latin typeface="Georgia"/>
                <a:cs typeface="Georgia"/>
              </a:rPr>
              <a:t>t</a:t>
            </a:r>
            <a:r>
              <a:rPr sz="2500" spc="0" dirty="0">
                <a:latin typeface="Georgia"/>
                <a:cs typeface="Georgia"/>
              </a:rPr>
              <a:t>.</a:t>
            </a:r>
            <a:endParaRPr sz="2500">
              <a:latin typeface="Georgia"/>
              <a:cs typeface="Georgia"/>
            </a:endParaRPr>
          </a:p>
          <a:p>
            <a:pPr marL="515112" marR="218374" indent="-274320" algn="just">
              <a:lnSpc>
                <a:spcPts val="2840"/>
              </a:lnSpc>
              <a:spcBef>
                <a:spcPts val="759"/>
              </a:spcBef>
            </a:pPr>
            <a:r>
              <a:rPr sz="21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1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100" spc="81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spc="0" dirty="0">
                <a:latin typeface="Georgia"/>
                <a:cs typeface="Georgia"/>
              </a:rPr>
              <a:t>F</a:t>
            </a:r>
            <a:r>
              <a:rPr sz="2500" spc="4" dirty="0">
                <a:latin typeface="Georgia"/>
                <a:cs typeface="Georgia"/>
              </a:rPr>
              <a:t>o</a:t>
            </a:r>
            <a:r>
              <a:rPr sz="2500" spc="0" dirty="0">
                <a:latin typeface="Georgia"/>
                <a:cs typeface="Georgia"/>
              </a:rPr>
              <a:t>r</a:t>
            </a:r>
            <a:r>
              <a:rPr sz="2500" spc="6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ex</a:t>
            </a:r>
            <a:r>
              <a:rPr sz="2500" spc="14" dirty="0">
                <a:latin typeface="Georgia"/>
                <a:cs typeface="Georgia"/>
              </a:rPr>
              <a:t>a</a:t>
            </a:r>
            <a:r>
              <a:rPr sz="2500" spc="0" dirty="0">
                <a:latin typeface="Georgia"/>
                <a:cs typeface="Georgia"/>
              </a:rPr>
              <a:t>m</a:t>
            </a:r>
            <a:r>
              <a:rPr sz="2500" spc="9" dirty="0">
                <a:latin typeface="Georgia"/>
                <a:cs typeface="Georgia"/>
              </a:rPr>
              <a:t>p</a:t>
            </a:r>
            <a:r>
              <a:rPr sz="2500" spc="0" dirty="0">
                <a:latin typeface="Georgia"/>
                <a:cs typeface="Georgia"/>
              </a:rPr>
              <a:t>l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,</a:t>
            </a:r>
            <a:r>
              <a:rPr sz="2500" spc="10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i</a:t>
            </a:r>
            <a:r>
              <a:rPr sz="2500" spc="0" dirty="0">
                <a:latin typeface="Georgia"/>
                <a:cs typeface="Georgia"/>
              </a:rPr>
              <a:t>f</a:t>
            </a:r>
            <a:r>
              <a:rPr sz="2500" spc="98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6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have</a:t>
            </a:r>
            <a:r>
              <a:rPr sz="2500" spc="4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libr</a:t>
            </a:r>
            <a:r>
              <a:rPr sz="2500" spc="9" dirty="0">
                <a:latin typeface="Georgia"/>
                <a:cs typeface="Georgia"/>
              </a:rPr>
              <a:t>a</a:t>
            </a:r>
            <a:r>
              <a:rPr sz="2500" spc="0" dirty="0">
                <a:latin typeface="Georgia"/>
                <a:cs typeface="Georgia"/>
              </a:rPr>
              <a:t>ry</a:t>
            </a:r>
            <a:r>
              <a:rPr sz="2500" spc="19" dirty="0">
                <a:latin typeface="Georgia"/>
                <a:cs typeface="Georgia"/>
              </a:rPr>
              <a:t> </a:t>
            </a:r>
            <a:r>
              <a:rPr sz="2500" spc="14" dirty="0">
                <a:latin typeface="Georgia"/>
                <a:cs typeface="Georgia"/>
              </a:rPr>
              <a:t>f</a:t>
            </a:r>
            <a:r>
              <a:rPr sz="2500" spc="0" dirty="0">
                <a:latin typeface="Georgia"/>
                <a:cs typeface="Georgia"/>
              </a:rPr>
              <a:t>unctions </a:t>
            </a:r>
            <a:r>
              <a:rPr sz="2500" spc="14" dirty="0">
                <a:latin typeface="Georgia"/>
                <a:cs typeface="Georgia"/>
              </a:rPr>
              <a:t>t</a:t>
            </a:r>
            <a:r>
              <a:rPr sz="2500" spc="0" dirty="0">
                <a:latin typeface="Georgia"/>
                <a:cs typeface="Georgia"/>
              </a:rPr>
              <a:t>o</a:t>
            </a:r>
            <a:r>
              <a:rPr sz="2500" spc="7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solve</a:t>
            </a:r>
            <a:r>
              <a:rPr sz="2500" spc="4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c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4" dirty="0">
                <a:latin typeface="Georgia"/>
                <a:cs typeface="Georgia"/>
              </a:rPr>
              <a:t>r</a:t>
            </a:r>
            <a:r>
              <a:rPr sz="2500" spc="0" dirty="0">
                <a:latin typeface="Georgia"/>
                <a:cs typeface="Georgia"/>
              </a:rPr>
              <a:t>tain </a:t>
            </a:r>
            <a:endParaRPr sz="2500">
              <a:latin typeface="Georgia"/>
              <a:cs typeface="Georgia"/>
            </a:endParaRPr>
          </a:p>
          <a:p>
            <a:pPr marL="515112" marR="218374" algn="just">
              <a:lnSpc>
                <a:spcPts val="2840"/>
              </a:lnSpc>
              <a:spcBef>
                <a:spcPts val="159"/>
              </a:spcBef>
            </a:pPr>
            <a:r>
              <a:rPr sz="2500" spc="0" dirty="0">
                <a:latin typeface="Georgia"/>
                <a:cs typeface="Georgia"/>
              </a:rPr>
              <a:t>probl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m</a:t>
            </a:r>
            <a:r>
              <a:rPr sz="2500" spc="244" dirty="0">
                <a:latin typeface="Georgia"/>
                <a:cs typeface="Georgia"/>
              </a:rPr>
              <a:t> </a:t>
            </a:r>
            <a:r>
              <a:rPr sz="2500" spc="14" dirty="0">
                <a:latin typeface="Georgia"/>
                <a:cs typeface="Georgia"/>
              </a:rPr>
              <a:t>a</a:t>
            </a:r>
            <a:r>
              <a:rPr sz="2500" spc="0" dirty="0">
                <a:latin typeface="Georgia"/>
                <a:cs typeface="Georgia"/>
              </a:rPr>
              <a:t>nd</a:t>
            </a:r>
            <a:r>
              <a:rPr sz="2500" spc="313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i</a:t>
            </a:r>
            <a:r>
              <a:rPr sz="2500" spc="0" dirty="0">
                <a:latin typeface="Georgia"/>
                <a:cs typeface="Georgia"/>
              </a:rPr>
              <a:t>f</a:t>
            </a:r>
            <a:r>
              <a:rPr sz="2500" spc="352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32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c</a:t>
            </a:r>
            <a:r>
              <a:rPr sz="2500" spc="4" dirty="0">
                <a:latin typeface="Georgia"/>
                <a:cs typeface="Georgia"/>
              </a:rPr>
              <a:t>a</a:t>
            </a:r>
            <a:r>
              <a:rPr sz="2500" spc="0" dirty="0">
                <a:latin typeface="Georgia"/>
                <a:cs typeface="Georgia"/>
              </a:rPr>
              <a:t>n</a:t>
            </a:r>
            <a:r>
              <a:rPr sz="2500" spc="30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red</a:t>
            </a:r>
            <a:r>
              <a:rPr sz="2500" spc="9" dirty="0">
                <a:latin typeface="Georgia"/>
                <a:cs typeface="Georgia"/>
              </a:rPr>
              <a:t>u</a:t>
            </a:r>
            <a:r>
              <a:rPr sz="2500" spc="0" dirty="0">
                <a:latin typeface="Georgia"/>
                <a:cs typeface="Georgia"/>
              </a:rPr>
              <a:t>ce</a:t>
            </a:r>
            <a:r>
              <a:rPr sz="2500" spc="27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34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new</a:t>
            </a:r>
            <a:r>
              <a:rPr sz="2500" spc="30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prob</a:t>
            </a:r>
            <a:r>
              <a:rPr sz="2500" spc="4" dirty="0">
                <a:latin typeface="Georgia"/>
                <a:cs typeface="Georgia"/>
              </a:rPr>
              <a:t>le</a:t>
            </a:r>
            <a:r>
              <a:rPr sz="2500" spc="0" dirty="0">
                <a:latin typeface="Georgia"/>
                <a:cs typeface="Georgia"/>
              </a:rPr>
              <a:t>m</a:t>
            </a:r>
            <a:r>
              <a:rPr sz="2500" spc="244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t</a:t>
            </a:r>
            <a:r>
              <a:rPr sz="2500" spc="0" dirty="0">
                <a:latin typeface="Georgia"/>
                <a:cs typeface="Georgia"/>
              </a:rPr>
              <a:t>o</a:t>
            </a:r>
            <a:r>
              <a:rPr sz="2500" spc="320" dirty="0">
                <a:latin typeface="Georgia"/>
                <a:cs typeface="Georgia"/>
              </a:rPr>
              <a:t> </a:t>
            </a:r>
            <a:r>
              <a:rPr sz="2500" spc="9" dirty="0">
                <a:latin typeface="Georgia"/>
                <a:cs typeface="Georgia"/>
              </a:rPr>
              <a:t>o</a:t>
            </a:r>
            <a:r>
              <a:rPr sz="2500" spc="0" dirty="0">
                <a:latin typeface="Georgia"/>
                <a:cs typeface="Georgia"/>
              </a:rPr>
              <a:t>ne</a:t>
            </a:r>
            <a:r>
              <a:rPr sz="2500" spc="31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 </a:t>
            </a:r>
            <a:endParaRPr sz="2500">
              <a:latin typeface="Georgia"/>
              <a:cs typeface="Georgia"/>
            </a:endParaRPr>
          </a:p>
          <a:p>
            <a:pPr marL="515112" marR="218374" algn="just">
              <a:lnSpc>
                <a:spcPts val="2840"/>
              </a:lnSpc>
              <a:spcBef>
                <a:spcPts val="159"/>
              </a:spcBef>
            </a:pPr>
            <a:r>
              <a:rPr sz="2500" spc="0" dirty="0">
                <a:latin typeface="Georgia"/>
                <a:cs typeface="Georgia"/>
              </a:rPr>
              <a:t>the</a:t>
            </a:r>
            <a:r>
              <a:rPr sz="2500" spc="-3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solv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d</a:t>
            </a:r>
            <a:r>
              <a:rPr sz="2500" spc="-7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pro</a:t>
            </a:r>
            <a:r>
              <a:rPr sz="2500" spc="-9" dirty="0">
                <a:latin typeface="Georgia"/>
                <a:cs typeface="Georgia"/>
              </a:rPr>
              <a:t>b</a:t>
            </a:r>
            <a:r>
              <a:rPr sz="2500" spc="0" dirty="0">
                <a:latin typeface="Georgia"/>
                <a:cs typeface="Georgia"/>
              </a:rPr>
              <a:t>l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ms,</a:t>
            </a:r>
            <a:r>
              <a:rPr sz="2500" spc="-95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-3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save</a:t>
            </a:r>
            <a:r>
              <a:rPr sz="2500" spc="-4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 lot</a:t>
            </a:r>
            <a:r>
              <a:rPr sz="2500" spc="-2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</a:t>
            </a:r>
            <a:r>
              <a:rPr sz="2500" spc="-2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tim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.</a:t>
            </a:r>
            <a:endParaRPr sz="2500">
              <a:latin typeface="Georgia"/>
              <a:cs typeface="Georgia"/>
            </a:endParaRPr>
          </a:p>
          <a:p>
            <a:pPr marL="515112" marR="217813" indent="-274320" algn="just">
              <a:lnSpc>
                <a:spcPts val="2840"/>
              </a:lnSpc>
              <a:spcBef>
                <a:spcPts val="759"/>
              </a:spcBef>
              <a:tabLst>
                <a:tab pos="1981200" algn="l"/>
              </a:tabLst>
            </a:pPr>
            <a:r>
              <a:rPr sz="21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1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100" spc="103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spc="4" dirty="0">
                <a:latin typeface="Georgia"/>
                <a:cs typeface="Georgia"/>
              </a:rPr>
              <a:t>C</a:t>
            </a:r>
            <a:r>
              <a:rPr sz="2500" spc="0" dirty="0">
                <a:latin typeface="Georgia"/>
                <a:cs typeface="Georgia"/>
              </a:rPr>
              <a:t>onsid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r</a:t>
            </a:r>
            <a:r>
              <a:rPr sz="2500" spc="-68" dirty="0">
                <a:latin typeface="Georgia"/>
                <a:cs typeface="Georgia"/>
              </a:rPr>
              <a:t> </a:t>
            </a:r>
            <a:r>
              <a:rPr sz="2500" spc="9" dirty="0">
                <a:latin typeface="Georgia"/>
                <a:cs typeface="Georgia"/>
              </a:rPr>
              <a:t>t</a:t>
            </a:r>
            <a:r>
              <a:rPr sz="2500" spc="0" dirty="0">
                <a:latin typeface="Georgia"/>
                <a:cs typeface="Georgia"/>
              </a:rPr>
              <a:t>he</a:t>
            </a:r>
            <a:r>
              <a:rPr sz="2500" spc="-5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xam</a:t>
            </a:r>
            <a:r>
              <a:rPr sz="2500" spc="9" dirty="0">
                <a:latin typeface="Georgia"/>
                <a:cs typeface="Georgia"/>
              </a:rPr>
              <a:t>p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-6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</a:t>
            </a:r>
            <a:r>
              <a:rPr sz="2500" spc="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2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pr</a:t>
            </a:r>
            <a:r>
              <a:rPr sz="2500" spc="14" dirty="0">
                <a:latin typeface="Georgia"/>
                <a:cs typeface="Georgia"/>
              </a:rPr>
              <a:t>o</a:t>
            </a:r>
            <a:r>
              <a:rPr sz="2500" spc="4" dirty="0">
                <a:latin typeface="Georgia"/>
                <a:cs typeface="Georgia"/>
              </a:rPr>
              <a:t>ble</a:t>
            </a:r>
            <a:r>
              <a:rPr sz="2500" spc="0" dirty="0">
                <a:latin typeface="Georgia"/>
                <a:cs typeface="Georgia"/>
              </a:rPr>
              <a:t>m</a:t>
            </a:r>
            <a:r>
              <a:rPr sz="2500" spc="-7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where</a:t>
            </a:r>
            <a:r>
              <a:rPr sz="2500" spc="-37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-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have</a:t>
            </a:r>
            <a:r>
              <a:rPr sz="2500" spc="-26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t</a:t>
            </a:r>
            <a:r>
              <a:rPr sz="2500" spc="0" dirty="0">
                <a:latin typeface="Georgia"/>
                <a:cs typeface="Georgia"/>
              </a:rPr>
              <a:t>o</a:t>
            </a:r>
            <a:r>
              <a:rPr sz="2500" spc="1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find </a:t>
            </a:r>
            <a:endParaRPr sz="2500">
              <a:latin typeface="Georgia"/>
              <a:cs typeface="Georgia"/>
            </a:endParaRPr>
          </a:p>
          <a:p>
            <a:pPr marL="515112" marR="217813" algn="just">
              <a:lnSpc>
                <a:spcPts val="2840"/>
              </a:lnSpc>
              <a:spcBef>
                <a:spcPts val="159"/>
              </a:spcBef>
              <a:tabLst>
                <a:tab pos="1981200" algn="l"/>
              </a:tabLst>
            </a:pPr>
            <a:r>
              <a:rPr sz="2500" spc="0" dirty="0">
                <a:latin typeface="Georgia"/>
                <a:cs typeface="Georgia"/>
              </a:rPr>
              <a:t>minim</a:t>
            </a:r>
            <a:r>
              <a:rPr sz="2500" spc="19" dirty="0">
                <a:latin typeface="Georgia"/>
                <a:cs typeface="Georgia"/>
              </a:rPr>
              <a:t>u</a:t>
            </a:r>
            <a:r>
              <a:rPr sz="2500" spc="0" dirty="0">
                <a:latin typeface="Georgia"/>
                <a:cs typeface="Georgia"/>
              </a:rPr>
              <a:t>m prod</a:t>
            </a:r>
            <a:r>
              <a:rPr sz="2500" spc="4" dirty="0">
                <a:latin typeface="Georgia"/>
                <a:cs typeface="Georgia"/>
              </a:rPr>
              <a:t>u</a:t>
            </a:r>
            <a:r>
              <a:rPr sz="2500" spc="0" dirty="0">
                <a:latin typeface="Georgia"/>
                <a:cs typeface="Georgia"/>
              </a:rPr>
              <a:t>ct</a:t>
            </a:r>
            <a:r>
              <a:rPr sz="2500" spc="1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</a:t>
            </a:r>
            <a:r>
              <a:rPr sz="2500" spc="14" dirty="0">
                <a:latin typeface="Georgia"/>
                <a:cs typeface="Georgia"/>
              </a:rPr>
              <a:t>a</a:t>
            </a:r>
            <a:r>
              <a:rPr sz="2500" spc="0" dirty="0">
                <a:latin typeface="Georgia"/>
                <a:cs typeface="Georgia"/>
              </a:rPr>
              <a:t>th</a:t>
            </a:r>
            <a:r>
              <a:rPr sz="2500" spc="5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in</a:t>
            </a:r>
            <a:r>
              <a:rPr sz="2500" spc="10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11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gi</a:t>
            </a:r>
            <a:r>
              <a:rPr sz="2500" spc="9" dirty="0">
                <a:latin typeface="Georgia"/>
                <a:cs typeface="Georgia"/>
              </a:rPr>
              <a:t>v</a:t>
            </a:r>
            <a:r>
              <a:rPr sz="2500" spc="0" dirty="0">
                <a:latin typeface="Georgia"/>
                <a:cs typeface="Georgia"/>
              </a:rPr>
              <a:t>en</a:t>
            </a:r>
            <a:r>
              <a:rPr sz="2500" spc="5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d</a:t>
            </a:r>
            <a:r>
              <a:rPr sz="2500" spc="4" dirty="0">
                <a:latin typeface="Georgia"/>
                <a:cs typeface="Georgia"/>
              </a:rPr>
              <a:t>i</a:t>
            </a:r>
            <a:r>
              <a:rPr sz="2500" spc="0" dirty="0">
                <a:latin typeface="Georgia"/>
                <a:cs typeface="Georgia"/>
              </a:rPr>
              <a:t>r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ct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d</a:t>
            </a:r>
            <a:r>
              <a:rPr sz="2500" spc="19" dirty="0">
                <a:latin typeface="Georgia"/>
                <a:cs typeface="Georgia"/>
              </a:rPr>
              <a:t> </a:t>
            </a:r>
            <a:r>
              <a:rPr sz="2500" spc="9" dirty="0">
                <a:latin typeface="Georgia"/>
                <a:cs typeface="Georgia"/>
              </a:rPr>
              <a:t>g</a:t>
            </a:r>
            <a:r>
              <a:rPr sz="2500" spc="0" dirty="0">
                <a:latin typeface="Georgia"/>
                <a:cs typeface="Georgia"/>
              </a:rPr>
              <a:t>raph</a:t>
            </a:r>
            <a:r>
              <a:rPr sz="2500" spc="45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h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re </a:t>
            </a:r>
            <a:endParaRPr sz="2500">
              <a:latin typeface="Georgia"/>
              <a:cs typeface="Georgia"/>
            </a:endParaRPr>
          </a:p>
          <a:p>
            <a:pPr marL="515112" marR="217813" algn="just">
              <a:lnSpc>
                <a:spcPts val="2840"/>
              </a:lnSpc>
              <a:spcBef>
                <a:spcPts val="159"/>
              </a:spcBef>
              <a:tabLst>
                <a:tab pos="1981200" algn="l"/>
              </a:tabLst>
            </a:pPr>
            <a:r>
              <a:rPr sz="2500" spc="0" dirty="0">
                <a:latin typeface="Georgia"/>
                <a:cs typeface="Georgia"/>
              </a:rPr>
              <a:t>prod</a:t>
            </a:r>
            <a:r>
              <a:rPr sz="2500" spc="14" dirty="0">
                <a:latin typeface="Georgia"/>
                <a:cs typeface="Georgia"/>
              </a:rPr>
              <a:t>u</a:t>
            </a:r>
            <a:r>
              <a:rPr sz="2500" spc="0" dirty="0">
                <a:latin typeface="Georgia"/>
                <a:cs typeface="Georgia"/>
              </a:rPr>
              <a:t>ct </a:t>
            </a:r>
            <a:r>
              <a:rPr sz="2500" spc="54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 </a:t>
            </a:r>
            <a:r>
              <a:rPr sz="2500" spc="119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pat</a:t>
            </a:r>
            <a:r>
              <a:rPr sz="2500" spc="0" dirty="0">
                <a:latin typeface="Georgia"/>
                <a:cs typeface="Georgia"/>
              </a:rPr>
              <a:t>h </a:t>
            </a:r>
            <a:r>
              <a:rPr sz="2500" spc="8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is </a:t>
            </a:r>
            <a:r>
              <a:rPr sz="2500" spc="11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mu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tip</a:t>
            </a:r>
            <a:r>
              <a:rPr sz="2500" spc="9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ication  of </a:t>
            </a:r>
            <a:r>
              <a:rPr sz="2500" spc="11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we</a:t>
            </a:r>
            <a:r>
              <a:rPr sz="2500" spc="9" dirty="0">
                <a:latin typeface="Georgia"/>
                <a:cs typeface="Georgia"/>
              </a:rPr>
              <a:t>i</a:t>
            </a:r>
            <a:r>
              <a:rPr sz="2500" spc="0" dirty="0">
                <a:latin typeface="Georgia"/>
                <a:cs typeface="Georgia"/>
              </a:rPr>
              <a:t>ghts </a:t>
            </a:r>
            <a:r>
              <a:rPr sz="2500" spc="5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 </a:t>
            </a:r>
            <a:r>
              <a:rPr sz="2500" spc="119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ed</a:t>
            </a:r>
            <a:r>
              <a:rPr sz="2500" spc="0" dirty="0">
                <a:latin typeface="Georgia"/>
                <a:cs typeface="Georgia"/>
              </a:rPr>
              <a:t>g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s </a:t>
            </a:r>
            <a:endParaRPr sz="2500">
              <a:latin typeface="Georgia"/>
              <a:cs typeface="Georgia"/>
            </a:endParaRPr>
          </a:p>
          <a:p>
            <a:pPr marL="515112" marR="217813" algn="just">
              <a:lnSpc>
                <a:spcPts val="2840"/>
              </a:lnSpc>
              <a:spcBef>
                <a:spcPts val="159"/>
              </a:spcBef>
              <a:tabLst>
                <a:tab pos="1981200" algn="l"/>
              </a:tabLst>
            </a:pP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ong</a:t>
            </a:r>
            <a:r>
              <a:rPr sz="2500" spc="-4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the</a:t>
            </a:r>
            <a:r>
              <a:rPr sz="2500" spc="-20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pat</a:t>
            </a:r>
            <a:r>
              <a:rPr sz="2500" spc="0" dirty="0">
                <a:latin typeface="Georgia"/>
                <a:cs typeface="Georgia"/>
              </a:rPr>
              <a:t>h.</a:t>
            </a:r>
            <a:r>
              <a:rPr sz="2500" spc="-4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If</a:t>
            </a:r>
            <a:r>
              <a:rPr sz="2500" spc="-2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-1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have</a:t>
            </a:r>
            <a:r>
              <a:rPr sz="2500" spc="-36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c</a:t>
            </a:r>
            <a:r>
              <a:rPr sz="2500" spc="0" dirty="0">
                <a:latin typeface="Georgia"/>
                <a:cs typeface="Georgia"/>
              </a:rPr>
              <a:t>ode</a:t>
            </a:r>
            <a:r>
              <a:rPr sz="2500" spc="-3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for</a:t>
            </a:r>
            <a:r>
              <a:rPr sz="2500" spc="-2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Dijkst</a:t>
            </a:r>
            <a:r>
              <a:rPr sz="2500" spc="9" dirty="0">
                <a:latin typeface="Georgia"/>
                <a:cs typeface="Georgia"/>
              </a:rPr>
              <a:t>r</a:t>
            </a:r>
            <a:r>
              <a:rPr sz="2500" spc="0" dirty="0">
                <a:latin typeface="Georgia"/>
                <a:cs typeface="Georgia"/>
              </a:rPr>
              <a:t>a’s</a:t>
            </a:r>
            <a:r>
              <a:rPr sz="2500" spc="-6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gorit</a:t>
            </a:r>
            <a:r>
              <a:rPr sz="2500" spc="9" dirty="0">
                <a:latin typeface="Georgia"/>
                <a:cs typeface="Georgia"/>
              </a:rPr>
              <a:t>h</a:t>
            </a:r>
            <a:r>
              <a:rPr sz="2500" spc="0" dirty="0">
                <a:latin typeface="Georgia"/>
                <a:cs typeface="Georgia"/>
              </a:rPr>
              <a:t>m</a:t>
            </a:r>
            <a:r>
              <a:rPr sz="2500" spc="-93" dirty="0">
                <a:latin typeface="Georgia"/>
                <a:cs typeface="Georgia"/>
              </a:rPr>
              <a:t> </a:t>
            </a:r>
            <a:r>
              <a:rPr sz="2500" spc="4" dirty="0">
                <a:latin typeface="Georgia"/>
                <a:cs typeface="Georgia"/>
              </a:rPr>
              <a:t>to </a:t>
            </a:r>
            <a:endParaRPr sz="2500">
              <a:latin typeface="Georgia"/>
              <a:cs typeface="Georgia"/>
            </a:endParaRPr>
          </a:p>
          <a:p>
            <a:pPr marL="515112" marR="217813" algn="just">
              <a:lnSpc>
                <a:spcPts val="2840"/>
              </a:lnSpc>
              <a:spcBef>
                <a:spcPts val="159"/>
              </a:spcBef>
              <a:tabLst>
                <a:tab pos="1981200" algn="l"/>
              </a:tabLst>
            </a:pPr>
            <a:r>
              <a:rPr sz="2500" spc="0" dirty="0">
                <a:latin typeface="Georgia"/>
                <a:cs typeface="Georgia"/>
              </a:rPr>
              <a:t>fi</a:t>
            </a:r>
            <a:r>
              <a:rPr sz="2500" spc="4" dirty="0">
                <a:latin typeface="Georgia"/>
                <a:cs typeface="Georgia"/>
              </a:rPr>
              <a:t>n</a:t>
            </a:r>
            <a:r>
              <a:rPr sz="2500" spc="0" dirty="0">
                <a:latin typeface="Georgia"/>
                <a:cs typeface="Georgia"/>
              </a:rPr>
              <a:t>d</a:t>
            </a:r>
            <a:r>
              <a:rPr sz="2500" spc="6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short</a:t>
            </a:r>
            <a:r>
              <a:rPr sz="2500" spc="1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st p</a:t>
            </a:r>
            <a:r>
              <a:rPr sz="2500" spc="4" dirty="0">
                <a:latin typeface="Georgia"/>
                <a:cs typeface="Georgia"/>
              </a:rPr>
              <a:t>a</a:t>
            </a:r>
            <a:r>
              <a:rPr sz="2500" spc="0" dirty="0">
                <a:latin typeface="Georgia"/>
                <a:cs typeface="Georgia"/>
              </a:rPr>
              <a:t>th,</a:t>
            </a:r>
            <a:r>
              <a:rPr sz="2500" spc="27" dirty="0">
                <a:latin typeface="Georgia"/>
                <a:cs typeface="Georgia"/>
              </a:rPr>
              <a:t> </a:t>
            </a:r>
            <a:r>
              <a:rPr sz="2500" spc="-4" dirty="0">
                <a:latin typeface="Georgia"/>
                <a:cs typeface="Georgia"/>
              </a:rPr>
              <a:t>w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43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can</a:t>
            </a:r>
            <a:r>
              <a:rPr sz="2500" spc="4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take</a:t>
            </a:r>
            <a:r>
              <a:rPr sz="2500" spc="3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log</a:t>
            </a:r>
            <a:r>
              <a:rPr sz="2500" spc="5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of</a:t>
            </a:r>
            <a:r>
              <a:rPr sz="2500" spc="6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</a:t>
            </a:r>
            <a:r>
              <a:rPr sz="2500" spc="4" dirty="0">
                <a:latin typeface="Georgia"/>
                <a:cs typeface="Georgia"/>
              </a:rPr>
              <a:t>l</a:t>
            </a:r>
            <a:r>
              <a:rPr sz="2500" spc="0" dirty="0">
                <a:latin typeface="Georgia"/>
                <a:cs typeface="Georgia"/>
              </a:rPr>
              <a:t>l</a:t>
            </a:r>
            <a:r>
              <a:rPr sz="2500" spc="6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weights and</a:t>
            </a:r>
            <a:r>
              <a:rPr sz="2500" spc="5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use </a:t>
            </a:r>
            <a:endParaRPr sz="2500">
              <a:latin typeface="Georgia"/>
              <a:cs typeface="Georgia"/>
            </a:endParaRPr>
          </a:p>
          <a:p>
            <a:pPr marL="515112" marR="217813" algn="just">
              <a:lnSpc>
                <a:spcPts val="2840"/>
              </a:lnSpc>
              <a:spcBef>
                <a:spcPts val="159"/>
              </a:spcBef>
              <a:tabLst>
                <a:tab pos="1981200" algn="l"/>
              </a:tabLst>
            </a:pPr>
            <a:r>
              <a:rPr sz="2500" spc="0" dirty="0">
                <a:latin typeface="Georgia"/>
                <a:cs typeface="Georgia"/>
              </a:rPr>
              <a:t>Dijkstra’s	algorithm</a:t>
            </a:r>
            <a:r>
              <a:rPr sz="2500" spc="41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to</a:t>
            </a:r>
            <a:r>
              <a:rPr sz="2500" spc="38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find</a:t>
            </a:r>
            <a:r>
              <a:rPr sz="2500" spc="417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the</a:t>
            </a:r>
            <a:r>
              <a:rPr sz="2500" spc="37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minimum</a:t>
            </a:r>
            <a:r>
              <a:rPr sz="2500" spc="422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product</a:t>
            </a:r>
            <a:r>
              <a:rPr sz="2500" spc="320" dirty="0">
                <a:latin typeface="Georgia"/>
                <a:cs typeface="Georgia"/>
              </a:rPr>
              <a:t> </a:t>
            </a:r>
            <a:r>
              <a:rPr sz="2500" spc="9" dirty="0">
                <a:latin typeface="Georgia"/>
                <a:cs typeface="Georgia"/>
              </a:rPr>
              <a:t>p</a:t>
            </a:r>
            <a:r>
              <a:rPr sz="2500" spc="0" dirty="0">
                <a:latin typeface="Georgia"/>
                <a:cs typeface="Georgia"/>
              </a:rPr>
              <a:t>ath </a:t>
            </a:r>
            <a:endParaRPr sz="2500">
              <a:latin typeface="Georgia"/>
              <a:cs typeface="Georgia"/>
            </a:endParaRPr>
          </a:p>
          <a:p>
            <a:pPr marL="515112" marR="217813" algn="just">
              <a:lnSpc>
                <a:spcPts val="2840"/>
              </a:lnSpc>
              <a:spcBef>
                <a:spcPts val="159"/>
              </a:spcBef>
              <a:tabLst>
                <a:tab pos="1981200" algn="l"/>
              </a:tabLst>
            </a:pPr>
            <a:r>
              <a:rPr sz="2500" spc="0" dirty="0">
                <a:latin typeface="Georgia"/>
                <a:cs typeface="Georgia"/>
              </a:rPr>
              <a:t>rath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r</a:t>
            </a:r>
            <a:r>
              <a:rPr sz="2500" spc="-48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than</a:t>
            </a:r>
            <a:r>
              <a:rPr sz="2500" spc="-50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writing</a:t>
            </a:r>
            <a:r>
              <a:rPr sz="2500" spc="-69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a fr</a:t>
            </a:r>
            <a:r>
              <a:rPr sz="2500" spc="4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sh</a:t>
            </a:r>
            <a:r>
              <a:rPr sz="2500" spc="-5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co</a:t>
            </a:r>
            <a:r>
              <a:rPr sz="2500" spc="-9" dirty="0">
                <a:latin typeface="Georgia"/>
                <a:cs typeface="Georgia"/>
              </a:rPr>
              <a:t>d</a:t>
            </a:r>
            <a:r>
              <a:rPr sz="2500" spc="0" dirty="0">
                <a:latin typeface="Georgia"/>
                <a:cs typeface="Georgia"/>
              </a:rPr>
              <a:t>e</a:t>
            </a:r>
            <a:r>
              <a:rPr sz="2500" spc="-26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for</a:t>
            </a:r>
            <a:r>
              <a:rPr sz="2500" spc="-2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this</a:t>
            </a:r>
            <a:r>
              <a:rPr sz="2500" spc="-51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new</a:t>
            </a:r>
            <a:r>
              <a:rPr sz="2500" spc="-35" dirty="0">
                <a:latin typeface="Georgia"/>
                <a:cs typeface="Georgia"/>
              </a:rPr>
              <a:t> </a:t>
            </a:r>
            <a:r>
              <a:rPr sz="2500" spc="0" dirty="0">
                <a:latin typeface="Georgia"/>
                <a:cs typeface="Georgia"/>
              </a:rPr>
              <a:t>pro</a:t>
            </a:r>
            <a:r>
              <a:rPr sz="2500" spc="-9" dirty="0">
                <a:latin typeface="Georgia"/>
                <a:cs typeface="Georgia"/>
              </a:rPr>
              <a:t>b</a:t>
            </a:r>
            <a:r>
              <a:rPr sz="2500" spc="0" dirty="0">
                <a:latin typeface="Georgia"/>
                <a:cs typeface="Georgia"/>
              </a:rPr>
              <a:t>l</a:t>
            </a:r>
            <a:r>
              <a:rPr sz="2500" spc="9" dirty="0">
                <a:latin typeface="Georgia"/>
                <a:cs typeface="Georgia"/>
              </a:rPr>
              <a:t>e</a:t>
            </a:r>
            <a:r>
              <a:rPr sz="2500" spc="0" dirty="0">
                <a:latin typeface="Georgia"/>
                <a:cs typeface="Georgia"/>
              </a:rPr>
              <a:t>m.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618134">
              <a:lnSpc>
                <a:spcPct val="94685"/>
              </a:lnSpc>
              <a:spcBef>
                <a:spcPts val="1064"/>
              </a:spcBef>
            </a:pPr>
            <a:r>
              <a:rPr sz="3600" spc="0" dirty="0">
                <a:solidFill>
                  <a:srgbClr val="8B438F"/>
                </a:solidFill>
                <a:latin typeface="Georgia"/>
                <a:cs typeface="Georgia"/>
              </a:rPr>
              <a:t>Proving NP-Comple</a:t>
            </a:r>
            <a:r>
              <a:rPr sz="3600" spc="4" dirty="0">
                <a:solidFill>
                  <a:srgbClr val="8B438F"/>
                </a:solidFill>
                <a:latin typeface="Georgia"/>
                <a:cs typeface="Georgia"/>
              </a:rPr>
              <a:t>t</a:t>
            </a:r>
            <a:r>
              <a:rPr sz="3600" spc="0" dirty="0">
                <a:solidFill>
                  <a:srgbClr val="8B438F"/>
                </a:solidFill>
                <a:latin typeface="Georgia"/>
                <a:cs typeface="Georgia"/>
              </a:rPr>
              <a:t>eness</a:t>
            </a:r>
            <a:r>
              <a:rPr sz="3600" spc="-1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600" spc="0" dirty="0">
                <a:solidFill>
                  <a:srgbClr val="8B438F"/>
                </a:solidFill>
                <a:latin typeface="Georgia"/>
                <a:cs typeface="Georgia"/>
              </a:rPr>
              <a:t>In Pra</a:t>
            </a:r>
            <a:r>
              <a:rPr sz="3600" spc="-9" dirty="0">
                <a:solidFill>
                  <a:srgbClr val="8B438F"/>
                </a:solidFill>
                <a:latin typeface="Georgia"/>
                <a:cs typeface="Georgia"/>
              </a:rPr>
              <a:t>c</a:t>
            </a:r>
            <a:r>
              <a:rPr sz="3600" spc="0" dirty="0">
                <a:solidFill>
                  <a:srgbClr val="8B438F"/>
                </a:solidFill>
                <a:latin typeface="Georgia"/>
                <a:cs typeface="Georgia"/>
              </a:rPr>
              <a:t>tice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40792">
              <a:lnSpc>
                <a:spcPct val="94685"/>
              </a:lnSpc>
              <a:spcBef>
                <a:spcPts val="1353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Prove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problem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 is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NP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81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random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y</a:t>
            </a:r>
            <a:r>
              <a:rPr sz="2200" spc="-7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ge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er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ted</a:t>
            </a:r>
            <a:r>
              <a:rPr sz="2200" spc="-6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string</a:t>
            </a:r>
            <a:r>
              <a:rPr sz="2200" spc="-5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2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200" spc="-2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checked</a:t>
            </a:r>
            <a:r>
              <a:rPr sz="2200" spc="-7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in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olynomial</a:t>
            </a:r>
            <a:endParaRPr sz="2200">
              <a:latin typeface="Georgia"/>
              <a:cs typeface="Georgia"/>
            </a:endParaRPr>
          </a:p>
          <a:p>
            <a:pPr marL="789736">
              <a:lnSpc>
                <a:spcPct val="94685"/>
              </a:lnSpc>
              <a:spcBef>
                <a:spcPts val="1196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time to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rmine</a:t>
            </a:r>
            <a:r>
              <a:rPr sz="2200" spc="-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if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it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pres</a:t>
            </a:r>
            <a:r>
              <a:rPr sz="2200" spc="-1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nts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 s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u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tion</a:t>
            </a:r>
            <a:endParaRPr sz="22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2023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Show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hat </a:t>
            </a:r>
            <a:r>
              <a:rPr sz="2700" b="1" spc="0" dirty="0">
                <a:latin typeface="Georgia"/>
                <a:cs typeface="Georgia"/>
              </a:rPr>
              <a:t>one</a:t>
            </a:r>
            <a:r>
              <a:rPr sz="2700" b="1" spc="9" dirty="0">
                <a:latin typeface="Georgia"/>
                <a:cs typeface="Georgia"/>
              </a:rPr>
              <a:t> </a:t>
            </a:r>
            <a:r>
              <a:rPr sz="2700" b="1" spc="0" dirty="0">
                <a:latin typeface="Georgia"/>
                <a:cs typeface="Georgia"/>
              </a:rPr>
              <a:t>kno</a:t>
            </a:r>
            <a:r>
              <a:rPr sz="2700" b="1" spc="-9" dirty="0">
                <a:latin typeface="Georgia"/>
                <a:cs typeface="Georgia"/>
              </a:rPr>
              <a:t>w</a:t>
            </a:r>
            <a:r>
              <a:rPr sz="2700" b="1" spc="0" dirty="0">
                <a:latin typeface="Georgia"/>
                <a:cs typeface="Georgia"/>
              </a:rPr>
              <a:t>n</a:t>
            </a:r>
            <a:r>
              <a:rPr sz="2700" b="1" spc="-9" dirty="0">
                <a:latin typeface="Georgia"/>
                <a:cs typeface="Georgia"/>
              </a:rPr>
              <a:t> </a:t>
            </a:r>
            <a:r>
              <a:rPr sz="2700" spc="9" dirty="0">
                <a:latin typeface="Georgia"/>
                <a:cs typeface="Georgia"/>
              </a:rPr>
              <a:t>N</a:t>
            </a:r>
            <a:r>
              <a:rPr sz="2700" spc="-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-C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mplete problem</a:t>
            </a:r>
            <a:r>
              <a:rPr sz="2700" spc="-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can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468"/>
              </a:spcBef>
            </a:pPr>
            <a:r>
              <a:rPr sz="2700" spc="0" dirty="0">
                <a:latin typeface="Georgia"/>
                <a:cs typeface="Georgia"/>
              </a:rPr>
              <a:t>be transf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rmed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to B in polynomi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l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time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821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No</a:t>
            </a:r>
            <a:r>
              <a:rPr sz="2200" spc="-2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200" spc="-3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to</a:t>
            </a:r>
            <a:r>
              <a:rPr sz="22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check</a:t>
            </a:r>
            <a:r>
              <a:rPr sz="2200" spc="-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that</a:t>
            </a:r>
            <a:r>
              <a:rPr sz="2200" spc="-2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b="1" spc="0" dirty="0">
                <a:solidFill>
                  <a:srgbClr val="424455"/>
                </a:solidFill>
                <a:latin typeface="Georgia"/>
                <a:cs typeface="Georgia"/>
              </a:rPr>
              <a:t>all</a:t>
            </a:r>
            <a:r>
              <a:rPr sz="2200" b="1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u="heavy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u="heavy" spc="4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200" u="heavy" spc="-4" dirty="0">
                <a:solidFill>
                  <a:srgbClr val="424455"/>
                </a:solidFill>
                <a:latin typeface="Georgia"/>
                <a:cs typeface="Georgia"/>
              </a:rPr>
              <a:t>-</a:t>
            </a:r>
            <a:r>
              <a:rPr sz="2200" u="heavy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u="heavy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u="heavy" spc="0" dirty="0">
                <a:solidFill>
                  <a:srgbClr val="424455"/>
                </a:solidFill>
                <a:latin typeface="Georgia"/>
                <a:cs typeface="Georgia"/>
              </a:rPr>
              <a:t>mple</a:t>
            </a:r>
            <a:r>
              <a:rPr sz="2200" u="heavy" spc="-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u="heavy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10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-7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are</a:t>
            </a:r>
            <a:r>
              <a:rPr sz="2200" spc="-3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red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u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cible</a:t>
            </a:r>
            <a:endParaRPr sz="2200">
              <a:latin typeface="Georgia"/>
              <a:cs typeface="Georgia"/>
            </a:endParaRPr>
          </a:p>
          <a:p>
            <a:pPr marL="789736">
              <a:lnSpc>
                <a:spcPct val="94685"/>
              </a:lnSpc>
              <a:spcBef>
                <a:spcPts val="1196"/>
              </a:spcBef>
            </a:pP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to</a:t>
            </a:r>
            <a:r>
              <a:rPr sz="22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808352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Fi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r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st</a:t>
            </a:r>
            <a:r>
              <a:rPr sz="3300" spc="-2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NP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complete</a:t>
            </a:r>
            <a:r>
              <a:rPr sz="3300" spc="2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problem?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3158" indent="-274320" algn="just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There</a:t>
            </a:r>
            <a:r>
              <a:rPr sz="2700" spc="482" dirty="0">
                <a:latin typeface="Georgia"/>
                <a:cs typeface="Georgia"/>
              </a:rPr>
              <a:t> </a:t>
            </a:r>
            <a:r>
              <a:rPr sz="2700" spc="-1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ust</a:t>
            </a:r>
            <a:r>
              <a:rPr sz="2700" spc="47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482" dirty="0">
                <a:latin typeface="Georgia"/>
                <a:cs typeface="Georgia"/>
              </a:rPr>
              <a:t> </a:t>
            </a:r>
            <a:r>
              <a:rPr sz="2700" spc="-1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ome</a:t>
            </a:r>
            <a:r>
              <a:rPr sz="2700" spc="477" dirty="0">
                <a:latin typeface="Georgia"/>
                <a:cs typeface="Georgia"/>
              </a:rPr>
              <a:t> </a:t>
            </a:r>
            <a:r>
              <a:rPr sz="2700" spc="-9" dirty="0">
                <a:latin typeface="Georgia"/>
                <a:cs typeface="Georgia"/>
              </a:rPr>
              <a:t>f</a:t>
            </a:r>
            <a:r>
              <a:rPr sz="2700" spc="0" dirty="0">
                <a:latin typeface="Georgia"/>
                <a:cs typeface="Georgia"/>
              </a:rPr>
              <a:t>irst</a:t>
            </a:r>
            <a:r>
              <a:rPr sz="2700" spc="467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-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-C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plete</a:t>
            </a:r>
            <a:r>
              <a:rPr sz="2700" spc="472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blem </a:t>
            </a:r>
            <a:endParaRPr sz="2700">
              <a:latin typeface="Georgia"/>
              <a:cs typeface="Georgia"/>
            </a:endParaRPr>
          </a:p>
          <a:p>
            <a:pPr marL="515112" marR="213158" algn="just">
              <a:lnSpc>
                <a:spcPts val="3067"/>
              </a:lnSpc>
              <a:spcBef>
                <a:spcPts val="171"/>
              </a:spcBef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roved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by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definition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P-C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mplete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problem</a:t>
            </a:r>
            <a:r>
              <a:rPr sz="2700" spc="-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515112" marR="213355" indent="-274320" algn="just">
              <a:lnSpc>
                <a:spcPts val="3067"/>
              </a:lnSpc>
              <a:spcBef>
                <a:spcPts val="471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SAT</a:t>
            </a:r>
            <a:r>
              <a:rPr sz="2700" spc="27" dirty="0">
                <a:solidFill>
                  <a:srgbClr val="783979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(B</a:t>
            </a:r>
            <a:r>
              <a:rPr sz="2700" spc="-9" dirty="0">
                <a:solidFill>
                  <a:srgbClr val="783979"/>
                </a:solidFill>
                <a:latin typeface="Georgia"/>
                <a:cs typeface="Georgia"/>
              </a:rPr>
              <a:t>o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ole</a:t>
            </a:r>
            <a:r>
              <a:rPr sz="2700" spc="-9" dirty="0">
                <a:solidFill>
                  <a:srgbClr val="783979"/>
                </a:solidFill>
                <a:latin typeface="Georgia"/>
                <a:cs typeface="Georgia"/>
              </a:rPr>
              <a:t>a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n</a:t>
            </a:r>
            <a:r>
              <a:rPr sz="2700" spc="32" dirty="0">
                <a:solidFill>
                  <a:srgbClr val="783979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satisfiability</a:t>
            </a:r>
            <a:r>
              <a:rPr sz="2700" spc="37" dirty="0">
                <a:solidFill>
                  <a:srgbClr val="783979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Pr</a:t>
            </a:r>
            <a:r>
              <a:rPr sz="2700" spc="-4" dirty="0">
                <a:solidFill>
                  <a:srgbClr val="783979"/>
                </a:solidFill>
                <a:latin typeface="Georgia"/>
                <a:cs typeface="Georgia"/>
              </a:rPr>
              <a:t>o</a:t>
            </a:r>
            <a:r>
              <a:rPr sz="2700" spc="0" dirty="0">
                <a:solidFill>
                  <a:srgbClr val="783979"/>
                </a:solidFill>
                <a:latin typeface="Georgia"/>
                <a:cs typeface="Georgia"/>
              </a:rPr>
              <a:t>blem)</a:t>
            </a:r>
            <a:r>
              <a:rPr sz="2700" spc="22" dirty="0">
                <a:solidFill>
                  <a:srgbClr val="783979"/>
                </a:solidFill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12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3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first</a:t>
            </a:r>
            <a:r>
              <a:rPr sz="2700" spc="17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-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- </a:t>
            </a:r>
            <a:endParaRPr sz="2700">
              <a:latin typeface="Georgia"/>
              <a:cs typeface="Georgia"/>
            </a:endParaRPr>
          </a:p>
          <a:p>
            <a:pPr marL="515112" marR="213355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Comple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problem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proved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by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ok.</a:t>
            </a:r>
            <a:endParaRPr sz="2700">
              <a:latin typeface="Georgia"/>
              <a:cs typeface="Georgia"/>
            </a:endParaRPr>
          </a:p>
          <a:p>
            <a:pPr marL="515112" marR="212608" indent="-274320" algn="just">
              <a:lnSpc>
                <a:spcPts val="3067"/>
              </a:lnSpc>
              <a:spcBef>
                <a:spcPts val="4711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52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is,</a:t>
            </a:r>
            <a:r>
              <a:rPr sz="2700" spc="51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any</a:t>
            </a:r>
            <a:r>
              <a:rPr sz="2700" spc="51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</a:t>
            </a:r>
            <a:r>
              <a:rPr sz="2700" spc="-9" dirty="0">
                <a:latin typeface="Georgia"/>
                <a:cs typeface="Georgia"/>
              </a:rPr>
              <a:t>b</a:t>
            </a:r>
            <a:r>
              <a:rPr sz="2700" spc="0" dirty="0">
                <a:latin typeface="Georgia"/>
                <a:cs typeface="Georgia"/>
              </a:rPr>
              <a:t>lem</a:t>
            </a:r>
            <a:r>
              <a:rPr sz="2700" spc="512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527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512" dirty="0">
                <a:latin typeface="Georgia"/>
                <a:cs typeface="Georgia"/>
              </a:rPr>
              <a:t> </a:t>
            </a:r>
            <a:r>
              <a:rPr sz="2700" spc="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an</a:t>
            </a:r>
            <a:r>
              <a:rPr sz="2700" spc="52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51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redu</a:t>
            </a:r>
            <a:r>
              <a:rPr sz="2700" spc="-1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ed</a:t>
            </a:r>
            <a:r>
              <a:rPr sz="2700" spc="517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 </a:t>
            </a:r>
            <a:endParaRPr sz="2700">
              <a:latin typeface="Georgia"/>
              <a:cs typeface="Georgia"/>
            </a:endParaRPr>
          </a:p>
          <a:p>
            <a:pPr marL="515112" marR="212608" algn="just">
              <a:lnSpc>
                <a:spcPts val="3067"/>
              </a:lnSpc>
              <a:spcBef>
                <a:spcPts val="171"/>
              </a:spcBef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olynom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al t</a:t>
            </a:r>
            <a:r>
              <a:rPr sz="2700" spc="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me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by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determi</a:t>
            </a:r>
            <a:r>
              <a:rPr sz="2700" spc="-1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istic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M  </a:t>
            </a:r>
            <a:r>
              <a:rPr sz="2700" spc="484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</a:t>
            </a:r>
            <a:endParaRPr sz="2700">
              <a:latin typeface="Georgia"/>
              <a:cs typeface="Georgia"/>
            </a:endParaRPr>
          </a:p>
          <a:p>
            <a:pPr marL="515112" marR="212608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probl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m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3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deter</a:t>
            </a:r>
            <a:r>
              <a:rPr sz="2700" spc="-19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ining</a:t>
            </a:r>
            <a:r>
              <a:rPr sz="2700" spc="34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wh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ther</a:t>
            </a:r>
            <a:r>
              <a:rPr sz="2700" spc="3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</a:t>
            </a:r>
            <a:r>
              <a:rPr sz="2700" spc="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olean</a:t>
            </a:r>
            <a:r>
              <a:rPr sz="2700" spc="3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form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la </a:t>
            </a:r>
            <a:endParaRPr sz="2700">
              <a:latin typeface="Georgia"/>
              <a:cs typeface="Georgia"/>
            </a:endParaRPr>
          </a:p>
          <a:p>
            <a:pPr marL="515112" marR="212608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is satisfi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ble.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91C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9537" y="881184"/>
            <a:ext cx="3470857" cy="559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00"/>
              </a:lnSpc>
              <a:spcBef>
                <a:spcPts val="220"/>
              </a:spcBef>
            </a:pPr>
            <a:r>
              <a:rPr sz="4200" spc="-4" dirty="0">
                <a:solidFill>
                  <a:srgbClr val="525389"/>
                </a:solidFill>
                <a:latin typeface="Georgia"/>
                <a:cs typeface="Georgia"/>
              </a:rPr>
              <a:t>N</a:t>
            </a: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P</a:t>
            </a:r>
            <a:r>
              <a:rPr sz="4200" spc="14" dirty="0">
                <a:solidFill>
                  <a:srgbClr val="525389"/>
                </a:solidFill>
                <a:latin typeface="Georgia"/>
                <a:cs typeface="Georgia"/>
              </a:rPr>
              <a:t> </a:t>
            </a: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–complete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9271" y="881184"/>
            <a:ext cx="2346290" cy="559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00"/>
              </a:lnSpc>
              <a:spcBef>
                <a:spcPts val="220"/>
              </a:spcBef>
            </a:pP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P</a:t>
            </a:r>
            <a:r>
              <a:rPr sz="4200" spc="-9" dirty="0">
                <a:solidFill>
                  <a:srgbClr val="525389"/>
                </a:solidFill>
                <a:latin typeface="Georgia"/>
                <a:cs typeface="Georgia"/>
              </a:rPr>
              <a:t>r</a:t>
            </a: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oblems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63062" y="1521891"/>
            <a:ext cx="2897165" cy="5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400"/>
              </a:lnSpc>
              <a:spcBef>
                <a:spcPts val="220"/>
              </a:spcBef>
            </a:pPr>
            <a:r>
              <a:rPr sz="4200" spc="0" dirty="0">
                <a:solidFill>
                  <a:srgbClr val="525389"/>
                </a:solidFill>
                <a:latin typeface="Georgia"/>
                <a:cs typeface="Georgia"/>
              </a:rPr>
              <a:t>Satisfiablity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97629" y="2885822"/>
            <a:ext cx="1345527" cy="2283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1600" b="1" spc="-14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1600" b="1" spc="-15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1600" b="1" spc="-15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1600" b="1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684908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1.Satisfiab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lity</a:t>
            </a:r>
            <a:r>
              <a:rPr sz="3300" spc="-3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(S</a:t>
            </a:r>
            <a:r>
              <a:rPr sz="3300" spc="-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T) probl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4075" indent="-274320" algn="just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4" dirty="0">
                <a:latin typeface="Georgia"/>
                <a:cs typeface="Georgia"/>
              </a:rPr>
              <a:t>D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mining:</a:t>
            </a:r>
            <a:r>
              <a:rPr sz="2700" spc="96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9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</a:t>
            </a:r>
            <a:r>
              <a:rPr sz="2700" spc="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re</a:t>
            </a:r>
            <a:r>
              <a:rPr sz="2700" spc="9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exists</a:t>
            </a:r>
            <a:r>
              <a:rPr sz="2700" spc="76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</a:t>
            </a:r>
            <a:r>
              <a:rPr sz="2700" spc="9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rpre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ation</a:t>
            </a:r>
            <a:r>
              <a:rPr sz="2700" spc="10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that </a:t>
            </a:r>
            <a:endParaRPr sz="2700">
              <a:latin typeface="Georgia"/>
              <a:cs typeface="Georgia"/>
            </a:endParaRPr>
          </a:p>
          <a:p>
            <a:pPr marL="515112" marR="214075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satisfies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gi</a:t>
            </a:r>
            <a:r>
              <a:rPr sz="2700" spc="4" dirty="0">
                <a:latin typeface="Georgia"/>
                <a:cs typeface="Georgia"/>
              </a:rPr>
              <a:t>v</a:t>
            </a:r>
            <a:r>
              <a:rPr sz="2700" spc="0" dirty="0">
                <a:latin typeface="Georgia"/>
                <a:cs typeface="Georgia"/>
              </a:rPr>
              <a:t>en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Bo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lean for</a:t>
            </a:r>
            <a:r>
              <a:rPr sz="2700" spc="-9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u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-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515112" marR="212356" indent="-274320" algn="just">
              <a:lnSpc>
                <a:spcPts val="3067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te</a:t>
            </a:r>
            <a:r>
              <a:rPr sz="2700" spc="-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min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n</a:t>
            </a: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:</a:t>
            </a:r>
            <a:r>
              <a:rPr sz="2700" spc="35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If</a:t>
            </a:r>
            <a:r>
              <a:rPr sz="2700" spc="35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14" dirty="0">
                <a:latin typeface="Georgia"/>
                <a:cs typeface="Georgia"/>
              </a:rPr>
              <a:t>h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36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va</a:t>
            </a:r>
            <a:r>
              <a:rPr sz="2700" spc="-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iab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es</a:t>
            </a:r>
            <a:r>
              <a:rPr sz="2700" spc="356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35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356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gi</a:t>
            </a:r>
            <a:r>
              <a:rPr sz="2700" spc="-19" dirty="0">
                <a:latin typeface="Georgia"/>
                <a:cs typeface="Georgia"/>
              </a:rPr>
              <a:t>v</a:t>
            </a:r>
            <a:r>
              <a:rPr sz="2700" spc="0" dirty="0">
                <a:latin typeface="Georgia"/>
                <a:cs typeface="Georgia"/>
              </a:rPr>
              <a:t>en</a:t>
            </a:r>
            <a:r>
              <a:rPr sz="2700" spc="36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Bo</a:t>
            </a:r>
            <a:r>
              <a:rPr sz="2700" spc="-1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le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 </a:t>
            </a:r>
            <a:endParaRPr sz="2700">
              <a:latin typeface="Georgia"/>
              <a:cs typeface="Georgia"/>
            </a:endParaRPr>
          </a:p>
          <a:p>
            <a:pPr marL="515112" marR="212356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formu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a </a:t>
            </a:r>
            <a:r>
              <a:rPr sz="2700" spc="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an</a:t>
            </a:r>
            <a:r>
              <a:rPr sz="2700" spc="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assi</a:t>
            </a: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ned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su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h</a:t>
            </a:r>
            <a:r>
              <a:rPr sz="2700" spc="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way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</a:t>
            </a:r>
            <a:endParaRPr sz="2700">
              <a:latin typeface="Georgia"/>
              <a:cs typeface="Georgia"/>
            </a:endParaRPr>
          </a:p>
          <a:p>
            <a:pPr marL="515112" marR="212356" algn="just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formu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a evalu</a:t>
            </a:r>
            <a:r>
              <a:rPr sz="2700" spc="-1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s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TRUE.</a:t>
            </a:r>
            <a:endParaRPr sz="2700">
              <a:latin typeface="Georgia"/>
              <a:cs typeface="Georgia"/>
            </a:endParaRPr>
          </a:p>
          <a:p>
            <a:pPr marL="515112" marR="211769" indent="-274320" algn="just">
              <a:lnSpc>
                <a:spcPts val="3067"/>
              </a:lnSpc>
              <a:spcBef>
                <a:spcPts val="820"/>
              </a:spcBef>
              <a:tabLst>
                <a:tab pos="1003300" algn="l"/>
              </a:tabLst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42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If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ch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-9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signm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nts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ist, the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nction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exp</a:t>
            </a:r>
            <a:r>
              <a:rPr sz="2700" spc="-1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1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sed </a:t>
            </a:r>
            <a:endParaRPr sz="2700">
              <a:latin typeface="Georgia"/>
              <a:cs typeface="Georgia"/>
            </a:endParaRPr>
          </a:p>
          <a:p>
            <a:pPr marL="515112" marR="211769" algn="just">
              <a:lnSpc>
                <a:spcPts val="3067"/>
              </a:lnSpc>
              <a:spcBef>
                <a:spcPts val="174"/>
              </a:spcBef>
              <a:tabLst>
                <a:tab pos="1003300" algn="l"/>
              </a:tabLst>
            </a:pPr>
            <a:r>
              <a:rPr sz="2700" spc="0" dirty="0">
                <a:latin typeface="Georgia"/>
                <a:cs typeface="Georgia"/>
              </a:rPr>
              <a:t>by	the</a:t>
            </a:r>
            <a:r>
              <a:rPr sz="2700" spc="4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fo</a:t>
            </a:r>
            <a:r>
              <a:rPr sz="2700" spc="-1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mu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4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40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ident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ca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ly</a:t>
            </a:r>
            <a:r>
              <a:rPr sz="2700" spc="4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FALSE</a:t>
            </a:r>
            <a:r>
              <a:rPr sz="2700" spc="4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for</a:t>
            </a:r>
            <a:r>
              <a:rPr sz="2700" spc="39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all</a:t>
            </a:r>
            <a:r>
              <a:rPr sz="2700" spc="40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possible </a:t>
            </a:r>
            <a:endParaRPr sz="2700">
              <a:latin typeface="Georgia"/>
              <a:cs typeface="Georgia"/>
            </a:endParaRPr>
          </a:p>
          <a:p>
            <a:pPr marL="515112" marR="211769" algn="just">
              <a:lnSpc>
                <a:spcPts val="3067"/>
              </a:lnSpc>
              <a:spcBef>
                <a:spcPts val="174"/>
              </a:spcBef>
              <a:tabLst>
                <a:tab pos="1003300" algn="l"/>
              </a:tabLst>
            </a:pPr>
            <a:r>
              <a:rPr sz="2700" spc="0" dirty="0">
                <a:latin typeface="Georgia"/>
                <a:cs typeface="Georgia"/>
              </a:rPr>
              <a:t>variable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as</a:t>
            </a:r>
            <a:r>
              <a:rPr sz="2700" spc="-9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ignme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9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8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this</a:t>
            </a:r>
            <a:r>
              <a:rPr sz="2700" spc="7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la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ter</a:t>
            </a:r>
            <a:r>
              <a:rPr sz="2700" spc="8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se,</a:t>
            </a:r>
            <a:r>
              <a:rPr sz="2700" spc="79" dirty="0">
                <a:latin typeface="Georgia"/>
                <a:cs typeface="Georgia"/>
              </a:rPr>
              <a:t> 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8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7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called</a:t>
            </a:r>
            <a:r>
              <a:rPr sz="2700" spc="8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un</a:t>
            </a:r>
            <a:r>
              <a:rPr sz="2700" spc="-9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atisfiabl</a:t>
            </a:r>
            <a:r>
              <a:rPr sz="2700" spc="-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,</a:t>
            </a:r>
            <a:r>
              <a:rPr sz="2700" spc="8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othe</a:t>
            </a:r>
            <a:r>
              <a:rPr sz="2700" spc="-1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w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-1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e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5"/>
              </a:spcBef>
            </a:pPr>
            <a:r>
              <a:rPr sz="2700" spc="0" dirty="0">
                <a:latin typeface="Georgia"/>
                <a:cs typeface="Georgia"/>
              </a:rPr>
              <a:t>satisfiabl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76424" marR="3575966" algn="ctr">
              <a:lnSpc>
                <a:spcPct val="94685"/>
              </a:lnSpc>
              <a:spcBef>
                <a:spcPts val="370"/>
              </a:spcBef>
            </a:pP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Ex</a:t>
            </a:r>
            <a:r>
              <a:rPr sz="3000" spc="-9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mple: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200"/>
              </a:lnSpc>
              <a:spcBef>
                <a:spcPts val="29"/>
              </a:spcBef>
            </a:pPr>
            <a:endParaRPr sz="1200"/>
          </a:p>
          <a:p>
            <a:pPr marL="201460" marR="482311" algn="ctr">
              <a:lnSpc>
                <a:spcPct val="94685"/>
              </a:lnSpc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latin typeface="Georgia"/>
                <a:cs typeface="Georgia"/>
              </a:rPr>
              <a:t>C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n</a:t>
            </a:r>
            <a:r>
              <a:rPr sz="2800" spc="9" dirty="0">
                <a:latin typeface="Georgia"/>
                <a:cs typeface="Georgia"/>
              </a:rPr>
              <a:t>s</a:t>
            </a:r>
            <a:r>
              <a:rPr sz="2800" spc="0" dirty="0">
                <a:latin typeface="Georgia"/>
                <a:cs typeface="Georgia"/>
              </a:rPr>
              <a:t>id</a:t>
            </a:r>
            <a:r>
              <a:rPr sz="2800" spc="9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r</a:t>
            </a:r>
            <a:r>
              <a:rPr sz="2800" spc="-9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the</a:t>
            </a:r>
            <a:r>
              <a:rPr sz="2800" spc="-2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Bo</a:t>
            </a:r>
            <a:r>
              <a:rPr sz="2800" spc="9" dirty="0">
                <a:latin typeface="Georgia"/>
                <a:cs typeface="Georgia"/>
              </a:rPr>
              <a:t>o</a:t>
            </a:r>
            <a:r>
              <a:rPr sz="2800" spc="0" dirty="0">
                <a:latin typeface="Georgia"/>
                <a:cs typeface="Georgia"/>
              </a:rPr>
              <a:t>l</a:t>
            </a:r>
            <a:r>
              <a:rPr sz="2800" spc="9" dirty="0">
                <a:latin typeface="Georgia"/>
                <a:cs typeface="Georgia"/>
              </a:rPr>
              <a:t>e</a:t>
            </a:r>
            <a:r>
              <a:rPr sz="2800" spc="0" dirty="0">
                <a:latin typeface="Georgia"/>
                <a:cs typeface="Georgia"/>
              </a:rPr>
              <a:t>an</a:t>
            </a:r>
            <a:r>
              <a:rPr sz="2800" spc="-79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e</a:t>
            </a:r>
            <a:r>
              <a:rPr sz="2800" spc="9" dirty="0">
                <a:latin typeface="Georgia"/>
                <a:cs typeface="Georgia"/>
              </a:rPr>
              <a:t>x</a:t>
            </a:r>
            <a:r>
              <a:rPr sz="2800" spc="0" dirty="0">
                <a:latin typeface="Georgia"/>
                <a:cs typeface="Georgia"/>
              </a:rPr>
              <a:t>pres</a:t>
            </a:r>
            <a:r>
              <a:rPr sz="2800" spc="9" dirty="0">
                <a:latin typeface="Georgia"/>
                <a:cs typeface="Georgia"/>
              </a:rPr>
              <a:t>s</a:t>
            </a:r>
            <a:r>
              <a:rPr sz="2800" spc="0" dirty="0">
                <a:latin typeface="Georgia"/>
                <a:cs typeface="Georgia"/>
              </a:rPr>
              <a:t>io</a:t>
            </a:r>
            <a:r>
              <a:rPr sz="2800" spc="9" dirty="0">
                <a:latin typeface="Georgia"/>
                <a:cs typeface="Georgia"/>
              </a:rPr>
              <a:t>n</a:t>
            </a:r>
            <a:r>
              <a:rPr sz="2800" spc="0" dirty="0">
                <a:latin typeface="Georgia"/>
                <a:cs typeface="Georgia"/>
              </a:rPr>
              <a:t>:</a:t>
            </a:r>
            <a:r>
              <a:rPr sz="2800" spc="-127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“a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AND</a:t>
            </a:r>
            <a:r>
              <a:rPr sz="2800" spc="-56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NOT</a:t>
            </a:r>
            <a:r>
              <a:rPr sz="2800" spc="-24" dirty="0">
                <a:latin typeface="Georgia"/>
                <a:cs typeface="Georgia"/>
              </a:rPr>
              <a:t> </a:t>
            </a:r>
            <a:r>
              <a:rPr sz="2800" spc="0" dirty="0">
                <a:latin typeface="Georgia"/>
                <a:cs typeface="Georgia"/>
              </a:rPr>
              <a:t>b”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14"/>
              </a:spcBef>
            </a:pPr>
            <a:r>
              <a:rPr sz="19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950" spc="-69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t,</a:t>
            </a:r>
            <a:r>
              <a:rPr sz="2800" spc="-6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a=T</a:t>
            </a:r>
            <a:r>
              <a:rPr sz="28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UE</a:t>
            </a:r>
            <a:r>
              <a:rPr sz="2800" spc="-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and</a:t>
            </a:r>
            <a:r>
              <a:rPr sz="2800" spc="-4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b=FALSE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14"/>
              </a:spcBef>
            </a:pPr>
            <a:r>
              <a:rPr sz="19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950" spc="-69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Exp</a:t>
            </a:r>
            <a:r>
              <a:rPr sz="28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es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ion</a:t>
            </a:r>
            <a:r>
              <a:rPr sz="2800" spc="-2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becomes(a AND</a:t>
            </a:r>
            <a:r>
              <a:rPr sz="2800" spc="-5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NOT</a:t>
            </a:r>
            <a:r>
              <a:rPr sz="2800" spc="-4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800" spc="-9" dirty="0">
                <a:solidFill>
                  <a:srgbClr val="424455"/>
                </a:solidFill>
                <a:latin typeface="Georgia"/>
                <a:cs typeface="Georgia"/>
              </a:rPr>
              <a:t>)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=T</a:t>
            </a:r>
            <a:r>
              <a:rPr sz="28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UE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16"/>
              </a:spcBef>
            </a:pPr>
            <a:r>
              <a:rPr sz="19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950" spc="-69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He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ce</a:t>
            </a:r>
            <a:r>
              <a:rPr sz="2800" spc="59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it is</a:t>
            </a:r>
            <a:r>
              <a:rPr sz="28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sat</a:t>
            </a:r>
            <a:r>
              <a:rPr sz="2800" spc="-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sfiable.</a:t>
            </a:r>
            <a:endParaRPr sz="2800">
              <a:latin typeface="Georgia"/>
              <a:cs typeface="Georgia"/>
            </a:endParaRPr>
          </a:p>
          <a:p>
            <a:pPr marL="201437" marR="499931" algn="ctr">
              <a:lnSpc>
                <a:spcPct val="94685"/>
              </a:lnSpc>
              <a:spcBef>
                <a:spcPts val="4210"/>
              </a:spcBef>
            </a:pPr>
            <a:r>
              <a:rPr sz="23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50" spc="184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nsid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800" spc="-3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800" spc="-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Boo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ean</a:t>
            </a:r>
            <a:r>
              <a:rPr sz="2800" spc="-5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expres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ion:</a:t>
            </a:r>
            <a:r>
              <a:rPr sz="28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"a AND</a:t>
            </a:r>
            <a:r>
              <a:rPr sz="2800" spc="-5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NOT</a:t>
            </a:r>
            <a:r>
              <a:rPr sz="2800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a"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17"/>
              </a:spcBef>
            </a:pPr>
            <a:r>
              <a:rPr sz="19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950" spc="-69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t,</a:t>
            </a:r>
            <a:r>
              <a:rPr sz="2800" spc="-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a=T</a:t>
            </a:r>
            <a:r>
              <a:rPr sz="2800" spc="-9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UE,</a:t>
            </a:r>
            <a:r>
              <a:rPr sz="2800" spc="-10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800" spc="-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expressi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800" spc="-10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becom</a:t>
            </a:r>
            <a:r>
              <a:rPr sz="28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800" spc="-10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FAL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14"/>
              </a:spcBef>
            </a:pPr>
            <a:r>
              <a:rPr sz="19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950" spc="-69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Let,</a:t>
            </a:r>
            <a:r>
              <a:rPr sz="28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a=FALSE,</a:t>
            </a:r>
            <a:r>
              <a:rPr sz="28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800" spc="-3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expression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becomes</a:t>
            </a:r>
            <a:r>
              <a:rPr sz="2800" spc="-107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FALSE</a:t>
            </a:r>
            <a:endParaRPr sz="28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516"/>
              </a:spcBef>
            </a:pPr>
            <a:r>
              <a:rPr sz="19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950" spc="-69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He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ce</a:t>
            </a:r>
            <a:r>
              <a:rPr sz="2800" spc="-7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it</a:t>
            </a:r>
            <a:r>
              <a:rPr sz="28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is</a:t>
            </a:r>
            <a:r>
              <a:rPr sz="28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unsatisfia</a:t>
            </a:r>
            <a:r>
              <a:rPr sz="2800" spc="-14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800" spc="0" dirty="0">
                <a:solidFill>
                  <a:srgbClr val="424455"/>
                </a:solidFill>
                <a:latin typeface="Georgia"/>
                <a:cs typeface="Georgia"/>
              </a:rPr>
              <a:t>le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848258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Normal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Forms of Boolean</a:t>
            </a:r>
            <a:r>
              <a:rPr sz="3300" spc="1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Expr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ss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ons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7"/>
              </a:spcBef>
            </a:pPr>
            <a:endParaRPr sz="500"/>
          </a:p>
          <a:p>
            <a:pPr marL="396240">
              <a:lnSpc>
                <a:spcPct val="94685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4" dirty="0">
                <a:latin typeface="Georgia"/>
                <a:cs typeface="Georgia"/>
              </a:rPr>
              <a:t>D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4" dirty="0">
                <a:latin typeface="Georgia"/>
                <a:cs typeface="Georgia"/>
              </a:rPr>
              <a:t>j</a:t>
            </a:r>
            <a:r>
              <a:rPr sz="2700" spc="0" dirty="0">
                <a:latin typeface="Georgia"/>
                <a:cs typeface="Georgia"/>
              </a:rPr>
              <a:t>unc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ive</a:t>
            </a:r>
            <a:r>
              <a:rPr sz="2700" spc="-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normal for</a:t>
            </a:r>
            <a:r>
              <a:rPr sz="2700" spc="-9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:</a:t>
            </a:r>
            <a:r>
              <a:rPr sz="2700" spc="-9" dirty="0">
                <a:latin typeface="Georgia"/>
                <a:cs typeface="Georgia"/>
              </a:rPr>
              <a:t>(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F)</a:t>
            </a:r>
            <a:endParaRPr sz="2700">
              <a:latin typeface="Georgia"/>
              <a:cs typeface="Georgia"/>
            </a:endParaRPr>
          </a:p>
          <a:p>
            <a:pPr marL="727252">
              <a:lnSpc>
                <a:spcPct val="94685"/>
              </a:lnSpc>
              <a:spcBef>
                <a:spcPts val="820"/>
              </a:spcBef>
            </a:pPr>
            <a:r>
              <a:rPr sz="2700" spc="0" dirty="0">
                <a:latin typeface="Georgia"/>
                <a:cs typeface="Georgia"/>
              </a:rPr>
              <a:t>if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boo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ean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press</a:t>
            </a:r>
            <a:r>
              <a:rPr sz="2700" spc="-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on</a:t>
            </a:r>
            <a:r>
              <a:rPr sz="2700" spc="-3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can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pressed</a:t>
            </a:r>
            <a:r>
              <a:rPr sz="2700" spc="-3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s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m</a:t>
            </a:r>
            <a:endParaRPr sz="2700">
              <a:latin typeface="Georgia"/>
              <a:cs typeface="Georgia"/>
            </a:endParaRPr>
          </a:p>
          <a:p>
            <a:pPr marL="727252">
              <a:lnSpc>
                <a:spcPct val="94685"/>
              </a:lnSpc>
              <a:spcBef>
                <a:spcPts val="820"/>
              </a:spcBef>
            </a:pPr>
            <a:r>
              <a:rPr sz="2700" spc="-4" dirty="0">
                <a:latin typeface="Georgia"/>
                <a:cs typeface="Georgia"/>
              </a:rPr>
              <a:t>(</a:t>
            </a:r>
            <a:r>
              <a:rPr sz="2700" spc="0" dirty="0">
                <a:latin typeface="Georgia"/>
                <a:cs typeface="Georgia"/>
              </a:rPr>
              <a:t>OR)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of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prod</a:t>
            </a:r>
            <a:r>
              <a:rPr sz="2700" spc="-14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cts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(AND).</a:t>
            </a:r>
            <a:endParaRPr sz="2700">
              <a:latin typeface="Georgia"/>
              <a:cs typeface="Georgia"/>
            </a:endParaRPr>
          </a:p>
          <a:p>
            <a:pPr marL="396240">
              <a:lnSpc>
                <a:spcPct val="94685"/>
              </a:lnSpc>
              <a:spcBef>
                <a:spcPts val="82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This can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writ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en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as:</a:t>
            </a:r>
            <a:endParaRPr sz="2700">
              <a:latin typeface="Georgia"/>
              <a:cs typeface="Georgia"/>
            </a:endParaRPr>
          </a:p>
          <a:p>
            <a:pPr marL="670560">
              <a:lnSpc>
                <a:spcPct val="94685"/>
              </a:lnSpc>
              <a:spcBef>
                <a:spcPts val="735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500" spc="22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A1 </a:t>
            </a:r>
            <a:r>
              <a:rPr sz="2400" b="1" spc="0" dirty="0">
                <a:solidFill>
                  <a:srgbClr val="424455"/>
                </a:solidFill>
                <a:latin typeface="Georgia"/>
                <a:cs typeface="Georgia"/>
              </a:rPr>
              <a:t>OR</a:t>
            </a:r>
            <a:r>
              <a:rPr sz="2400" b="1" spc="-3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A2 </a:t>
            </a:r>
            <a:r>
              <a:rPr sz="2400" b="1" spc="0" dirty="0">
                <a:solidFill>
                  <a:srgbClr val="424455"/>
                </a:solidFill>
                <a:latin typeface="Georgia"/>
                <a:cs typeface="Georgia"/>
              </a:rPr>
              <a:t>OR</a:t>
            </a:r>
            <a:r>
              <a:rPr sz="2400" b="1" spc="-3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A3 </a:t>
            </a:r>
            <a:r>
              <a:rPr sz="2400" b="1" spc="0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b="1" spc="-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...An</a:t>
            </a:r>
            <a:endParaRPr sz="2400">
              <a:latin typeface="Georgia"/>
              <a:cs typeface="Georgia"/>
            </a:endParaRPr>
          </a:p>
          <a:p>
            <a:pPr marL="670560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ere 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ch Ai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is expre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sed as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T1 </a:t>
            </a:r>
            <a:r>
              <a:rPr sz="20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b="1" spc="0" dirty="0">
                <a:solidFill>
                  <a:srgbClr val="424455"/>
                </a:solidFill>
                <a:latin typeface="Georgia"/>
                <a:cs typeface="Georgia"/>
              </a:rPr>
              <a:t>AND</a:t>
            </a:r>
            <a:r>
              <a:rPr sz="2000" b="1" spc="-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-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2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b="1" spc="0" dirty="0">
                <a:solidFill>
                  <a:srgbClr val="424455"/>
                </a:solidFill>
                <a:latin typeface="Georgia"/>
                <a:cs typeface="Georgia"/>
              </a:rPr>
              <a:t>AN</a:t>
            </a:r>
            <a:r>
              <a:rPr sz="2000" b="1" spc="-4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.....</a:t>
            </a:r>
            <a:r>
              <a:rPr sz="2000" spc="4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r>
              <a:rPr sz="2000" b="1" spc="-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000" b="1" spc="-1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000" b="1" spc="0" dirty="0">
                <a:solidFill>
                  <a:srgbClr val="424455"/>
                </a:solidFill>
                <a:latin typeface="Georgia"/>
                <a:cs typeface="Georgia"/>
              </a:rPr>
              <a:t>D</a:t>
            </a:r>
            <a:r>
              <a:rPr sz="2000" b="1" spc="-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000" spc="0" dirty="0">
                <a:solidFill>
                  <a:srgbClr val="424455"/>
                </a:solidFill>
                <a:latin typeface="Georgia"/>
                <a:cs typeface="Georgia"/>
              </a:rPr>
              <a:t>Tm</a:t>
            </a:r>
            <a:endParaRPr sz="2000">
              <a:latin typeface="Georgia"/>
              <a:cs typeface="Georgia"/>
            </a:endParaRPr>
          </a:p>
          <a:p>
            <a:pPr marL="670560">
              <a:lnSpc>
                <a:spcPct val="94685"/>
              </a:lnSpc>
              <a:spcBef>
                <a:spcPts val="732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ere</a:t>
            </a:r>
            <a:r>
              <a:rPr sz="2400" spc="2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ch Ti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is 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ther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 simp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variabl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, or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 negat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on</a:t>
            </a:r>
            <a:endParaRPr sz="2400">
              <a:latin typeface="Georgia"/>
              <a:cs typeface="Georgia"/>
            </a:endParaRPr>
          </a:p>
          <a:p>
            <a:pPr marL="945184">
              <a:lnSpc>
                <a:spcPct val="94685"/>
              </a:lnSpc>
              <a:spcBef>
                <a:spcPts val="150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(NOT) of a 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imple variabl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670560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650" spc="14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Each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of t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 terms Ai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is cal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ed a minter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951795" marR="395212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CNF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96891" indent="-274320">
              <a:lnSpc>
                <a:spcPts val="3090"/>
              </a:lnSpc>
              <a:spcBef>
                <a:spcPts val="1000"/>
              </a:spcBef>
              <a:tabLst>
                <a:tab pos="596900" algn="l"/>
              </a:tabLst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sz="2700" b="1" spc="0" dirty="0">
                <a:latin typeface="Georgia"/>
                <a:cs typeface="Georgia"/>
              </a:rPr>
              <a:t>Con</a:t>
            </a:r>
            <a:r>
              <a:rPr sz="2700" b="1" spc="4" dirty="0">
                <a:latin typeface="Georgia"/>
                <a:cs typeface="Georgia"/>
              </a:rPr>
              <a:t>j</a:t>
            </a:r>
            <a:r>
              <a:rPr sz="2700" b="1" spc="0" dirty="0">
                <a:latin typeface="Georgia"/>
                <a:cs typeface="Georgia"/>
              </a:rPr>
              <a:t>unct</a:t>
            </a:r>
            <a:r>
              <a:rPr sz="2700" b="1" spc="9" dirty="0">
                <a:latin typeface="Georgia"/>
                <a:cs typeface="Georgia"/>
              </a:rPr>
              <a:t>i</a:t>
            </a:r>
            <a:r>
              <a:rPr sz="2700" b="1" spc="0" dirty="0">
                <a:latin typeface="Georgia"/>
                <a:cs typeface="Georgia"/>
              </a:rPr>
              <a:t>ve Normal</a:t>
            </a:r>
            <a:r>
              <a:rPr sz="2700" b="1" spc="-9" dirty="0">
                <a:latin typeface="Georgia"/>
                <a:cs typeface="Georgia"/>
              </a:rPr>
              <a:t> </a:t>
            </a:r>
            <a:r>
              <a:rPr sz="2700" b="1" spc="0" dirty="0">
                <a:latin typeface="Georgia"/>
                <a:cs typeface="Georgia"/>
              </a:rPr>
              <a:t>For</a:t>
            </a:r>
            <a:r>
              <a:rPr sz="2700" b="1" spc="4" dirty="0">
                <a:latin typeface="Georgia"/>
                <a:cs typeface="Georgia"/>
              </a:rPr>
              <a:t>m</a:t>
            </a:r>
            <a:r>
              <a:rPr sz="2700" b="1" spc="0" dirty="0">
                <a:latin typeface="Georgia"/>
                <a:cs typeface="Georgia"/>
              </a:rPr>
              <a:t>:</a:t>
            </a:r>
            <a:r>
              <a:rPr sz="2700" b="1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if a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boolean </a:t>
            </a:r>
            <a:endParaRPr sz="2700">
              <a:latin typeface="Georgia"/>
              <a:cs typeface="Georgia"/>
            </a:endParaRPr>
          </a:p>
          <a:p>
            <a:pPr marL="515112" marR="296891">
              <a:lnSpc>
                <a:spcPts val="3067"/>
              </a:lnSpc>
              <a:spcBef>
                <a:spcPts val="173"/>
              </a:spcBef>
              <a:tabLst>
                <a:tab pos="596900" algn="l"/>
              </a:tabLst>
            </a:pP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xp</a:t>
            </a:r>
            <a:r>
              <a:rPr sz="2700" spc="0" dirty="0">
                <a:latin typeface="Georgia"/>
                <a:cs typeface="Georgia"/>
              </a:rPr>
              <a:t>ress</a:t>
            </a:r>
            <a:r>
              <a:rPr sz="2700" spc="-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on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can </a:t>
            </a:r>
            <a:r>
              <a:rPr sz="2700" spc="9" dirty="0">
                <a:latin typeface="Georgia"/>
                <a:cs typeface="Georgia"/>
              </a:rPr>
              <a:t>b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xp</a:t>
            </a:r>
            <a:r>
              <a:rPr sz="2700" spc="0" dirty="0">
                <a:latin typeface="Georgia"/>
                <a:cs typeface="Georgia"/>
              </a:rPr>
              <a:t>ress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-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as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prod</a:t>
            </a:r>
            <a:r>
              <a:rPr sz="2700" spc="-9" dirty="0">
                <a:latin typeface="Georgia"/>
                <a:cs typeface="Georgia"/>
              </a:rPr>
              <a:t>u</a:t>
            </a:r>
            <a:r>
              <a:rPr sz="2700" spc="0" dirty="0">
                <a:latin typeface="Georgia"/>
                <a:cs typeface="Georgia"/>
              </a:rPr>
              <a:t>ct (AND) of </a:t>
            </a:r>
            <a:endParaRPr sz="2700">
              <a:latin typeface="Georgia"/>
              <a:cs typeface="Georgia"/>
            </a:endParaRPr>
          </a:p>
          <a:p>
            <a:pPr marL="515112" marR="296891">
              <a:lnSpc>
                <a:spcPts val="3067"/>
              </a:lnSpc>
              <a:spcBef>
                <a:spcPts val="171"/>
              </a:spcBef>
              <a:tabLst>
                <a:tab pos="596900" algn="l"/>
              </a:tabLst>
            </a:pPr>
            <a:r>
              <a:rPr sz="2700" spc="0" dirty="0">
                <a:latin typeface="Georgia"/>
                <a:cs typeface="Georgia"/>
              </a:rPr>
              <a:t>sums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(OR</a:t>
            </a:r>
            <a:r>
              <a:rPr sz="2700" spc="-9" dirty="0">
                <a:latin typeface="Georgia"/>
                <a:cs typeface="Georgia"/>
              </a:rPr>
              <a:t>)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This can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writ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en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as: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5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O1 AND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2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AND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3 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ND ...On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650" spc="14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ere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each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is expre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sed as T1 OR T2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OR..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OR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Tm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32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650" spc="14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ere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ch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is 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ther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 simp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variabl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, or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 negat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on</a:t>
            </a:r>
            <a:endParaRPr sz="2400">
              <a:latin typeface="Georgia"/>
              <a:cs typeface="Georgia"/>
            </a:endParaRPr>
          </a:p>
          <a:p>
            <a:pPr marL="789736">
              <a:lnSpc>
                <a:spcPct val="94685"/>
              </a:lnSpc>
              <a:spcBef>
                <a:spcPts val="150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(NOT) of a 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imple variabl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1650" spc="14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Each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of t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h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 terms Oi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is cal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400" spc="56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 max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term.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08997" marR="340931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Continue..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54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5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diff</a:t>
            </a:r>
            <a:r>
              <a:rPr sz="2700" spc="-19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cu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t</a:t>
            </a:r>
            <a:r>
              <a:rPr sz="2700" spc="555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5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prove</a:t>
            </a:r>
            <a:r>
              <a:rPr sz="2700" spc="545" dirty="0">
                <a:latin typeface="Georgia"/>
                <a:cs typeface="Georgia"/>
              </a:rPr>
              <a:t> </a:t>
            </a:r>
            <a:r>
              <a:rPr sz="2700" spc="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5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comple</a:t>
            </a:r>
            <a:r>
              <a:rPr sz="2700" spc="-9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eness</a:t>
            </a:r>
            <a:r>
              <a:rPr sz="2700" spc="540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5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any</a:t>
            </a:r>
            <a:r>
              <a:rPr sz="2700" spc="550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NP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0"/>
              </a:spcBef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roblem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Convert  </a:t>
            </a:r>
            <a:r>
              <a:rPr sz="2700" spc="35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9" dirty="0">
                <a:latin typeface="Georgia"/>
                <a:cs typeface="Georgia"/>
              </a:rPr>
              <a:t>v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1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y  </a:t>
            </a:r>
            <a:r>
              <a:rPr sz="2700" spc="370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  </a:t>
            </a:r>
            <a:r>
              <a:rPr sz="2700" spc="36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prob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em  </a:t>
            </a:r>
            <a:r>
              <a:rPr sz="2700" spc="36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‘</a:t>
            </a:r>
            <a:r>
              <a:rPr sz="2700" spc="-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’  </a:t>
            </a:r>
            <a:r>
              <a:rPr sz="2700" spc="365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  </a:t>
            </a:r>
            <a:r>
              <a:rPr sz="2700" spc="37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tisfiabili</a:t>
            </a:r>
            <a:r>
              <a:rPr sz="2700" spc="-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y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5"/>
              </a:spcBef>
            </a:pP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roblem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rove</a:t>
            </a:r>
            <a:r>
              <a:rPr sz="2700" spc="-3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it is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complete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  C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mplete problems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66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Tr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ve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ling</a:t>
            </a:r>
            <a:r>
              <a:rPr sz="2200" spc="2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Sal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sm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Prob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em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71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Node</a:t>
            </a:r>
            <a:r>
              <a:rPr sz="2200" spc="-51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cover</a:t>
            </a:r>
            <a:r>
              <a:rPr sz="2200" spc="-52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em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71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Ha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iltonian</a:t>
            </a:r>
            <a:r>
              <a:rPr sz="2200" spc="-8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Ci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rcu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-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em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668"/>
              </a:spcBef>
            </a:pPr>
            <a:r>
              <a:rPr sz="150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500" spc="0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spc="66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AT:</a:t>
            </a:r>
            <a:r>
              <a:rPr sz="2200" spc="-26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2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oole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200" spc="-4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x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pression</a:t>
            </a:r>
            <a:r>
              <a:rPr sz="2200" spc="2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n CNF</a:t>
            </a:r>
            <a:r>
              <a:rPr sz="2200" spc="-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sa</a:t>
            </a:r>
            <a:r>
              <a:rPr sz="2200" spc="-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is</a:t>
            </a:r>
            <a:r>
              <a:rPr sz="2200" spc="4" dirty="0">
                <a:solidFill>
                  <a:srgbClr val="424455"/>
                </a:solidFill>
                <a:latin typeface="Georgia"/>
                <a:cs typeface="Georgia"/>
              </a:rPr>
              <a:t>f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ia</a:t>
            </a:r>
            <a:r>
              <a:rPr sz="2200" spc="-4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200" spc="0" dirty="0">
                <a:solidFill>
                  <a:srgbClr val="424455"/>
                </a:solidFill>
                <a:latin typeface="Georgia"/>
                <a:cs typeface="Georgia"/>
              </a:rPr>
              <a:t>le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3674008" y="2964179"/>
            <a:ext cx="5317591" cy="34366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4685"/>
              </a:lnSpc>
              <a:spcBef>
                <a:spcPts val="204"/>
              </a:spcBef>
            </a:pPr>
            <a:r>
              <a:rPr sz="2700" spc="0" dirty="0">
                <a:latin typeface="Georgia"/>
                <a:cs typeface="Georgia"/>
              </a:rPr>
              <a:t>= 2.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95700" y="2964179"/>
            <a:ext cx="5295900" cy="343662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00"/>
              </a:lnSpc>
              <a:spcBef>
                <a:spcPts val="47"/>
              </a:spcBef>
            </a:pPr>
            <a:endParaRPr sz="700"/>
          </a:p>
          <a:p>
            <a:pPr marL="1768729">
              <a:lnSpc>
                <a:spcPct val="94685"/>
              </a:lnSpc>
              <a:spcBef>
                <a:spcPts val="2000"/>
              </a:spcBef>
            </a:pP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2.Node cover Decision</a:t>
            </a:r>
            <a:r>
              <a:rPr sz="30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P</a:t>
            </a:r>
            <a:r>
              <a:rPr sz="3000" spc="-9" dirty="0">
                <a:solidFill>
                  <a:srgbClr val="8B438F"/>
                </a:solidFill>
                <a:latin typeface="Georgia"/>
                <a:cs typeface="Georgia"/>
              </a:rPr>
              <a:t>r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obl</a:t>
            </a:r>
            <a:r>
              <a:rPr sz="3000" spc="4" dirty="0">
                <a:solidFill>
                  <a:srgbClr val="8B438F"/>
                </a:solidFill>
                <a:latin typeface="Georgia"/>
                <a:cs typeface="Georgia"/>
              </a:rPr>
              <a:t>e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m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322778" indent="-274320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It is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subset of vertices</a:t>
            </a:r>
            <a:r>
              <a:rPr sz="2700" spc="-3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touch 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ll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edges</a:t>
            </a:r>
            <a:r>
              <a:rPr sz="2700" spc="-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 </a:t>
            </a:r>
            <a:endParaRPr sz="2700">
              <a:latin typeface="Georgia"/>
              <a:cs typeface="Georgia"/>
            </a:endParaRPr>
          </a:p>
          <a:p>
            <a:pPr marL="515112" marR="322778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undirect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g</a:t>
            </a:r>
            <a:r>
              <a:rPr sz="2700" spc="0" dirty="0">
                <a:latin typeface="Georgia"/>
                <a:cs typeface="Georgia"/>
              </a:rPr>
              <a:t>raph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Node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cover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for</a:t>
            </a:r>
            <a:r>
              <a:rPr sz="2700" spc="-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this gr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ph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</a:t>
            </a:r>
            <a:r>
              <a:rPr sz="2700" spc="-4" dirty="0">
                <a:latin typeface="Georgia"/>
                <a:cs typeface="Georgia"/>
              </a:rPr>
              <a:t>s:</a:t>
            </a:r>
            <a:r>
              <a:rPr sz="2700" spc="4" dirty="0">
                <a:latin typeface="Georgia"/>
                <a:cs typeface="Georgia"/>
              </a:rPr>
              <a:t>{</a:t>
            </a:r>
            <a:r>
              <a:rPr sz="2700" spc="0" dirty="0">
                <a:latin typeface="Georgia"/>
                <a:cs typeface="Georgia"/>
              </a:rPr>
              <a:t>1,</a:t>
            </a:r>
            <a:r>
              <a:rPr sz="2700" spc="-4" dirty="0">
                <a:latin typeface="Georgia"/>
                <a:cs typeface="Georgia"/>
              </a:rPr>
              <a:t>6</a:t>
            </a:r>
            <a:r>
              <a:rPr sz="2700" spc="0" dirty="0">
                <a:latin typeface="Georgia"/>
                <a:cs typeface="Georgia"/>
              </a:rPr>
              <a:t>}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2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wh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ch has size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6 -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4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08997" marR="3409316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Continue..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76"/>
              </a:spcBef>
            </a:pPr>
            <a:endParaRPr sz="1300"/>
          </a:p>
          <a:p>
            <a:pPr marL="515112" marR="213174" indent="-274320" algn="just">
              <a:lnSpc>
                <a:spcPts val="2920"/>
              </a:lnSpc>
              <a:spcBef>
                <a:spcPts val="146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163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node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-14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ov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</a:t>
            </a:r>
            <a:r>
              <a:rPr sz="2700" spc="15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153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143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graph</a:t>
            </a:r>
            <a:r>
              <a:rPr sz="2700" spc="16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</a:t>
            </a:r>
            <a:r>
              <a:rPr sz="2700" spc="14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with</a:t>
            </a:r>
            <a:r>
              <a:rPr sz="2700" spc="168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‘n’</a:t>
            </a:r>
            <a:r>
              <a:rPr sz="2700" spc="163" dirty="0">
                <a:latin typeface="Georgia"/>
                <a:cs typeface="Georgia"/>
              </a:rPr>
              <a:t> </a:t>
            </a:r>
            <a:r>
              <a:rPr sz="2700" spc="-9" dirty="0">
                <a:latin typeface="Georgia"/>
                <a:cs typeface="Georgia"/>
              </a:rPr>
              <a:t>v</a:t>
            </a:r>
            <a:r>
              <a:rPr sz="2700" spc="0" dirty="0">
                <a:latin typeface="Georgia"/>
                <a:cs typeface="Georgia"/>
              </a:rPr>
              <a:t>ertices</a:t>
            </a:r>
            <a:r>
              <a:rPr sz="2700" spc="153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has</a:t>
            </a:r>
            <a:r>
              <a:rPr sz="2700" spc="153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 rem</a:t>
            </a:r>
            <a:r>
              <a:rPr sz="2700" spc="-1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vable</a:t>
            </a:r>
            <a:r>
              <a:rPr sz="2700" spc="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ve</a:t>
            </a:r>
            <a:r>
              <a:rPr sz="2700" spc="-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ti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es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from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29" dirty="0">
                <a:latin typeface="Georgia"/>
                <a:cs typeface="Georgia"/>
              </a:rPr>
              <a:t> 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hen</a:t>
            </a:r>
            <a:r>
              <a:rPr sz="2700" spc="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4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minimum node cover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515112" marR="212560" indent="-274320" algn="just">
              <a:lnSpc>
                <a:spcPts val="2920"/>
              </a:lnSpc>
              <a:spcBef>
                <a:spcPts val="643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Els</a:t>
            </a:r>
            <a:r>
              <a:rPr sz="2700" spc="-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,</a:t>
            </a:r>
            <a:r>
              <a:rPr sz="2700" spc="35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-1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r</a:t>
            </a:r>
            <a:r>
              <a:rPr sz="2700" spc="33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each</a:t>
            </a:r>
            <a:r>
              <a:rPr sz="2700" spc="34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m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vab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35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rt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x</a:t>
            </a:r>
            <a:r>
              <a:rPr sz="2700" spc="35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</a:t>
            </a:r>
            <a:r>
              <a:rPr sz="2700" spc="341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346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,</a:t>
            </a:r>
            <a:r>
              <a:rPr sz="2700" spc="35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find</a:t>
            </a:r>
            <a:r>
              <a:rPr sz="2700" spc="341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 number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-19" dirty="0">
                <a:latin typeface="Georgia"/>
                <a:cs typeface="Georgia"/>
              </a:rPr>
              <a:t>ρ</a:t>
            </a:r>
            <a:r>
              <a:rPr sz="2700" spc="-4" dirty="0">
                <a:latin typeface="Georgia"/>
                <a:cs typeface="Georgia"/>
              </a:rPr>
              <a:t>(</a:t>
            </a:r>
            <a:r>
              <a:rPr sz="2700" spc="0" dirty="0">
                <a:latin typeface="Georgia"/>
                <a:cs typeface="Georgia"/>
              </a:rPr>
              <a:t>C−{v})</a:t>
            </a:r>
            <a:r>
              <a:rPr sz="2700" spc="1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rem</a:t>
            </a:r>
            <a:r>
              <a:rPr sz="2700" spc="-1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vable</a:t>
            </a:r>
            <a:r>
              <a:rPr sz="2700" spc="1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ve</a:t>
            </a:r>
            <a:r>
              <a:rPr sz="2700" spc="-4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ti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es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the</a:t>
            </a:r>
            <a:r>
              <a:rPr sz="2700" spc="1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rtex cover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−{</a:t>
            </a:r>
            <a:r>
              <a:rPr sz="2700" spc="4" dirty="0">
                <a:latin typeface="Georgia"/>
                <a:cs typeface="Georgia"/>
              </a:rPr>
              <a:t>v}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358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Repeat </a:t>
            </a:r>
            <a:r>
              <a:rPr sz="2700" spc="4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until </a:t>
            </a:r>
            <a:r>
              <a:rPr sz="2700" spc="420" dirty="0">
                <a:latin typeface="Georgia"/>
                <a:cs typeface="Georgia"/>
              </a:rPr>
              <a:t> 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he </a:t>
            </a:r>
            <a:r>
              <a:rPr sz="2700" spc="4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rt</a:t>
            </a:r>
            <a:r>
              <a:rPr sz="2700" spc="-9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x </a:t>
            </a:r>
            <a:r>
              <a:rPr sz="2700" spc="4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cov</a:t>
            </a:r>
            <a:r>
              <a:rPr sz="2700" spc="-1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 </a:t>
            </a:r>
            <a:r>
              <a:rPr sz="2700" spc="4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has </a:t>
            </a:r>
            <a:r>
              <a:rPr sz="2700" spc="4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no </a:t>
            </a:r>
            <a:r>
              <a:rPr sz="2700" spc="4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rem</a:t>
            </a:r>
            <a:r>
              <a:rPr sz="2700" spc="-1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vab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ts val="2920"/>
              </a:lnSpc>
              <a:spcBef>
                <a:spcPts val="146"/>
              </a:spcBef>
            </a:pPr>
            <a:r>
              <a:rPr sz="2700" spc="0" dirty="0">
                <a:latin typeface="Georgia"/>
                <a:cs typeface="Georgia"/>
              </a:rPr>
              <a:t>v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rtice</a:t>
            </a:r>
            <a:r>
              <a:rPr sz="2700" spc="4" dirty="0">
                <a:latin typeface="Georgia"/>
                <a:cs typeface="Georgia"/>
              </a:rPr>
              <a:t>s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ts val="3067"/>
              </a:lnSpc>
              <a:spcBef>
                <a:spcPts val="349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Time complexi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y</a:t>
            </a:r>
            <a:r>
              <a:rPr sz="2700" spc="-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=O(</a:t>
            </a:r>
            <a:r>
              <a:rPr sz="2700" spc="-4" dirty="0">
                <a:latin typeface="Georgia"/>
                <a:cs typeface="Georgia"/>
              </a:rPr>
              <a:t>n</a:t>
            </a:r>
            <a:r>
              <a:rPr sz="2700" spc="-4" baseline="26000" dirty="0">
                <a:latin typeface="Georgia"/>
                <a:cs typeface="Georgia"/>
              </a:rPr>
              <a:t>5</a:t>
            </a:r>
            <a:r>
              <a:rPr sz="2700" spc="0" dirty="0">
                <a:latin typeface="Georgia"/>
                <a:cs typeface="Georgia"/>
              </a:rPr>
              <a:t>)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495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This </a:t>
            </a:r>
            <a:r>
              <a:rPr sz="2700" spc="28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</a:t>
            </a:r>
            <a:r>
              <a:rPr sz="2700" spc="-1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blem </a:t>
            </a:r>
            <a:r>
              <a:rPr sz="2700" spc="28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 </a:t>
            </a:r>
            <a:r>
              <a:rPr sz="2700" spc="30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be </a:t>
            </a:r>
            <a:r>
              <a:rPr sz="2700" spc="29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-4" dirty="0">
                <a:latin typeface="Georgia"/>
                <a:cs typeface="Georgia"/>
              </a:rPr>
              <a:t>v</a:t>
            </a:r>
            <a:r>
              <a:rPr sz="2700" spc="0" dirty="0">
                <a:latin typeface="Georgia"/>
                <a:cs typeface="Georgia"/>
              </a:rPr>
              <a:t>en </a:t>
            </a:r>
            <a:r>
              <a:rPr sz="2700" spc="284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s </a:t>
            </a:r>
            <a:r>
              <a:rPr sz="2700" spc="289" dirty="0">
                <a:latin typeface="Georgia"/>
                <a:cs typeface="Georgia"/>
              </a:rPr>
              <a:t>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P </a:t>
            </a:r>
            <a:r>
              <a:rPr sz="2700" spc="28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co</a:t>
            </a:r>
            <a:r>
              <a:rPr sz="2700" spc="-14" dirty="0">
                <a:latin typeface="Georgia"/>
                <a:cs typeface="Georgia"/>
              </a:rPr>
              <a:t>m</a:t>
            </a:r>
            <a:r>
              <a:rPr sz="2700" spc="0" dirty="0">
                <a:latin typeface="Georgia"/>
                <a:cs typeface="Georgia"/>
              </a:rPr>
              <a:t>plete </a:t>
            </a:r>
            <a:r>
              <a:rPr sz="2700" spc="30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by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ts val="2920"/>
              </a:lnSpc>
              <a:spcBef>
                <a:spcPts val="146"/>
              </a:spcBef>
            </a:pPr>
            <a:r>
              <a:rPr sz="2700" spc="0" dirty="0">
                <a:latin typeface="Georgia"/>
                <a:cs typeface="Georgia"/>
              </a:rPr>
              <a:t>obtain</a:t>
            </a:r>
            <a:r>
              <a:rPr sz="2700" spc="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ng a </a:t>
            </a:r>
            <a:r>
              <a:rPr sz="2700" spc="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olynomial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time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reduction </a:t>
            </a:r>
            <a:r>
              <a:rPr sz="2700" spc="-4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f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SAT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488313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3. H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miltonian</a:t>
            </a:r>
            <a:r>
              <a:rPr sz="33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i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rcuit</a:t>
            </a:r>
            <a:r>
              <a:rPr sz="3300" spc="-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Problem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515112" marR="212198" indent="-274320">
              <a:lnSpc>
                <a:spcPts val="3067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Hami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ton</a:t>
            </a:r>
            <a:r>
              <a:rPr sz="2700" spc="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an </a:t>
            </a:r>
            <a:r>
              <a:rPr sz="2700" spc="3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path </a:t>
            </a:r>
            <a:r>
              <a:rPr sz="2700" spc="36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</a:t>
            </a:r>
            <a:r>
              <a:rPr sz="2700" spc="34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 </a:t>
            </a:r>
            <a:r>
              <a:rPr sz="2700" spc="34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path </a:t>
            </a:r>
            <a:r>
              <a:rPr sz="2700" spc="36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 </a:t>
            </a:r>
            <a:r>
              <a:rPr sz="2700" spc="34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 </a:t>
            </a:r>
            <a:r>
              <a:rPr sz="2700" spc="36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undirec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ed </a:t>
            </a:r>
            <a:r>
              <a:rPr sz="2700" spc="335" dirty="0">
                <a:latin typeface="Georgia"/>
                <a:cs typeface="Georgia"/>
              </a:rPr>
              <a:t> </a:t>
            </a:r>
            <a:r>
              <a:rPr sz="2700" spc="-4" dirty="0">
                <a:latin typeface="Georgia"/>
                <a:cs typeface="Georgia"/>
              </a:rPr>
              <a:t>or </a:t>
            </a:r>
            <a:endParaRPr sz="2700">
              <a:latin typeface="Georgia"/>
              <a:cs typeface="Georgia"/>
            </a:endParaRPr>
          </a:p>
          <a:p>
            <a:pPr marL="515112" marR="212198">
              <a:lnSpc>
                <a:spcPts val="3067"/>
              </a:lnSpc>
              <a:spcBef>
                <a:spcPts val="171"/>
              </a:spcBef>
            </a:pPr>
            <a:r>
              <a:rPr sz="2700" spc="0" dirty="0">
                <a:latin typeface="Georgia"/>
                <a:cs typeface="Georgia"/>
              </a:rPr>
              <a:t>direct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d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graph</a:t>
            </a:r>
            <a:r>
              <a:rPr sz="2700" spc="-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visits</a:t>
            </a:r>
            <a:r>
              <a:rPr sz="2700" spc="-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each vert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x</a:t>
            </a:r>
            <a:r>
              <a:rPr sz="2700" spc="6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x</a:t>
            </a:r>
            <a:r>
              <a:rPr sz="2700" spc="0" dirty="0">
                <a:latin typeface="Georgia"/>
                <a:cs typeface="Georgia"/>
              </a:rPr>
              <a:t>actly once.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4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Hami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1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oni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n</a:t>
            </a:r>
            <a:r>
              <a:rPr sz="2700" spc="4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cy</a:t>
            </a:r>
            <a:r>
              <a:rPr sz="2700" spc="4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le/</a:t>
            </a:r>
            <a:r>
              <a:rPr sz="2700" spc="42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cir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uit</a:t>
            </a:r>
            <a:r>
              <a:rPr sz="2700" spc="43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</a:t>
            </a:r>
            <a:r>
              <a:rPr sz="2700" spc="4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</a:t>
            </a:r>
            <a:r>
              <a:rPr sz="2700" spc="4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H</a:t>
            </a:r>
            <a:r>
              <a:rPr sz="2700" spc="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milto</a:t>
            </a:r>
            <a:r>
              <a:rPr sz="2700" spc="-9" dirty="0">
                <a:latin typeface="Georgia"/>
                <a:cs typeface="Georgia"/>
              </a:rPr>
              <a:t>n</a:t>
            </a:r>
            <a:r>
              <a:rPr sz="2700" spc="0" dirty="0">
                <a:latin typeface="Georgia"/>
                <a:cs typeface="Georgia"/>
              </a:rPr>
              <a:t>ian</a:t>
            </a:r>
            <a:r>
              <a:rPr sz="2700" spc="4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path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5"/>
              </a:spcBef>
            </a:pPr>
            <a:r>
              <a:rPr sz="2700" spc="0" dirty="0">
                <a:latin typeface="Georgia"/>
                <a:cs typeface="Georgia"/>
              </a:rPr>
              <a:t>that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a cycle.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4" dirty="0">
                <a:latin typeface="Georgia"/>
                <a:cs typeface="Georgia"/>
              </a:rPr>
              <a:t>D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e</a:t>
            </a:r>
            <a:r>
              <a:rPr sz="2700" spc="-9" dirty="0">
                <a:latin typeface="Georgia"/>
                <a:cs typeface="Georgia"/>
              </a:rPr>
              <a:t>r</a:t>
            </a:r>
            <a:r>
              <a:rPr sz="2700" spc="0" dirty="0">
                <a:latin typeface="Georgia"/>
                <a:cs typeface="Georgia"/>
              </a:rPr>
              <a:t>mining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whe</a:t>
            </a:r>
            <a:r>
              <a:rPr sz="2700" spc="4" dirty="0">
                <a:latin typeface="Georgia"/>
                <a:cs typeface="Georgia"/>
              </a:rPr>
              <a:t>t</a:t>
            </a:r>
            <a:r>
              <a:rPr sz="2700" spc="0" dirty="0">
                <a:latin typeface="Georgia"/>
                <a:cs typeface="Georgia"/>
              </a:rPr>
              <a:t>her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su</a:t>
            </a:r>
            <a:r>
              <a:rPr sz="2700" spc="-9" dirty="0">
                <a:latin typeface="Georgia"/>
                <a:cs typeface="Georgia"/>
              </a:rPr>
              <a:t>c</a:t>
            </a:r>
            <a:r>
              <a:rPr sz="2700" spc="0" dirty="0">
                <a:latin typeface="Georgia"/>
                <a:cs typeface="Georgia"/>
              </a:rPr>
              <a:t>h</a:t>
            </a:r>
            <a:r>
              <a:rPr sz="2700" spc="32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</a:t>
            </a:r>
            <a:r>
              <a:rPr sz="2700" spc="-9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ths</a:t>
            </a:r>
            <a:r>
              <a:rPr sz="2700" spc="335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and</a:t>
            </a:r>
            <a:r>
              <a:rPr sz="2700" spc="340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cycles</a:t>
            </a:r>
            <a:r>
              <a:rPr sz="2700" spc="3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ex</a:t>
            </a:r>
            <a:r>
              <a:rPr sz="2700" spc="-14" dirty="0">
                <a:latin typeface="Georgia"/>
                <a:cs typeface="Georgia"/>
              </a:rPr>
              <a:t>i</a:t>
            </a:r>
            <a:r>
              <a:rPr sz="2700" spc="0" dirty="0">
                <a:latin typeface="Georgia"/>
                <a:cs typeface="Georgia"/>
              </a:rPr>
              <a:t>st</a:t>
            </a:r>
            <a:r>
              <a:rPr sz="2700" spc="3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in</a:t>
            </a:r>
            <a:endParaRPr sz="27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70"/>
              </a:spcBef>
            </a:pPr>
            <a:r>
              <a:rPr sz="2700" spc="0" dirty="0">
                <a:latin typeface="Georgia"/>
                <a:cs typeface="Georgia"/>
              </a:rPr>
              <a:t>grap</a:t>
            </a:r>
            <a:r>
              <a:rPr sz="2700" spc="4" dirty="0">
                <a:latin typeface="Georgia"/>
                <a:cs typeface="Georgia"/>
              </a:rPr>
              <a:t>h</a:t>
            </a:r>
            <a:r>
              <a:rPr sz="2700" spc="0" dirty="0">
                <a:latin typeface="Georgia"/>
                <a:cs typeface="Georgia"/>
              </a:rPr>
              <a:t>s</a:t>
            </a:r>
            <a:r>
              <a:rPr sz="2700" spc="-2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the H</a:t>
            </a:r>
            <a:r>
              <a:rPr sz="2700" spc="-14" dirty="0">
                <a:latin typeface="Georgia"/>
                <a:cs typeface="Georgia"/>
              </a:rPr>
              <a:t>a</a:t>
            </a:r>
            <a:r>
              <a:rPr sz="2700" spc="0" dirty="0">
                <a:latin typeface="Georgia"/>
                <a:cs typeface="Georgia"/>
              </a:rPr>
              <a:t>mi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tonian</a:t>
            </a:r>
            <a:r>
              <a:rPr sz="2700" spc="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path prob</a:t>
            </a:r>
            <a:r>
              <a:rPr sz="2700" spc="-9" dirty="0">
                <a:latin typeface="Georgia"/>
                <a:cs typeface="Georgia"/>
              </a:rPr>
              <a:t>l</a:t>
            </a:r>
            <a:r>
              <a:rPr sz="2700" spc="0" dirty="0">
                <a:latin typeface="Georgia"/>
                <a:cs typeface="Georgia"/>
              </a:rPr>
              <a:t>em.</a:t>
            </a:r>
            <a:endParaRPr sz="27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823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This problem</a:t>
            </a:r>
            <a:r>
              <a:rPr sz="2700" spc="-1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is </a:t>
            </a:r>
            <a:r>
              <a:rPr sz="2700" spc="4" dirty="0">
                <a:latin typeface="Georgia"/>
                <a:cs typeface="Georgia"/>
              </a:rPr>
              <a:t>N</a:t>
            </a:r>
            <a:r>
              <a:rPr sz="2700" spc="-4" dirty="0">
                <a:latin typeface="Georgia"/>
                <a:cs typeface="Georgia"/>
              </a:rPr>
              <a:t>P</a:t>
            </a:r>
            <a:r>
              <a:rPr sz="2700" spc="0" dirty="0">
                <a:latin typeface="Georgia"/>
                <a:cs typeface="Georgia"/>
              </a:rPr>
              <a:t>-complet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.</a:t>
            </a:r>
            <a:endParaRPr sz="27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8328" y="1513332"/>
            <a:ext cx="8534400" cy="4735068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58349" marR="3558763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Ex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a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mple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66110" y="2823210"/>
            <a:ext cx="1455419" cy="0"/>
          </a:xfrm>
          <a:custGeom>
            <a:avLst/>
            <a:gdLst/>
            <a:ahLst/>
            <a:cxnLst/>
            <a:rect l="l" t="t" r="r" b="b"/>
            <a:pathLst>
              <a:path w="1455419">
                <a:moveTo>
                  <a:pt x="0" y="0"/>
                </a:moveTo>
                <a:lnTo>
                  <a:pt x="145541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04615" y="2342388"/>
            <a:ext cx="561594" cy="1343025"/>
          </a:xfrm>
          <a:custGeom>
            <a:avLst/>
            <a:gdLst/>
            <a:ahLst/>
            <a:cxnLst/>
            <a:rect l="l" t="t" r="r" b="b"/>
            <a:pathLst>
              <a:path w="561594" h="1343025">
                <a:moveTo>
                  <a:pt x="0" y="1"/>
                </a:moveTo>
                <a:lnTo>
                  <a:pt x="561594" y="1343025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39465" y="2342388"/>
            <a:ext cx="561594" cy="1343025"/>
          </a:xfrm>
          <a:custGeom>
            <a:avLst/>
            <a:gdLst/>
            <a:ahLst/>
            <a:cxnLst/>
            <a:rect l="l" t="t" r="r" b="b"/>
            <a:pathLst>
              <a:path w="561594" h="1343025">
                <a:moveTo>
                  <a:pt x="561594" y="0"/>
                </a:moveTo>
                <a:lnTo>
                  <a:pt x="0" y="134302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32988" y="2825496"/>
            <a:ext cx="1266825" cy="856106"/>
          </a:xfrm>
          <a:custGeom>
            <a:avLst/>
            <a:gdLst/>
            <a:ahLst/>
            <a:cxnLst/>
            <a:rect l="l" t="t" r="r" b="b"/>
            <a:pathLst>
              <a:path w="1266825" h="856106">
                <a:moveTo>
                  <a:pt x="1266825" y="0"/>
                </a:moveTo>
                <a:lnTo>
                  <a:pt x="0" y="85610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77921" y="2817876"/>
            <a:ext cx="1276858" cy="855472"/>
          </a:xfrm>
          <a:custGeom>
            <a:avLst/>
            <a:gdLst/>
            <a:ahLst/>
            <a:cxnLst/>
            <a:rect l="l" t="t" r="r" b="b"/>
            <a:pathLst>
              <a:path w="1276858" h="855472">
                <a:moveTo>
                  <a:pt x="0" y="1"/>
                </a:moveTo>
                <a:lnTo>
                  <a:pt x="1276858" y="855472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99638" y="4240530"/>
            <a:ext cx="1499615" cy="876300"/>
          </a:xfrm>
          <a:custGeom>
            <a:avLst/>
            <a:gdLst/>
            <a:ahLst/>
            <a:cxnLst/>
            <a:rect l="l" t="t" r="r" b="b"/>
            <a:pathLst>
              <a:path w="1499615" h="876300">
                <a:moveTo>
                  <a:pt x="0" y="0"/>
                </a:moveTo>
                <a:lnTo>
                  <a:pt x="1499615" y="8763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52038" y="4240530"/>
            <a:ext cx="1499615" cy="876300"/>
          </a:xfrm>
          <a:custGeom>
            <a:avLst/>
            <a:gdLst/>
            <a:ahLst/>
            <a:cxnLst/>
            <a:rect l="l" t="t" r="r" b="b"/>
            <a:pathLst>
              <a:path w="1499615" h="876300">
                <a:moveTo>
                  <a:pt x="1499615" y="0"/>
                </a:moveTo>
                <a:lnTo>
                  <a:pt x="0" y="87630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99638" y="4240530"/>
            <a:ext cx="175260" cy="862583"/>
          </a:xfrm>
          <a:custGeom>
            <a:avLst/>
            <a:gdLst/>
            <a:ahLst/>
            <a:cxnLst/>
            <a:rect l="l" t="t" r="r" b="b"/>
            <a:pathLst>
              <a:path w="175260" h="862583">
                <a:moveTo>
                  <a:pt x="0" y="0"/>
                </a:moveTo>
                <a:lnTo>
                  <a:pt x="175260" y="862584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77918" y="4249674"/>
            <a:ext cx="173736" cy="861059"/>
          </a:xfrm>
          <a:custGeom>
            <a:avLst/>
            <a:gdLst/>
            <a:ahLst/>
            <a:cxnLst/>
            <a:rect l="l" t="t" r="r" b="b"/>
            <a:pathLst>
              <a:path w="173736" h="861059">
                <a:moveTo>
                  <a:pt x="173736" y="0"/>
                </a:moveTo>
                <a:lnTo>
                  <a:pt x="0" y="861059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64864" y="2296667"/>
            <a:ext cx="89915" cy="89916"/>
          </a:xfrm>
          <a:custGeom>
            <a:avLst/>
            <a:gdLst/>
            <a:ahLst/>
            <a:cxnLst/>
            <a:rect l="l" t="t" r="r" b="b"/>
            <a:pathLst>
              <a:path w="89915" h="89916">
                <a:moveTo>
                  <a:pt x="0" y="44958"/>
                </a:moveTo>
                <a:lnTo>
                  <a:pt x="2308" y="59259"/>
                </a:lnTo>
                <a:lnTo>
                  <a:pt x="8687" y="71578"/>
                </a:lnTo>
                <a:lnTo>
                  <a:pt x="18407" y="81280"/>
                </a:lnTo>
                <a:lnTo>
                  <a:pt x="30740" y="87635"/>
                </a:lnTo>
                <a:lnTo>
                  <a:pt x="44958" y="89916"/>
                </a:lnTo>
                <a:lnTo>
                  <a:pt x="59259" y="87607"/>
                </a:lnTo>
                <a:lnTo>
                  <a:pt x="71578" y="81228"/>
                </a:lnTo>
                <a:lnTo>
                  <a:pt x="81280" y="71508"/>
                </a:lnTo>
                <a:lnTo>
                  <a:pt x="87635" y="59175"/>
                </a:lnTo>
                <a:lnTo>
                  <a:pt x="89915" y="44958"/>
                </a:lnTo>
                <a:lnTo>
                  <a:pt x="87607" y="30656"/>
                </a:lnTo>
                <a:lnTo>
                  <a:pt x="81228" y="18337"/>
                </a:lnTo>
                <a:lnTo>
                  <a:pt x="71508" y="8635"/>
                </a:lnTo>
                <a:lnTo>
                  <a:pt x="59175" y="2280"/>
                </a:lnTo>
                <a:lnTo>
                  <a:pt x="44958" y="0"/>
                </a:lnTo>
                <a:lnTo>
                  <a:pt x="30656" y="2308"/>
                </a:lnTo>
                <a:lnTo>
                  <a:pt x="18337" y="8687"/>
                </a:lnTo>
                <a:lnTo>
                  <a:pt x="8635" y="18407"/>
                </a:lnTo>
                <a:lnTo>
                  <a:pt x="2280" y="30740"/>
                </a:lnTo>
                <a:lnTo>
                  <a:pt x="0" y="44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64864" y="2296667"/>
            <a:ext cx="89915" cy="89916"/>
          </a:xfrm>
          <a:custGeom>
            <a:avLst/>
            <a:gdLst/>
            <a:ahLst/>
            <a:cxnLst/>
            <a:rect l="l" t="t" r="r" b="b"/>
            <a:pathLst>
              <a:path w="89915" h="89916">
                <a:moveTo>
                  <a:pt x="0" y="44958"/>
                </a:moveTo>
                <a:lnTo>
                  <a:pt x="2280" y="30740"/>
                </a:lnTo>
                <a:lnTo>
                  <a:pt x="8635" y="18407"/>
                </a:lnTo>
                <a:lnTo>
                  <a:pt x="18337" y="8687"/>
                </a:lnTo>
                <a:lnTo>
                  <a:pt x="30656" y="2308"/>
                </a:lnTo>
                <a:lnTo>
                  <a:pt x="44958" y="0"/>
                </a:lnTo>
                <a:lnTo>
                  <a:pt x="59175" y="2280"/>
                </a:lnTo>
                <a:lnTo>
                  <a:pt x="71508" y="8635"/>
                </a:lnTo>
                <a:lnTo>
                  <a:pt x="81228" y="18337"/>
                </a:lnTo>
                <a:lnTo>
                  <a:pt x="87607" y="30656"/>
                </a:lnTo>
                <a:lnTo>
                  <a:pt x="89915" y="44958"/>
                </a:lnTo>
                <a:lnTo>
                  <a:pt x="87635" y="59175"/>
                </a:lnTo>
                <a:lnTo>
                  <a:pt x="81280" y="71508"/>
                </a:lnTo>
                <a:lnTo>
                  <a:pt x="71578" y="81228"/>
                </a:lnTo>
                <a:lnTo>
                  <a:pt x="59259" y="87607"/>
                </a:lnTo>
                <a:lnTo>
                  <a:pt x="44958" y="89916"/>
                </a:lnTo>
                <a:lnTo>
                  <a:pt x="30740" y="87635"/>
                </a:lnTo>
                <a:lnTo>
                  <a:pt x="18407" y="81280"/>
                </a:lnTo>
                <a:lnTo>
                  <a:pt x="8687" y="71578"/>
                </a:lnTo>
                <a:lnTo>
                  <a:pt x="2308" y="59259"/>
                </a:lnTo>
                <a:lnTo>
                  <a:pt x="0" y="4495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44568" y="2778252"/>
            <a:ext cx="89916" cy="88392"/>
          </a:xfrm>
          <a:custGeom>
            <a:avLst/>
            <a:gdLst/>
            <a:ahLst/>
            <a:cxnLst/>
            <a:rect l="l" t="t" r="r" b="b"/>
            <a:pathLst>
              <a:path w="89916" h="88392">
                <a:moveTo>
                  <a:pt x="0" y="44196"/>
                </a:moveTo>
                <a:lnTo>
                  <a:pt x="2158" y="57773"/>
                </a:lnTo>
                <a:lnTo>
                  <a:pt x="8479" y="70048"/>
                </a:lnTo>
                <a:lnTo>
                  <a:pt x="18218" y="79740"/>
                </a:lnTo>
                <a:lnTo>
                  <a:pt x="30626" y="86104"/>
                </a:lnTo>
                <a:lnTo>
                  <a:pt x="44958" y="88392"/>
                </a:lnTo>
                <a:lnTo>
                  <a:pt x="58803" y="86261"/>
                </a:lnTo>
                <a:lnTo>
                  <a:pt x="71293" y="80031"/>
                </a:lnTo>
                <a:lnTo>
                  <a:pt x="81141" y="70445"/>
                </a:lnTo>
                <a:lnTo>
                  <a:pt x="87597" y="58251"/>
                </a:lnTo>
                <a:lnTo>
                  <a:pt x="89916" y="44196"/>
                </a:lnTo>
                <a:lnTo>
                  <a:pt x="87757" y="30618"/>
                </a:lnTo>
                <a:lnTo>
                  <a:pt x="81436" y="18343"/>
                </a:lnTo>
                <a:lnTo>
                  <a:pt x="71697" y="8651"/>
                </a:lnTo>
                <a:lnTo>
                  <a:pt x="59289" y="2287"/>
                </a:lnTo>
                <a:lnTo>
                  <a:pt x="44958" y="0"/>
                </a:lnTo>
                <a:lnTo>
                  <a:pt x="31112" y="2130"/>
                </a:lnTo>
                <a:lnTo>
                  <a:pt x="18622" y="8360"/>
                </a:lnTo>
                <a:lnTo>
                  <a:pt x="8774" y="17946"/>
                </a:lnTo>
                <a:lnTo>
                  <a:pt x="2318" y="30140"/>
                </a:lnTo>
                <a:lnTo>
                  <a:pt x="0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44568" y="2778252"/>
            <a:ext cx="89916" cy="88392"/>
          </a:xfrm>
          <a:custGeom>
            <a:avLst/>
            <a:gdLst/>
            <a:ahLst/>
            <a:cxnLst/>
            <a:rect l="l" t="t" r="r" b="b"/>
            <a:pathLst>
              <a:path w="89916" h="88392">
                <a:moveTo>
                  <a:pt x="0" y="44196"/>
                </a:moveTo>
                <a:lnTo>
                  <a:pt x="2318" y="30140"/>
                </a:lnTo>
                <a:lnTo>
                  <a:pt x="8774" y="17946"/>
                </a:lnTo>
                <a:lnTo>
                  <a:pt x="18622" y="8360"/>
                </a:lnTo>
                <a:lnTo>
                  <a:pt x="31112" y="2130"/>
                </a:lnTo>
                <a:lnTo>
                  <a:pt x="44958" y="0"/>
                </a:lnTo>
                <a:lnTo>
                  <a:pt x="59289" y="2287"/>
                </a:lnTo>
                <a:lnTo>
                  <a:pt x="71697" y="8651"/>
                </a:lnTo>
                <a:lnTo>
                  <a:pt x="81436" y="18343"/>
                </a:lnTo>
                <a:lnTo>
                  <a:pt x="87757" y="30618"/>
                </a:lnTo>
                <a:lnTo>
                  <a:pt x="89916" y="44196"/>
                </a:lnTo>
                <a:lnTo>
                  <a:pt x="87597" y="58251"/>
                </a:lnTo>
                <a:lnTo>
                  <a:pt x="81141" y="70445"/>
                </a:lnTo>
                <a:lnTo>
                  <a:pt x="71293" y="80031"/>
                </a:lnTo>
                <a:lnTo>
                  <a:pt x="58803" y="86261"/>
                </a:lnTo>
                <a:lnTo>
                  <a:pt x="44958" y="88392"/>
                </a:lnTo>
                <a:lnTo>
                  <a:pt x="30626" y="86104"/>
                </a:lnTo>
                <a:lnTo>
                  <a:pt x="18218" y="79740"/>
                </a:lnTo>
                <a:lnTo>
                  <a:pt x="8479" y="70048"/>
                </a:lnTo>
                <a:lnTo>
                  <a:pt x="2158" y="57773"/>
                </a:lnTo>
                <a:lnTo>
                  <a:pt x="0" y="44196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44012" y="2769108"/>
            <a:ext cx="88392" cy="88391"/>
          </a:xfrm>
          <a:custGeom>
            <a:avLst/>
            <a:gdLst/>
            <a:ahLst/>
            <a:cxnLst/>
            <a:rect l="l" t="t" r="r" b="b"/>
            <a:pathLst>
              <a:path w="88392" h="88391">
                <a:moveTo>
                  <a:pt x="0" y="44195"/>
                </a:moveTo>
                <a:lnTo>
                  <a:pt x="1983" y="57311"/>
                </a:lnTo>
                <a:lnTo>
                  <a:pt x="8152" y="69758"/>
                </a:lnTo>
                <a:lnTo>
                  <a:pt x="17756" y="79599"/>
                </a:lnTo>
                <a:lnTo>
                  <a:pt x="30026" y="86065"/>
                </a:lnTo>
                <a:lnTo>
                  <a:pt x="44195" y="88391"/>
                </a:lnTo>
                <a:lnTo>
                  <a:pt x="57311" y="86408"/>
                </a:lnTo>
                <a:lnTo>
                  <a:pt x="69758" y="80239"/>
                </a:lnTo>
                <a:lnTo>
                  <a:pt x="79599" y="70635"/>
                </a:lnTo>
                <a:lnTo>
                  <a:pt x="86065" y="58365"/>
                </a:lnTo>
                <a:lnTo>
                  <a:pt x="88392" y="44195"/>
                </a:lnTo>
                <a:lnTo>
                  <a:pt x="86408" y="31080"/>
                </a:lnTo>
                <a:lnTo>
                  <a:pt x="80239" y="18633"/>
                </a:lnTo>
                <a:lnTo>
                  <a:pt x="70635" y="8792"/>
                </a:lnTo>
                <a:lnTo>
                  <a:pt x="58365" y="2326"/>
                </a:lnTo>
                <a:lnTo>
                  <a:pt x="44195" y="0"/>
                </a:lnTo>
                <a:lnTo>
                  <a:pt x="31080" y="1983"/>
                </a:lnTo>
                <a:lnTo>
                  <a:pt x="18633" y="8152"/>
                </a:lnTo>
                <a:lnTo>
                  <a:pt x="8792" y="17756"/>
                </a:lnTo>
                <a:lnTo>
                  <a:pt x="2326" y="30026"/>
                </a:lnTo>
                <a:lnTo>
                  <a:pt x="0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44012" y="2769108"/>
            <a:ext cx="88392" cy="88391"/>
          </a:xfrm>
          <a:custGeom>
            <a:avLst/>
            <a:gdLst/>
            <a:ahLst/>
            <a:cxnLst/>
            <a:rect l="l" t="t" r="r" b="b"/>
            <a:pathLst>
              <a:path w="88392" h="88391">
                <a:moveTo>
                  <a:pt x="0" y="44195"/>
                </a:moveTo>
                <a:lnTo>
                  <a:pt x="2326" y="30026"/>
                </a:lnTo>
                <a:lnTo>
                  <a:pt x="8792" y="17756"/>
                </a:lnTo>
                <a:lnTo>
                  <a:pt x="18633" y="8152"/>
                </a:lnTo>
                <a:lnTo>
                  <a:pt x="31080" y="1983"/>
                </a:lnTo>
                <a:lnTo>
                  <a:pt x="44195" y="0"/>
                </a:lnTo>
                <a:lnTo>
                  <a:pt x="58365" y="2326"/>
                </a:lnTo>
                <a:lnTo>
                  <a:pt x="70635" y="8792"/>
                </a:lnTo>
                <a:lnTo>
                  <a:pt x="80239" y="18633"/>
                </a:lnTo>
                <a:lnTo>
                  <a:pt x="86408" y="31080"/>
                </a:lnTo>
                <a:lnTo>
                  <a:pt x="88392" y="44195"/>
                </a:lnTo>
                <a:lnTo>
                  <a:pt x="86065" y="58365"/>
                </a:lnTo>
                <a:lnTo>
                  <a:pt x="79599" y="70635"/>
                </a:lnTo>
                <a:lnTo>
                  <a:pt x="69758" y="80239"/>
                </a:lnTo>
                <a:lnTo>
                  <a:pt x="57311" y="86408"/>
                </a:lnTo>
                <a:lnTo>
                  <a:pt x="44195" y="88391"/>
                </a:lnTo>
                <a:lnTo>
                  <a:pt x="30026" y="86065"/>
                </a:lnTo>
                <a:lnTo>
                  <a:pt x="17756" y="79599"/>
                </a:lnTo>
                <a:lnTo>
                  <a:pt x="8152" y="69758"/>
                </a:lnTo>
                <a:lnTo>
                  <a:pt x="1983" y="57311"/>
                </a:lnTo>
                <a:lnTo>
                  <a:pt x="0" y="441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07408" y="3604260"/>
            <a:ext cx="88391" cy="88391"/>
          </a:xfrm>
          <a:custGeom>
            <a:avLst/>
            <a:gdLst/>
            <a:ahLst/>
            <a:cxnLst/>
            <a:rect l="l" t="t" r="r" b="b"/>
            <a:pathLst>
              <a:path w="88391" h="88391">
                <a:moveTo>
                  <a:pt x="0" y="44195"/>
                </a:moveTo>
                <a:lnTo>
                  <a:pt x="1983" y="57311"/>
                </a:lnTo>
                <a:lnTo>
                  <a:pt x="8152" y="69758"/>
                </a:lnTo>
                <a:lnTo>
                  <a:pt x="17756" y="79599"/>
                </a:lnTo>
                <a:lnTo>
                  <a:pt x="30026" y="86065"/>
                </a:lnTo>
                <a:lnTo>
                  <a:pt x="44195" y="88391"/>
                </a:lnTo>
                <a:lnTo>
                  <a:pt x="57311" y="86408"/>
                </a:lnTo>
                <a:lnTo>
                  <a:pt x="69758" y="80239"/>
                </a:lnTo>
                <a:lnTo>
                  <a:pt x="79599" y="70635"/>
                </a:lnTo>
                <a:lnTo>
                  <a:pt x="86065" y="58365"/>
                </a:lnTo>
                <a:lnTo>
                  <a:pt x="88391" y="44195"/>
                </a:lnTo>
                <a:lnTo>
                  <a:pt x="86408" y="31080"/>
                </a:lnTo>
                <a:lnTo>
                  <a:pt x="80239" y="18633"/>
                </a:lnTo>
                <a:lnTo>
                  <a:pt x="70635" y="8792"/>
                </a:lnTo>
                <a:lnTo>
                  <a:pt x="58365" y="2326"/>
                </a:lnTo>
                <a:lnTo>
                  <a:pt x="44195" y="0"/>
                </a:lnTo>
                <a:lnTo>
                  <a:pt x="31080" y="1983"/>
                </a:lnTo>
                <a:lnTo>
                  <a:pt x="18633" y="8152"/>
                </a:lnTo>
                <a:lnTo>
                  <a:pt x="8792" y="17756"/>
                </a:lnTo>
                <a:lnTo>
                  <a:pt x="2326" y="30026"/>
                </a:lnTo>
                <a:lnTo>
                  <a:pt x="0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07408" y="3604260"/>
            <a:ext cx="88391" cy="88391"/>
          </a:xfrm>
          <a:custGeom>
            <a:avLst/>
            <a:gdLst/>
            <a:ahLst/>
            <a:cxnLst/>
            <a:rect l="l" t="t" r="r" b="b"/>
            <a:pathLst>
              <a:path w="88391" h="88391">
                <a:moveTo>
                  <a:pt x="0" y="44195"/>
                </a:moveTo>
                <a:lnTo>
                  <a:pt x="2326" y="30026"/>
                </a:lnTo>
                <a:lnTo>
                  <a:pt x="8792" y="17756"/>
                </a:lnTo>
                <a:lnTo>
                  <a:pt x="18633" y="8152"/>
                </a:lnTo>
                <a:lnTo>
                  <a:pt x="31080" y="1983"/>
                </a:lnTo>
                <a:lnTo>
                  <a:pt x="44195" y="0"/>
                </a:lnTo>
                <a:lnTo>
                  <a:pt x="58365" y="2326"/>
                </a:lnTo>
                <a:lnTo>
                  <a:pt x="70635" y="8792"/>
                </a:lnTo>
                <a:lnTo>
                  <a:pt x="80239" y="18633"/>
                </a:lnTo>
                <a:lnTo>
                  <a:pt x="86408" y="31080"/>
                </a:lnTo>
                <a:lnTo>
                  <a:pt x="88391" y="44195"/>
                </a:lnTo>
                <a:lnTo>
                  <a:pt x="86065" y="58365"/>
                </a:lnTo>
                <a:lnTo>
                  <a:pt x="79599" y="70635"/>
                </a:lnTo>
                <a:lnTo>
                  <a:pt x="69758" y="80239"/>
                </a:lnTo>
                <a:lnTo>
                  <a:pt x="57311" y="86408"/>
                </a:lnTo>
                <a:lnTo>
                  <a:pt x="44195" y="88391"/>
                </a:lnTo>
                <a:lnTo>
                  <a:pt x="30026" y="86065"/>
                </a:lnTo>
                <a:lnTo>
                  <a:pt x="17756" y="79599"/>
                </a:lnTo>
                <a:lnTo>
                  <a:pt x="8152" y="69758"/>
                </a:lnTo>
                <a:lnTo>
                  <a:pt x="1983" y="57311"/>
                </a:lnTo>
                <a:lnTo>
                  <a:pt x="0" y="441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82696" y="3622548"/>
            <a:ext cx="89915" cy="88391"/>
          </a:xfrm>
          <a:custGeom>
            <a:avLst/>
            <a:gdLst/>
            <a:ahLst/>
            <a:cxnLst/>
            <a:rect l="l" t="t" r="r" b="b"/>
            <a:pathLst>
              <a:path w="89915" h="88391">
                <a:moveTo>
                  <a:pt x="0" y="44195"/>
                </a:moveTo>
                <a:lnTo>
                  <a:pt x="2158" y="57773"/>
                </a:lnTo>
                <a:lnTo>
                  <a:pt x="8479" y="70048"/>
                </a:lnTo>
                <a:lnTo>
                  <a:pt x="18218" y="79740"/>
                </a:lnTo>
                <a:lnTo>
                  <a:pt x="30626" y="86104"/>
                </a:lnTo>
                <a:lnTo>
                  <a:pt x="44957" y="88391"/>
                </a:lnTo>
                <a:lnTo>
                  <a:pt x="58803" y="86261"/>
                </a:lnTo>
                <a:lnTo>
                  <a:pt x="71293" y="80031"/>
                </a:lnTo>
                <a:lnTo>
                  <a:pt x="81141" y="70445"/>
                </a:lnTo>
                <a:lnTo>
                  <a:pt x="87597" y="58251"/>
                </a:lnTo>
                <a:lnTo>
                  <a:pt x="89915" y="44195"/>
                </a:lnTo>
                <a:lnTo>
                  <a:pt x="87757" y="30618"/>
                </a:lnTo>
                <a:lnTo>
                  <a:pt x="81436" y="18343"/>
                </a:lnTo>
                <a:lnTo>
                  <a:pt x="71697" y="8651"/>
                </a:lnTo>
                <a:lnTo>
                  <a:pt x="59289" y="2287"/>
                </a:lnTo>
                <a:lnTo>
                  <a:pt x="44957" y="0"/>
                </a:lnTo>
                <a:lnTo>
                  <a:pt x="31112" y="2130"/>
                </a:lnTo>
                <a:lnTo>
                  <a:pt x="18622" y="8360"/>
                </a:lnTo>
                <a:lnTo>
                  <a:pt x="8774" y="17946"/>
                </a:lnTo>
                <a:lnTo>
                  <a:pt x="2318" y="30140"/>
                </a:lnTo>
                <a:lnTo>
                  <a:pt x="0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82696" y="3622548"/>
            <a:ext cx="89915" cy="88391"/>
          </a:xfrm>
          <a:custGeom>
            <a:avLst/>
            <a:gdLst/>
            <a:ahLst/>
            <a:cxnLst/>
            <a:rect l="l" t="t" r="r" b="b"/>
            <a:pathLst>
              <a:path w="89915" h="88391">
                <a:moveTo>
                  <a:pt x="0" y="44195"/>
                </a:moveTo>
                <a:lnTo>
                  <a:pt x="2318" y="30140"/>
                </a:lnTo>
                <a:lnTo>
                  <a:pt x="8774" y="17946"/>
                </a:lnTo>
                <a:lnTo>
                  <a:pt x="18622" y="8360"/>
                </a:lnTo>
                <a:lnTo>
                  <a:pt x="31112" y="2130"/>
                </a:lnTo>
                <a:lnTo>
                  <a:pt x="44957" y="0"/>
                </a:lnTo>
                <a:lnTo>
                  <a:pt x="59289" y="2287"/>
                </a:lnTo>
                <a:lnTo>
                  <a:pt x="71697" y="8651"/>
                </a:lnTo>
                <a:lnTo>
                  <a:pt x="81436" y="18343"/>
                </a:lnTo>
                <a:lnTo>
                  <a:pt x="87757" y="30618"/>
                </a:lnTo>
                <a:lnTo>
                  <a:pt x="89915" y="44195"/>
                </a:lnTo>
                <a:lnTo>
                  <a:pt x="87597" y="58251"/>
                </a:lnTo>
                <a:lnTo>
                  <a:pt x="81141" y="70445"/>
                </a:lnTo>
                <a:lnTo>
                  <a:pt x="71293" y="80031"/>
                </a:lnTo>
                <a:lnTo>
                  <a:pt x="58803" y="86261"/>
                </a:lnTo>
                <a:lnTo>
                  <a:pt x="44957" y="88391"/>
                </a:lnTo>
                <a:lnTo>
                  <a:pt x="30626" y="86104"/>
                </a:lnTo>
                <a:lnTo>
                  <a:pt x="18218" y="79740"/>
                </a:lnTo>
                <a:lnTo>
                  <a:pt x="8479" y="70048"/>
                </a:lnTo>
                <a:lnTo>
                  <a:pt x="2158" y="57773"/>
                </a:lnTo>
                <a:lnTo>
                  <a:pt x="0" y="441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63824" y="4198620"/>
            <a:ext cx="88391" cy="89916"/>
          </a:xfrm>
          <a:custGeom>
            <a:avLst/>
            <a:gdLst/>
            <a:ahLst/>
            <a:cxnLst/>
            <a:rect l="l" t="t" r="r" b="b"/>
            <a:pathLst>
              <a:path w="88391" h="89916">
                <a:moveTo>
                  <a:pt x="0" y="44957"/>
                </a:moveTo>
                <a:lnTo>
                  <a:pt x="2130" y="58803"/>
                </a:lnTo>
                <a:lnTo>
                  <a:pt x="8360" y="71293"/>
                </a:lnTo>
                <a:lnTo>
                  <a:pt x="17946" y="81141"/>
                </a:lnTo>
                <a:lnTo>
                  <a:pt x="30140" y="87597"/>
                </a:lnTo>
                <a:lnTo>
                  <a:pt x="44195" y="89915"/>
                </a:lnTo>
                <a:lnTo>
                  <a:pt x="57773" y="87757"/>
                </a:lnTo>
                <a:lnTo>
                  <a:pt x="70048" y="81436"/>
                </a:lnTo>
                <a:lnTo>
                  <a:pt x="79740" y="71697"/>
                </a:lnTo>
                <a:lnTo>
                  <a:pt x="86104" y="59289"/>
                </a:lnTo>
                <a:lnTo>
                  <a:pt x="88391" y="44957"/>
                </a:lnTo>
                <a:lnTo>
                  <a:pt x="86261" y="31112"/>
                </a:lnTo>
                <a:lnTo>
                  <a:pt x="80031" y="18622"/>
                </a:lnTo>
                <a:lnTo>
                  <a:pt x="70445" y="8774"/>
                </a:lnTo>
                <a:lnTo>
                  <a:pt x="58251" y="2318"/>
                </a:lnTo>
                <a:lnTo>
                  <a:pt x="44195" y="0"/>
                </a:lnTo>
                <a:lnTo>
                  <a:pt x="30618" y="2158"/>
                </a:lnTo>
                <a:lnTo>
                  <a:pt x="18343" y="8479"/>
                </a:lnTo>
                <a:lnTo>
                  <a:pt x="8651" y="18218"/>
                </a:lnTo>
                <a:lnTo>
                  <a:pt x="2287" y="30626"/>
                </a:lnTo>
                <a:lnTo>
                  <a:pt x="0" y="44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163824" y="4198620"/>
            <a:ext cx="88391" cy="89916"/>
          </a:xfrm>
          <a:custGeom>
            <a:avLst/>
            <a:gdLst/>
            <a:ahLst/>
            <a:cxnLst/>
            <a:rect l="l" t="t" r="r" b="b"/>
            <a:pathLst>
              <a:path w="88391" h="89916">
                <a:moveTo>
                  <a:pt x="0" y="44957"/>
                </a:moveTo>
                <a:lnTo>
                  <a:pt x="2287" y="30626"/>
                </a:lnTo>
                <a:lnTo>
                  <a:pt x="8651" y="18218"/>
                </a:lnTo>
                <a:lnTo>
                  <a:pt x="18343" y="8479"/>
                </a:lnTo>
                <a:lnTo>
                  <a:pt x="30618" y="2158"/>
                </a:lnTo>
                <a:lnTo>
                  <a:pt x="44195" y="0"/>
                </a:lnTo>
                <a:lnTo>
                  <a:pt x="58251" y="2318"/>
                </a:lnTo>
                <a:lnTo>
                  <a:pt x="70445" y="8774"/>
                </a:lnTo>
                <a:lnTo>
                  <a:pt x="80031" y="18622"/>
                </a:lnTo>
                <a:lnTo>
                  <a:pt x="86261" y="31112"/>
                </a:lnTo>
                <a:lnTo>
                  <a:pt x="88391" y="44957"/>
                </a:lnTo>
                <a:lnTo>
                  <a:pt x="86104" y="59289"/>
                </a:lnTo>
                <a:lnTo>
                  <a:pt x="79740" y="71697"/>
                </a:lnTo>
                <a:lnTo>
                  <a:pt x="70048" y="81436"/>
                </a:lnTo>
                <a:lnTo>
                  <a:pt x="57773" y="87757"/>
                </a:lnTo>
                <a:lnTo>
                  <a:pt x="44195" y="89915"/>
                </a:lnTo>
                <a:lnTo>
                  <a:pt x="30140" y="87597"/>
                </a:lnTo>
                <a:lnTo>
                  <a:pt x="17946" y="81141"/>
                </a:lnTo>
                <a:lnTo>
                  <a:pt x="8360" y="71293"/>
                </a:lnTo>
                <a:lnTo>
                  <a:pt x="2130" y="58803"/>
                </a:lnTo>
                <a:lnTo>
                  <a:pt x="0" y="4495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03648" y="4207764"/>
            <a:ext cx="88391" cy="89916"/>
          </a:xfrm>
          <a:custGeom>
            <a:avLst/>
            <a:gdLst/>
            <a:ahLst/>
            <a:cxnLst/>
            <a:rect l="l" t="t" r="r" b="b"/>
            <a:pathLst>
              <a:path w="88391" h="89915">
                <a:moveTo>
                  <a:pt x="0" y="44958"/>
                </a:moveTo>
                <a:lnTo>
                  <a:pt x="2130" y="58803"/>
                </a:lnTo>
                <a:lnTo>
                  <a:pt x="8360" y="71293"/>
                </a:lnTo>
                <a:lnTo>
                  <a:pt x="17946" y="81141"/>
                </a:lnTo>
                <a:lnTo>
                  <a:pt x="30140" y="87597"/>
                </a:lnTo>
                <a:lnTo>
                  <a:pt x="44196" y="89916"/>
                </a:lnTo>
                <a:lnTo>
                  <a:pt x="57773" y="87757"/>
                </a:lnTo>
                <a:lnTo>
                  <a:pt x="70048" y="81436"/>
                </a:lnTo>
                <a:lnTo>
                  <a:pt x="79740" y="71697"/>
                </a:lnTo>
                <a:lnTo>
                  <a:pt x="86104" y="59289"/>
                </a:lnTo>
                <a:lnTo>
                  <a:pt x="88391" y="44958"/>
                </a:lnTo>
                <a:lnTo>
                  <a:pt x="86261" y="31112"/>
                </a:lnTo>
                <a:lnTo>
                  <a:pt x="80031" y="18622"/>
                </a:lnTo>
                <a:lnTo>
                  <a:pt x="70445" y="8774"/>
                </a:lnTo>
                <a:lnTo>
                  <a:pt x="58251" y="2318"/>
                </a:lnTo>
                <a:lnTo>
                  <a:pt x="44196" y="0"/>
                </a:lnTo>
                <a:lnTo>
                  <a:pt x="30618" y="2158"/>
                </a:lnTo>
                <a:lnTo>
                  <a:pt x="18343" y="8479"/>
                </a:lnTo>
                <a:lnTo>
                  <a:pt x="8651" y="18218"/>
                </a:lnTo>
                <a:lnTo>
                  <a:pt x="2287" y="30626"/>
                </a:lnTo>
                <a:lnTo>
                  <a:pt x="0" y="44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3648" y="4207764"/>
            <a:ext cx="88391" cy="89916"/>
          </a:xfrm>
          <a:custGeom>
            <a:avLst/>
            <a:gdLst/>
            <a:ahLst/>
            <a:cxnLst/>
            <a:rect l="l" t="t" r="r" b="b"/>
            <a:pathLst>
              <a:path w="88391" h="89915">
                <a:moveTo>
                  <a:pt x="0" y="44958"/>
                </a:moveTo>
                <a:lnTo>
                  <a:pt x="2287" y="30626"/>
                </a:lnTo>
                <a:lnTo>
                  <a:pt x="8651" y="18218"/>
                </a:lnTo>
                <a:lnTo>
                  <a:pt x="18343" y="8479"/>
                </a:lnTo>
                <a:lnTo>
                  <a:pt x="30618" y="2158"/>
                </a:lnTo>
                <a:lnTo>
                  <a:pt x="44196" y="0"/>
                </a:lnTo>
                <a:lnTo>
                  <a:pt x="58251" y="2318"/>
                </a:lnTo>
                <a:lnTo>
                  <a:pt x="70445" y="8774"/>
                </a:lnTo>
                <a:lnTo>
                  <a:pt x="80031" y="18622"/>
                </a:lnTo>
                <a:lnTo>
                  <a:pt x="86261" y="31112"/>
                </a:lnTo>
                <a:lnTo>
                  <a:pt x="88391" y="44958"/>
                </a:lnTo>
                <a:lnTo>
                  <a:pt x="86104" y="59289"/>
                </a:lnTo>
                <a:lnTo>
                  <a:pt x="79740" y="71697"/>
                </a:lnTo>
                <a:lnTo>
                  <a:pt x="70048" y="81436"/>
                </a:lnTo>
                <a:lnTo>
                  <a:pt x="57773" y="87757"/>
                </a:lnTo>
                <a:lnTo>
                  <a:pt x="44196" y="89916"/>
                </a:lnTo>
                <a:lnTo>
                  <a:pt x="30140" y="87597"/>
                </a:lnTo>
                <a:lnTo>
                  <a:pt x="17946" y="81141"/>
                </a:lnTo>
                <a:lnTo>
                  <a:pt x="8360" y="71293"/>
                </a:lnTo>
                <a:lnTo>
                  <a:pt x="2130" y="58803"/>
                </a:lnTo>
                <a:lnTo>
                  <a:pt x="0" y="4495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11652" y="5044440"/>
            <a:ext cx="88392" cy="89916"/>
          </a:xfrm>
          <a:custGeom>
            <a:avLst/>
            <a:gdLst/>
            <a:ahLst/>
            <a:cxnLst/>
            <a:rect l="l" t="t" r="r" b="b"/>
            <a:pathLst>
              <a:path w="88392" h="89915">
                <a:moveTo>
                  <a:pt x="0" y="44958"/>
                </a:moveTo>
                <a:lnTo>
                  <a:pt x="2130" y="58803"/>
                </a:lnTo>
                <a:lnTo>
                  <a:pt x="8360" y="71293"/>
                </a:lnTo>
                <a:lnTo>
                  <a:pt x="17946" y="81141"/>
                </a:lnTo>
                <a:lnTo>
                  <a:pt x="30140" y="87597"/>
                </a:lnTo>
                <a:lnTo>
                  <a:pt x="44196" y="89916"/>
                </a:lnTo>
                <a:lnTo>
                  <a:pt x="57773" y="87757"/>
                </a:lnTo>
                <a:lnTo>
                  <a:pt x="70048" y="81436"/>
                </a:lnTo>
                <a:lnTo>
                  <a:pt x="79740" y="71697"/>
                </a:lnTo>
                <a:lnTo>
                  <a:pt x="86104" y="59289"/>
                </a:lnTo>
                <a:lnTo>
                  <a:pt x="88392" y="44958"/>
                </a:lnTo>
                <a:lnTo>
                  <a:pt x="86261" y="31112"/>
                </a:lnTo>
                <a:lnTo>
                  <a:pt x="80031" y="18622"/>
                </a:lnTo>
                <a:lnTo>
                  <a:pt x="70445" y="8774"/>
                </a:lnTo>
                <a:lnTo>
                  <a:pt x="58251" y="2318"/>
                </a:lnTo>
                <a:lnTo>
                  <a:pt x="44196" y="0"/>
                </a:lnTo>
                <a:lnTo>
                  <a:pt x="30618" y="2158"/>
                </a:lnTo>
                <a:lnTo>
                  <a:pt x="18343" y="8479"/>
                </a:lnTo>
                <a:lnTo>
                  <a:pt x="8651" y="18218"/>
                </a:lnTo>
                <a:lnTo>
                  <a:pt x="2287" y="30626"/>
                </a:lnTo>
                <a:lnTo>
                  <a:pt x="0" y="44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11652" y="5044440"/>
            <a:ext cx="88392" cy="89916"/>
          </a:xfrm>
          <a:custGeom>
            <a:avLst/>
            <a:gdLst/>
            <a:ahLst/>
            <a:cxnLst/>
            <a:rect l="l" t="t" r="r" b="b"/>
            <a:pathLst>
              <a:path w="88392" h="89915">
                <a:moveTo>
                  <a:pt x="0" y="44958"/>
                </a:moveTo>
                <a:lnTo>
                  <a:pt x="2287" y="30626"/>
                </a:lnTo>
                <a:lnTo>
                  <a:pt x="8651" y="18218"/>
                </a:lnTo>
                <a:lnTo>
                  <a:pt x="18343" y="8479"/>
                </a:lnTo>
                <a:lnTo>
                  <a:pt x="30618" y="2158"/>
                </a:lnTo>
                <a:lnTo>
                  <a:pt x="44196" y="0"/>
                </a:lnTo>
                <a:lnTo>
                  <a:pt x="58251" y="2318"/>
                </a:lnTo>
                <a:lnTo>
                  <a:pt x="70445" y="8774"/>
                </a:lnTo>
                <a:lnTo>
                  <a:pt x="80031" y="18622"/>
                </a:lnTo>
                <a:lnTo>
                  <a:pt x="86261" y="31112"/>
                </a:lnTo>
                <a:lnTo>
                  <a:pt x="88392" y="44958"/>
                </a:lnTo>
                <a:lnTo>
                  <a:pt x="86104" y="59289"/>
                </a:lnTo>
                <a:lnTo>
                  <a:pt x="79740" y="71697"/>
                </a:lnTo>
                <a:lnTo>
                  <a:pt x="70048" y="81436"/>
                </a:lnTo>
                <a:lnTo>
                  <a:pt x="57773" y="87757"/>
                </a:lnTo>
                <a:lnTo>
                  <a:pt x="44196" y="89916"/>
                </a:lnTo>
                <a:lnTo>
                  <a:pt x="30140" y="87597"/>
                </a:lnTo>
                <a:lnTo>
                  <a:pt x="17946" y="81141"/>
                </a:lnTo>
                <a:lnTo>
                  <a:pt x="8360" y="71293"/>
                </a:lnTo>
                <a:lnTo>
                  <a:pt x="2130" y="58803"/>
                </a:lnTo>
                <a:lnTo>
                  <a:pt x="0" y="4495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23816" y="5032248"/>
            <a:ext cx="89916" cy="88391"/>
          </a:xfrm>
          <a:custGeom>
            <a:avLst/>
            <a:gdLst/>
            <a:ahLst/>
            <a:cxnLst/>
            <a:rect l="l" t="t" r="r" b="b"/>
            <a:pathLst>
              <a:path w="89916" h="88391">
                <a:moveTo>
                  <a:pt x="0" y="44195"/>
                </a:moveTo>
                <a:lnTo>
                  <a:pt x="2158" y="57773"/>
                </a:lnTo>
                <a:lnTo>
                  <a:pt x="8479" y="70048"/>
                </a:lnTo>
                <a:lnTo>
                  <a:pt x="18218" y="79740"/>
                </a:lnTo>
                <a:lnTo>
                  <a:pt x="30626" y="86104"/>
                </a:lnTo>
                <a:lnTo>
                  <a:pt x="44958" y="88391"/>
                </a:lnTo>
                <a:lnTo>
                  <a:pt x="58803" y="86261"/>
                </a:lnTo>
                <a:lnTo>
                  <a:pt x="71293" y="80031"/>
                </a:lnTo>
                <a:lnTo>
                  <a:pt x="81141" y="70445"/>
                </a:lnTo>
                <a:lnTo>
                  <a:pt x="87597" y="58251"/>
                </a:lnTo>
                <a:lnTo>
                  <a:pt x="89916" y="44195"/>
                </a:lnTo>
                <a:lnTo>
                  <a:pt x="87757" y="30618"/>
                </a:lnTo>
                <a:lnTo>
                  <a:pt x="81436" y="18343"/>
                </a:lnTo>
                <a:lnTo>
                  <a:pt x="71697" y="8651"/>
                </a:lnTo>
                <a:lnTo>
                  <a:pt x="59289" y="2287"/>
                </a:lnTo>
                <a:lnTo>
                  <a:pt x="44958" y="0"/>
                </a:lnTo>
                <a:lnTo>
                  <a:pt x="31112" y="2130"/>
                </a:lnTo>
                <a:lnTo>
                  <a:pt x="18622" y="8360"/>
                </a:lnTo>
                <a:lnTo>
                  <a:pt x="8774" y="17946"/>
                </a:lnTo>
                <a:lnTo>
                  <a:pt x="2318" y="30140"/>
                </a:lnTo>
                <a:lnTo>
                  <a:pt x="0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23816" y="5032248"/>
            <a:ext cx="89916" cy="88391"/>
          </a:xfrm>
          <a:custGeom>
            <a:avLst/>
            <a:gdLst/>
            <a:ahLst/>
            <a:cxnLst/>
            <a:rect l="l" t="t" r="r" b="b"/>
            <a:pathLst>
              <a:path w="89916" h="88391">
                <a:moveTo>
                  <a:pt x="0" y="44195"/>
                </a:moveTo>
                <a:lnTo>
                  <a:pt x="2318" y="30140"/>
                </a:lnTo>
                <a:lnTo>
                  <a:pt x="8774" y="17946"/>
                </a:lnTo>
                <a:lnTo>
                  <a:pt x="18622" y="8360"/>
                </a:lnTo>
                <a:lnTo>
                  <a:pt x="31112" y="2130"/>
                </a:lnTo>
                <a:lnTo>
                  <a:pt x="44958" y="0"/>
                </a:lnTo>
                <a:lnTo>
                  <a:pt x="59289" y="2287"/>
                </a:lnTo>
                <a:lnTo>
                  <a:pt x="71697" y="8651"/>
                </a:lnTo>
                <a:lnTo>
                  <a:pt x="81436" y="18343"/>
                </a:lnTo>
                <a:lnTo>
                  <a:pt x="87757" y="30618"/>
                </a:lnTo>
                <a:lnTo>
                  <a:pt x="89916" y="44195"/>
                </a:lnTo>
                <a:lnTo>
                  <a:pt x="87597" y="58251"/>
                </a:lnTo>
                <a:lnTo>
                  <a:pt x="81141" y="70445"/>
                </a:lnTo>
                <a:lnTo>
                  <a:pt x="71293" y="80031"/>
                </a:lnTo>
                <a:lnTo>
                  <a:pt x="58803" y="86261"/>
                </a:lnTo>
                <a:lnTo>
                  <a:pt x="44958" y="88391"/>
                </a:lnTo>
                <a:lnTo>
                  <a:pt x="30626" y="86104"/>
                </a:lnTo>
                <a:lnTo>
                  <a:pt x="18218" y="79740"/>
                </a:lnTo>
                <a:lnTo>
                  <a:pt x="8479" y="70048"/>
                </a:lnTo>
                <a:lnTo>
                  <a:pt x="2158" y="57773"/>
                </a:lnTo>
                <a:lnTo>
                  <a:pt x="0" y="441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79164" y="4669536"/>
            <a:ext cx="89915" cy="88391"/>
          </a:xfrm>
          <a:custGeom>
            <a:avLst/>
            <a:gdLst/>
            <a:ahLst/>
            <a:cxnLst/>
            <a:rect l="l" t="t" r="r" b="b"/>
            <a:pathLst>
              <a:path w="89915" h="88391">
                <a:moveTo>
                  <a:pt x="0" y="44195"/>
                </a:moveTo>
                <a:lnTo>
                  <a:pt x="2158" y="57773"/>
                </a:lnTo>
                <a:lnTo>
                  <a:pt x="8479" y="70048"/>
                </a:lnTo>
                <a:lnTo>
                  <a:pt x="18218" y="79740"/>
                </a:lnTo>
                <a:lnTo>
                  <a:pt x="30626" y="86104"/>
                </a:lnTo>
                <a:lnTo>
                  <a:pt x="44958" y="88391"/>
                </a:lnTo>
                <a:lnTo>
                  <a:pt x="58803" y="86261"/>
                </a:lnTo>
                <a:lnTo>
                  <a:pt x="71293" y="80031"/>
                </a:lnTo>
                <a:lnTo>
                  <a:pt x="81141" y="70445"/>
                </a:lnTo>
                <a:lnTo>
                  <a:pt x="87597" y="58251"/>
                </a:lnTo>
                <a:lnTo>
                  <a:pt x="89915" y="44195"/>
                </a:lnTo>
                <a:lnTo>
                  <a:pt x="87757" y="30618"/>
                </a:lnTo>
                <a:lnTo>
                  <a:pt x="81436" y="18343"/>
                </a:lnTo>
                <a:lnTo>
                  <a:pt x="71697" y="8651"/>
                </a:lnTo>
                <a:lnTo>
                  <a:pt x="59289" y="2287"/>
                </a:lnTo>
                <a:lnTo>
                  <a:pt x="44958" y="0"/>
                </a:lnTo>
                <a:lnTo>
                  <a:pt x="31112" y="2130"/>
                </a:lnTo>
                <a:lnTo>
                  <a:pt x="18622" y="8360"/>
                </a:lnTo>
                <a:lnTo>
                  <a:pt x="8774" y="17946"/>
                </a:lnTo>
                <a:lnTo>
                  <a:pt x="2318" y="30140"/>
                </a:lnTo>
                <a:lnTo>
                  <a:pt x="0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79164" y="4669536"/>
            <a:ext cx="89915" cy="88391"/>
          </a:xfrm>
          <a:custGeom>
            <a:avLst/>
            <a:gdLst/>
            <a:ahLst/>
            <a:cxnLst/>
            <a:rect l="l" t="t" r="r" b="b"/>
            <a:pathLst>
              <a:path w="89915" h="88391">
                <a:moveTo>
                  <a:pt x="0" y="44195"/>
                </a:moveTo>
                <a:lnTo>
                  <a:pt x="2318" y="30140"/>
                </a:lnTo>
                <a:lnTo>
                  <a:pt x="8774" y="17946"/>
                </a:lnTo>
                <a:lnTo>
                  <a:pt x="18622" y="8360"/>
                </a:lnTo>
                <a:lnTo>
                  <a:pt x="31112" y="2130"/>
                </a:lnTo>
                <a:lnTo>
                  <a:pt x="44958" y="0"/>
                </a:lnTo>
                <a:lnTo>
                  <a:pt x="59289" y="2287"/>
                </a:lnTo>
                <a:lnTo>
                  <a:pt x="71697" y="8651"/>
                </a:lnTo>
                <a:lnTo>
                  <a:pt x="81436" y="18343"/>
                </a:lnTo>
                <a:lnTo>
                  <a:pt x="87757" y="30618"/>
                </a:lnTo>
                <a:lnTo>
                  <a:pt x="89915" y="44195"/>
                </a:lnTo>
                <a:lnTo>
                  <a:pt x="87597" y="58251"/>
                </a:lnTo>
                <a:lnTo>
                  <a:pt x="81141" y="70445"/>
                </a:lnTo>
                <a:lnTo>
                  <a:pt x="71293" y="80031"/>
                </a:lnTo>
                <a:lnTo>
                  <a:pt x="58803" y="86261"/>
                </a:lnTo>
                <a:lnTo>
                  <a:pt x="44958" y="88391"/>
                </a:lnTo>
                <a:lnTo>
                  <a:pt x="30626" y="86104"/>
                </a:lnTo>
                <a:lnTo>
                  <a:pt x="18218" y="79740"/>
                </a:lnTo>
                <a:lnTo>
                  <a:pt x="8479" y="70048"/>
                </a:lnTo>
                <a:lnTo>
                  <a:pt x="2158" y="57773"/>
                </a:lnTo>
                <a:lnTo>
                  <a:pt x="0" y="441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271649">
              <a:lnSpc>
                <a:spcPct val="95825"/>
              </a:lnSpc>
              <a:spcBef>
                <a:spcPts val="1105"/>
              </a:spcBef>
            </a:pPr>
            <a:r>
              <a:rPr sz="3300" spc="0" dirty="0">
                <a:solidFill>
                  <a:srgbClr val="DD001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sz="3300" spc="8" dirty="0">
                <a:solidFill>
                  <a:srgbClr val="DD001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sz="3300" spc="0" dirty="0">
                <a:solidFill>
                  <a:srgbClr val="DD0011"/>
                </a:solidFill>
                <a:latin typeface="Times New Roman" pitchFamily="18" charset="0"/>
                <a:cs typeface="Times New Roman" pitchFamily="18" charset="0"/>
              </a:rPr>
              <a:t>g.:</a:t>
            </a:r>
            <a:r>
              <a:rPr sz="3300" spc="92" dirty="0">
                <a:solidFill>
                  <a:srgbClr val="DD001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Hamil</a:t>
            </a:r>
            <a:r>
              <a:rPr sz="3300" spc="4" dirty="0">
                <a:solidFill>
                  <a:srgbClr val="8B438F"/>
                </a:solidFill>
                <a:latin typeface="Georgia"/>
                <a:cs typeface="Georgia"/>
              </a:rPr>
              <a:t>t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onian</a:t>
            </a:r>
            <a:r>
              <a:rPr sz="3300" spc="-19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Cycle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4683252">
              <a:lnSpc>
                <a:spcPct val="100585"/>
              </a:lnSpc>
              <a:spcBef>
                <a:spcPts val="12160"/>
              </a:spcBef>
            </a:pPr>
            <a:r>
              <a:rPr sz="2400" spc="0" dirty="0">
                <a:latin typeface="Tahoma"/>
                <a:cs typeface="Tahoma"/>
              </a:rPr>
              <a:t>ham</a:t>
            </a:r>
            <a:r>
              <a:rPr sz="2400" spc="4" dirty="0">
                <a:latin typeface="Tahoma"/>
                <a:cs typeface="Tahoma"/>
              </a:rPr>
              <a:t>i</a:t>
            </a:r>
            <a:r>
              <a:rPr sz="2400" spc="0" dirty="0">
                <a:latin typeface="Tahoma"/>
                <a:cs typeface="Tahoma"/>
              </a:rPr>
              <a:t>lt</a:t>
            </a:r>
            <a:r>
              <a:rPr sz="2400" spc="4" dirty="0">
                <a:latin typeface="Tahoma"/>
                <a:cs typeface="Tahoma"/>
              </a:rPr>
              <a:t>o</a:t>
            </a:r>
            <a:r>
              <a:rPr sz="2400" spc="0" dirty="0">
                <a:latin typeface="Tahoma"/>
                <a:cs typeface="Tahoma"/>
              </a:rPr>
              <a:t>ni</a:t>
            </a:r>
            <a:r>
              <a:rPr sz="2400" spc="4" dirty="0">
                <a:latin typeface="Tahoma"/>
                <a:cs typeface="Tahoma"/>
              </a:rPr>
              <a:t>a</a:t>
            </a:r>
            <a:r>
              <a:rPr sz="2400" spc="0" dirty="0">
                <a:latin typeface="Tahoma"/>
                <a:cs typeface="Tahoma"/>
              </a:rPr>
              <a:t>n</a:t>
            </a:r>
            <a:endParaRPr sz="2400">
              <a:latin typeface="Tahoma"/>
              <a:cs typeface="Tahoma"/>
            </a:endParaRPr>
          </a:p>
          <a:p>
            <a:pPr marL="4811234" marR="3503914" algn="ctr">
              <a:lnSpc>
                <a:spcPct val="100585"/>
              </a:lnSpc>
              <a:spcBef>
                <a:spcPts val="8743"/>
              </a:spcBef>
            </a:pPr>
            <a:r>
              <a:rPr sz="2400" spc="4" dirty="0">
                <a:latin typeface="Tahoma"/>
                <a:cs typeface="Tahoma"/>
              </a:rPr>
              <a:t>n</a:t>
            </a:r>
            <a:r>
              <a:rPr sz="2400" spc="0" dirty="0">
                <a:latin typeface="Tahoma"/>
                <a:cs typeface="Tahoma"/>
              </a:rPr>
              <a:t>ot</a:t>
            </a:r>
            <a:endParaRPr sz="2400">
              <a:latin typeface="Tahoma"/>
              <a:cs typeface="Tahoma"/>
            </a:endParaRPr>
          </a:p>
          <a:p>
            <a:pPr marL="4851527">
              <a:lnSpc>
                <a:spcPts val="2880"/>
              </a:lnSpc>
              <a:spcBef>
                <a:spcPts val="144"/>
              </a:spcBef>
            </a:pPr>
            <a:r>
              <a:rPr sz="3600" spc="0" baseline="-2000" dirty="0">
                <a:latin typeface="Tahoma"/>
                <a:cs typeface="Tahoma"/>
              </a:rPr>
              <a:t>hami</a:t>
            </a:r>
            <a:r>
              <a:rPr sz="3600" spc="9" baseline="-2000" dirty="0">
                <a:latin typeface="Tahoma"/>
                <a:cs typeface="Tahoma"/>
              </a:rPr>
              <a:t>l</a:t>
            </a:r>
            <a:r>
              <a:rPr sz="3600" spc="0" baseline="-2000" dirty="0">
                <a:latin typeface="Tahoma"/>
                <a:cs typeface="Tahoma"/>
              </a:rPr>
              <a:t>to</a:t>
            </a:r>
            <a:r>
              <a:rPr sz="3600" spc="9" baseline="-2000" dirty="0">
                <a:latin typeface="Tahoma"/>
                <a:cs typeface="Tahoma"/>
              </a:rPr>
              <a:t>n</a:t>
            </a:r>
            <a:r>
              <a:rPr sz="3600" spc="0" baseline="-2000" dirty="0">
                <a:latin typeface="Tahoma"/>
                <a:cs typeface="Tahoma"/>
              </a:rPr>
              <a:t>ian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59180" y="4472940"/>
            <a:ext cx="7025640" cy="185166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718437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Problem</a:t>
            </a:r>
            <a:r>
              <a:rPr sz="3300" spc="1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of Independe</a:t>
            </a:r>
            <a:r>
              <a:rPr sz="3300" spc="-14" dirty="0">
                <a:solidFill>
                  <a:srgbClr val="8B438F"/>
                </a:solidFill>
                <a:latin typeface="Georgia"/>
                <a:cs typeface="Georgia"/>
              </a:rPr>
              <a:t>n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t</a:t>
            </a:r>
            <a:r>
              <a:rPr sz="3300" spc="54" dirty="0">
                <a:solidFill>
                  <a:srgbClr val="8B438F"/>
                </a:solidFill>
                <a:latin typeface="Georgia"/>
                <a:cs typeface="Georgia"/>
              </a:rPr>
              <a:t> </a:t>
            </a: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Sets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9"/>
              </a:spcBef>
            </a:pPr>
            <a:endParaRPr sz="500"/>
          </a:p>
          <a:p>
            <a:pPr marL="515112" marR="225224" indent="-274320">
              <a:lnSpc>
                <a:spcPts val="2499"/>
              </a:lnSpc>
              <a:spcBef>
                <a:spcPts val="1000"/>
              </a:spcBef>
              <a:tabLst>
                <a:tab pos="508000" algn="l"/>
              </a:tabLst>
            </a:pPr>
            <a:r>
              <a:rPr sz="185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185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200" spc="4" dirty="0">
                <a:latin typeface="Georgia"/>
                <a:cs typeface="Georgia"/>
              </a:rPr>
              <a:t>A</a:t>
            </a:r>
            <a:r>
              <a:rPr sz="2200" spc="0" dirty="0">
                <a:latin typeface="Georgia"/>
                <a:cs typeface="Georgia"/>
              </a:rPr>
              <a:t>n</a:t>
            </a:r>
            <a:r>
              <a:rPr sz="2200" spc="27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ind</a:t>
            </a:r>
            <a:r>
              <a:rPr sz="2200" spc="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p</a:t>
            </a:r>
            <a:r>
              <a:rPr sz="2200" spc="9" dirty="0">
                <a:latin typeface="Georgia"/>
                <a:cs typeface="Georgia"/>
              </a:rPr>
              <a:t>en</a:t>
            </a:r>
            <a:r>
              <a:rPr sz="2200" spc="0" dirty="0">
                <a:latin typeface="Georgia"/>
                <a:cs typeface="Georgia"/>
              </a:rPr>
              <a:t>dent</a:t>
            </a:r>
            <a:r>
              <a:rPr sz="2200" spc="-52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s</a:t>
            </a:r>
            <a:r>
              <a:rPr sz="2200" spc="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32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r</a:t>
            </a:r>
            <a:r>
              <a:rPr sz="2200" spc="39" dirty="0">
                <a:latin typeface="Georgia"/>
                <a:cs typeface="Georgia"/>
              </a:rPr>
              <a:t> </a:t>
            </a:r>
            <a:r>
              <a:rPr sz="2200" spc="9" dirty="0">
                <a:latin typeface="Georgia"/>
                <a:cs typeface="Georgia"/>
              </a:rPr>
              <a:t>s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4" dirty="0">
                <a:latin typeface="Georgia"/>
                <a:cs typeface="Georgia"/>
              </a:rPr>
              <a:t>a</a:t>
            </a:r>
            <a:r>
              <a:rPr sz="2200" spc="0" dirty="0">
                <a:latin typeface="Georgia"/>
                <a:cs typeface="Georgia"/>
              </a:rPr>
              <a:t>ble</a:t>
            </a:r>
            <a:r>
              <a:rPr sz="2200" spc="2" dirty="0">
                <a:latin typeface="Georgia"/>
                <a:cs typeface="Georgia"/>
              </a:rPr>
              <a:t> </a:t>
            </a:r>
            <a:r>
              <a:rPr sz="2200" spc="9" dirty="0">
                <a:latin typeface="Georgia"/>
                <a:cs typeface="Georgia"/>
              </a:rPr>
              <a:t>s</a:t>
            </a:r>
            <a:r>
              <a:rPr sz="2200" spc="0" dirty="0">
                <a:latin typeface="Georgia"/>
                <a:cs typeface="Georgia"/>
              </a:rPr>
              <a:t>et</a:t>
            </a:r>
            <a:r>
              <a:rPr sz="2200" spc="27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s</a:t>
            </a:r>
            <a:r>
              <a:rPr sz="2200" spc="53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a</a:t>
            </a:r>
            <a:r>
              <a:rPr sz="2200" spc="53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set</a:t>
            </a:r>
            <a:r>
              <a:rPr sz="2200" spc="22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f</a:t>
            </a:r>
            <a:r>
              <a:rPr sz="2200" spc="4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vert</a:t>
            </a:r>
            <a:r>
              <a:rPr sz="2200" spc="9" dirty="0">
                <a:latin typeface="Georgia"/>
                <a:cs typeface="Georgia"/>
              </a:rPr>
              <a:t>ic</a:t>
            </a:r>
            <a:r>
              <a:rPr sz="2200" spc="0" dirty="0">
                <a:latin typeface="Georgia"/>
                <a:cs typeface="Georgia"/>
              </a:rPr>
              <a:t>es</a:t>
            </a:r>
            <a:r>
              <a:rPr sz="2200" spc="-14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n</a:t>
            </a:r>
            <a:r>
              <a:rPr sz="2200" spc="69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a</a:t>
            </a:r>
            <a:r>
              <a:rPr sz="2200" spc="53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gr</a:t>
            </a:r>
            <a:r>
              <a:rPr sz="2200" spc="4" dirty="0">
                <a:latin typeface="Georgia"/>
                <a:cs typeface="Georgia"/>
              </a:rPr>
              <a:t>a</a:t>
            </a:r>
            <a:r>
              <a:rPr sz="2200" spc="14" dirty="0">
                <a:latin typeface="Georgia"/>
                <a:cs typeface="Georgia"/>
              </a:rPr>
              <a:t>p</a:t>
            </a:r>
            <a:r>
              <a:rPr sz="2200" spc="0" dirty="0">
                <a:latin typeface="Georgia"/>
                <a:cs typeface="Georgia"/>
              </a:rPr>
              <a:t>h,</a:t>
            </a:r>
            <a:r>
              <a:rPr sz="2200" spc="2" dirty="0">
                <a:latin typeface="Georgia"/>
                <a:cs typeface="Georgia"/>
              </a:rPr>
              <a:t> </a:t>
            </a:r>
            <a:r>
              <a:rPr sz="2200" spc="-14" dirty="0">
                <a:latin typeface="Georgia"/>
                <a:cs typeface="Georgia"/>
              </a:rPr>
              <a:t>no </a:t>
            </a:r>
            <a:endParaRPr sz="2200">
              <a:latin typeface="Georgia"/>
              <a:cs typeface="Georgia"/>
            </a:endParaRPr>
          </a:p>
          <a:p>
            <a:pPr marL="515112" marR="225224">
              <a:lnSpc>
                <a:spcPts val="2499"/>
              </a:lnSpc>
              <a:spcBef>
                <a:spcPts val="139"/>
              </a:spcBef>
              <a:tabLst>
                <a:tab pos="508000" algn="l"/>
              </a:tabLst>
            </a:pPr>
            <a:r>
              <a:rPr sz="2200" spc="0" dirty="0">
                <a:latin typeface="Georgia"/>
                <a:cs typeface="Georgia"/>
              </a:rPr>
              <a:t>two</a:t>
            </a:r>
            <a:r>
              <a:rPr sz="2200" spc="-20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f</a:t>
            </a:r>
            <a:r>
              <a:rPr sz="2200" spc="-28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w</a:t>
            </a:r>
            <a:r>
              <a:rPr sz="2200" spc="4" dirty="0">
                <a:latin typeface="Georgia"/>
                <a:cs typeface="Georgia"/>
              </a:rPr>
              <a:t>h</a:t>
            </a:r>
            <a:r>
              <a:rPr sz="2200" spc="0" dirty="0">
                <a:latin typeface="Georgia"/>
                <a:cs typeface="Georgia"/>
              </a:rPr>
              <a:t>ich</a:t>
            </a:r>
            <a:r>
              <a:rPr sz="2200" spc="-58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are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ad</a:t>
            </a:r>
            <a:r>
              <a:rPr sz="2200" spc="-9" dirty="0">
                <a:latin typeface="Georgia"/>
                <a:cs typeface="Georgia"/>
              </a:rPr>
              <a:t>j</a:t>
            </a:r>
            <a:r>
              <a:rPr sz="2200" spc="0" dirty="0">
                <a:latin typeface="Georgia"/>
                <a:cs typeface="Georgia"/>
              </a:rPr>
              <a:t>ac</a:t>
            </a:r>
            <a:r>
              <a:rPr sz="2200" spc="-9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n</a:t>
            </a:r>
            <a:r>
              <a:rPr sz="2200" spc="-4" dirty="0">
                <a:latin typeface="Georgia"/>
                <a:cs typeface="Georgia"/>
              </a:rPr>
              <a:t>t</a:t>
            </a:r>
            <a:r>
              <a:rPr sz="2200" spc="0" dirty="0">
                <a:latin typeface="Georgia"/>
                <a:cs typeface="Georgia"/>
              </a:rPr>
              <a:t>.</a:t>
            </a:r>
            <a:endParaRPr sz="22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668"/>
              </a:spcBef>
            </a:pPr>
            <a:r>
              <a:rPr sz="18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18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1850" spc="95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latin typeface="Georgia"/>
                <a:cs typeface="Georgia"/>
              </a:rPr>
              <a:t>It</a:t>
            </a:r>
            <a:r>
              <a:rPr sz="2200" spc="329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s</a:t>
            </a:r>
            <a:r>
              <a:rPr sz="2200" spc="329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a</a:t>
            </a:r>
            <a:r>
              <a:rPr sz="2200" spc="334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s</a:t>
            </a:r>
            <a:r>
              <a:rPr sz="2200" spc="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317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’v’</a:t>
            </a:r>
            <a:r>
              <a:rPr sz="2200" spc="345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f</a:t>
            </a:r>
            <a:r>
              <a:rPr sz="2200" spc="321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vertices</a:t>
            </a:r>
            <a:r>
              <a:rPr sz="2200" spc="27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such</a:t>
            </a:r>
            <a:r>
              <a:rPr sz="2200" spc="30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that</a:t>
            </a:r>
            <a:r>
              <a:rPr sz="2200" spc="306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f</a:t>
            </a:r>
            <a:r>
              <a:rPr sz="2200" spc="9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r</a:t>
            </a:r>
            <a:r>
              <a:rPr sz="2200" spc="322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ev</a:t>
            </a:r>
            <a:r>
              <a:rPr sz="2200" spc="-9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ry</a:t>
            </a:r>
            <a:r>
              <a:rPr sz="2200" spc="298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9" dirty="0">
                <a:latin typeface="Georgia"/>
                <a:cs typeface="Georgia"/>
              </a:rPr>
              <a:t>w</a:t>
            </a:r>
            <a:r>
              <a:rPr sz="2200" spc="0" dirty="0">
                <a:latin typeface="Georgia"/>
                <a:cs typeface="Georgia"/>
              </a:rPr>
              <a:t>o</a:t>
            </a:r>
            <a:r>
              <a:rPr sz="2200" spc="319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vertic</a:t>
            </a:r>
            <a:r>
              <a:rPr sz="2200" spc="-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s</a:t>
            </a:r>
            <a:r>
              <a:rPr sz="2200" spc="270" dirty="0">
                <a:latin typeface="Georgia"/>
                <a:cs typeface="Georgia"/>
              </a:rPr>
              <a:t> </a:t>
            </a:r>
            <a:r>
              <a:rPr sz="2200" spc="1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n</a:t>
            </a:r>
            <a:r>
              <a:rPr sz="2200" spc="34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’v</a:t>
            </a:r>
            <a:r>
              <a:rPr sz="2200" spc="-14" dirty="0">
                <a:latin typeface="Georgia"/>
                <a:cs typeface="Georgia"/>
              </a:rPr>
              <a:t>’</a:t>
            </a:r>
            <a:r>
              <a:rPr sz="2200" spc="0" dirty="0">
                <a:latin typeface="Georgia"/>
                <a:cs typeface="Georgia"/>
              </a:rPr>
              <a:t>,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40"/>
              </a:spcBef>
            </a:pPr>
            <a:r>
              <a:rPr sz="2200" spc="0" dirty="0">
                <a:latin typeface="Georgia"/>
                <a:cs typeface="Georgia"/>
              </a:rPr>
              <a:t>there </a:t>
            </a:r>
            <a:r>
              <a:rPr sz="2200" spc="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s </a:t>
            </a:r>
            <a:r>
              <a:rPr sz="2200" spc="-4" dirty="0">
                <a:latin typeface="Georgia"/>
                <a:cs typeface="Georgia"/>
              </a:rPr>
              <a:t>n</a:t>
            </a:r>
            <a:r>
              <a:rPr sz="2200" spc="0" dirty="0">
                <a:latin typeface="Georgia"/>
                <a:cs typeface="Georgia"/>
              </a:rPr>
              <a:t>o e</a:t>
            </a:r>
            <a:r>
              <a:rPr sz="2200" spc="-9" dirty="0">
                <a:latin typeface="Georgia"/>
                <a:cs typeface="Georgia"/>
              </a:rPr>
              <a:t>d</a:t>
            </a:r>
            <a:r>
              <a:rPr sz="2200" spc="0" dirty="0">
                <a:latin typeface="Georgia"/>
                <a:cs typeface="Georgia"/>
              </a:rPr>
              <a:t>ge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conn</a:t>
            </a:r>
            <a:r>
              <a:rPr sz="2200" spc="-9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cting</a:t>
            </a:r>
            <a:r>
              <a:rPr sz="2200" spc="2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the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two.</a:t>
            </a:r>
            <a:endParaRPr sz="22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670"/>
              </a:spcBef>
            </a:pPr>
            <a:r>
              <a:rPr sz="18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18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1850" spc="95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quivale</a:t>
            </a:r>
            <a:r>
              <a:rPr sz="2200" spc="14" dirty="0">
                <a:latin typeface="Georgia"/>
                <a:cs typeface="Georgia"/>
              </a:rPr>
              <a:t>n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9" dirty="0">
                <a:latin typeface="Georgia"/>
                <a:cs typeface="Georgia"/>
              </a:rPr>
              <a:t>l</a:t>
            </a:r>
            <a:r>
              <a:rPr sz="2200" spc="-19" dirty="0">
                <a:latin typeface="Georgia"/>
                <a:cs typeface="Georgia"/>
              </a:rPr>
              <a:t>y</a:t>
            </a:r>
            <a:r>
              <a:rPr sz="2200" spc="0" dirty="0">
                <a:latin typeface="Georgia"/>
                <a:cs typeface="Georgia"/>
              </a:rPr>
              <a:t>,</a:t>
            </a:r>
            <a:r>
              <a:rPr sz="2200" spc="-117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ach</a:t>
            </a:r>
            <a:r>
              <a:rPr sz="2200" spc="-24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e</a:t>
            </a:r>
            <a:r>
              <a:rPr sz="2200" spc="0" dirty="0">
                <a:latin typeface="Georgia"/>
                <a:cs typeface="Georgia"/>
              </a:rPr>
              <a:t>d</a:t>
            </a:r>
            <a:r>
              <a:rPr sz="2200" spc="4" dirty="0">
                <a:latin typeface="Georgia"/>
                <a:cs typeface="Georgia"/>
              </a:rPr>
              <a:t>g</a:t>
            </a:r>
            <a:r>
              <a:rPr sz="2200" spc="0" dirty="0">
                <a:latin typeface="Georgia"/>
                <a:cs typeface="Georgia"/>
              </a:rPr>
              <a:t>e</a:t>
            </a:r>
            <a:r>
              <a:rPr sz="2200" spc="-25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n</a:t>
            </a:r>
            <a:r>
              <a:rPr sz="2200" spc="19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the</a:t>
            </a:r>
            <a:r>
              <a:rPr sz="2200" spc="-11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graph</a:t>
            </a:r>
            <a:r>
              <a:rPr sz="2200" spc="-26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has</a:t>
            </a:r>
            <a:r>
              <a:rPr sz="2200" spc="-8" dirty="0">
                <a:latin typeface="Georgia"/>
                <a:cs typeface="Georgia"/>
              </a:rPr>
              <a:t> </a:t>
            </a:r>
            <a:r>
              <a:rPr sz="2200" spc="-4" dirty="0">
                <a:latin typeface="Georgia"/>
                <a:cs typeface="Georgia"/>
              </a:rPr>
              <a:t>a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1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most</a:t>
            </a:r>
            <a:r>
              <a:rPr sz="2200" spc="-23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one</a:t>
            </a:r>
            <a:r>
              <a:rPr sz="2200" spc="-15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en</a:t>
            </a:r>
            <a:r>
              <a:rPr sz="2200" spc="-9" dirty="0">
                <a:latin typeface="Georgia"/>
                <a:cs typeface="Georgia"/>
              </a:rPr>
              <a:t>d</a:t>
            </a:r>
            <a:r>
              <a:rPr sz="2200" spc="0" dirty="0">
                <a:latin typeface="Georgia"/>
                <a:cs typeface="Georgia"/>
              </a:rPr>
              <a:t>p</a:t>
            </a:r>
            <a:r>
              <a:rPr sz="2200" spc="19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i</a:t>
            </a:r>
            <a:r>
              <a:rPr sz="2200" spc="14" dirty="0">
                <a:latin typeface="Georgia"/>
                <a:cs typeface="Georgia"/>
              </a:rPr>
              <a:t>n</a:t>
            </a:r>
            <a:r>
              <a:rPr sz="2200" spc="0" dirty="0">
                <a:latin typeface="Georgia"/>
                <a:cs typeface="Georgia"/>
              </a:rPr>
              <a:t>t</a:t>
            </a:r>
            <a:r>
              <a:rPr sz="2200" spc="-43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in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40"/>
              </a:spcBef>
            </a:pPr>
            <a:r>
              <a:rPr sz="2200" spc="0" dirty="0">
                <a:latin typeface="Georgia"/>
                <a:cs typeface="Georgia"/>
              </a:rPr>
              <a:t>’v</a:t>
            </a:r>
            <a:r>
              <a:rPr sz="2200" spc="-9" dirty="0">
                <a:latin typeface="Georgia"/>
                <a:cs typeface="Georgia"/>
              </a:rPr>
              <a:t>’</a:t>
            </a:r>
            <a:r>
              <a:rPr sz="2200" spc="0" dirty="0">
                <a:latin typeface="Georgia"/>
                <a:cs typeface="Georgia"/>
              </a:rPr>
              <a:t>.</a:t>
            </a:r>
            <a:endParaRPr sz="2200">
              <a:latin typeface="Georgia"/>
              <a:cs typeface="Georgia"/>
            </a:endParaRPr>
          </a:p>
          <a:p>
            <a:pPr marL="240792">
              <a:lnSpc>
                <a:spcPct val="94685"/>
              </a:lnSpc>
              <a:spcBef>
                <a:spcPts val="668"/>
              </a:spcBef>
            </a:pPr>
            <a:r>
              <a:rPr sz="185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185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sz="1850" spc="88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spc="0" dirty="0">
                <a:latin typeface="Georgia"/>
                <a:cs typeface="Georgia"/>
              </a:rPr>
              <a:t>The </a:t>
            </a:r>
            <a:r>
              <a:rPr sz="2200" spc="122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size </a:t>
            </a:r>
            <a:r>
              <a:rPr sz="2200" spc="154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f </a:t>
            </a:r>
            <a:r>
              <a:rPr sz="2200" spc="160" dirty="0">
                <a:latin typeface="Georgia"/>
                <a:cs typeface="Georgia"/>
              </a:rPr>
              <a:t> </a:t>
            </a:r>
            <a:r>
              <a:rPr sz="2200" spc="-4" dirty="0">
                <a:latin typeface="Georgia"/>
                <a:cs typeface="Georgia"/>
              </a:rPr>
              <a:t>a</a:t>
            </a:r>
            <a:r>
              <a:rPr sz="2200" spc="0" dirty="0">
                <a:latin typeface="Georgia"/>
                <a:cs typeface="Georgia"/>
              </a:rPr>
              <a:t>n </a:t>
            </a:r>
            <a:r>
              <a:rPr sz="2200" spc="164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i</a:t>
            </a:r>
            <a:r>
              <a:rPr sz="2200" spc="9" dirty="0">
                <a:latin typeface="Georgia"/>
                <a:cs typeface="Georgia"/>
              </a:rPr>
              <a:t>n</a:t>
            </a:r>
            <a:r>
              <a:rPr sz="2200" spc="0" dirty="0">
                <a:latin typeface="Georgia"/>
                <a:cs typeface="Georgia"/>
              </a:rPr>
              <a:t>d</a:t>
            </a:r>
            <a:r>
              <a:rPr sz="2200" spc="-9" dirty="0">
                <a:latin typeface="Georgia"/>
                <a:cs typeface="Georgia"/>
              </a:rPr>
              <a:t>e</a:t>
            </a:r>
            <a:r>
              <a:rPr sz="2200" spc="14" dirty="0">
                <a:latin typeface="Georgia"/>
                <a:cs typeface="Georgia"/>
              </a:rPr>
              <a:t>p</a:t>
            </a:r>
            <a:r>
              <a:rPr sz="2200" spc="0" dirty="0">
                <a:latin typeface="Georgia"/>
                <a:cs typeface="Georgia"/>
              </a:rPr>
              <a:t>endent </a:t>
            </a:r>
            <a:r>
              <a:rPr sz="2200" spc="134" dirty="0">
                <a:latin typeface="Georgia"/>
                <a:cs typeface="Georgia"/>
              </a:rPr>
              <a:t> </a:t>
            </a:r>
            <a:r>
              <a:rPr sz="2200" spc="9" dirty="0">
                <a:latin typeface="Georgia"/>
                <a:cs typeface="Georgia"/>
              </a:rPr>
              <a:t>s</a:t>
            </a:r>
            <a:r>
              <a:rPr sz="2200" spc="0" dirty="0">
                <a:latin typeface="Georgia"/>
                <a:cs typeface="Georgia"/>
              </a:rPr>
              <a:t>et </a:t>
            </a:r>
            <a:r>
              <a:rPr sz="2200" spc="145" dirty="0">
                <a:latin typeface="Georgia"/>
                <a:cs typeface="Georgia"/>
              </a:rPr>
              <a:t> </a:t>
            </a:r>
            <a:r>
              <a:rPr sz="2200" spc="14" dirty="0">
                <a:latin typeface="Georgia"/>
                <a:cs typeface="Georgia"/>
              </a:rPr>
              <a:t>i</a:t>
            </a:r>
            <a:r>
              <a:rPr sz="2200" spc="0" dirty="0">
                <a:latin typeface="Georgia"/>
                <a:cs typeface="Georgia"/>
              </a:rPr>
              <a:t>s </a:t>
            </a:r>
            <a:r>
              <a:rPr sz="2200" spc="159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the </a:t>
            </a:r>
            <a:r>
              <a:rPr sz="2200" spc="128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n</a:t>
            </a:r>
            <a:r>
              <a:rPr sz="2200" spc="-4" dirty="0">
                <a:latin typeface="Georgia"/>
                <a:cs typeface="Georgia"/>
              </a:rPr>
              <a:t>u</a:t>
            </a:r>
            <a:r>
              <a:rPr sz="2200" spc="4" dirty="0">
                <a:latin typeface="Georgia"/>
                <a:cs typeface="Georgia"/>
              </a:rPr>
              <a:t>m</a:t>
            </a:r>
            <a:r>
              <a:rPr sz="2200" spc="0" dirty="0">
                <a:latin typeface="Georgia"/>
                <a:cs typeface="Georgia"/>
              </a:rPr>
              <a:t>ber </a:t>
            </a:r>
            <a:r>
              <a:rPr sz="2200" spc="164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o</a:t>
            </a:r>
            <a:r>
              <a:rPr sz="2200" spc="0" dirty="0">
                <a:latin typeface="Georgia"/>
                <a:cs typeface="Georgia"/>
              </a:rPr>
              <a:t>f </a:t>
            </a:r>
            <a:r>
              <a:rPr sz="2200" spc="150" dirty="0">
                <a:latin typeface="Georgia"/>
                <a:cs typeface="Georgia"/>
              </a:rPr>
              <a:t> </a:t>
            </a:r>
            <a:r>
              <a:rPr sz="2200" spc="0" dirty="0">
                <a:latin typeface="Georgia"/>
                <a:cs typeface="Georgia"/>
              </a:rPr>
              <a:t>ve</a:t>
            </a:r>
            <a:r>
              <a:rPr sz="2200" spc="-9" dirty="0">
                <a:latin typeface="Georgia"/>
                <a:cs typeface="Georgia"/>
              </a:rPr>
              <a:t>r</a:t>
            </a:r>
            <a:r>
              <a:rPr sz="2200" spc="0" dirty="0">
                <a:latin typeface="Georgia"/>
                <a:cs typeface="Georgia"/>
              </a:rPr>
              <a:t>ti</a:t>
            </a:r>
            <a:r>
              <a:rPr sz="2200" spc="9" dirty="0">
                <a:latin typeface="Georgia"/>
                <a:cs typeface="Georgia"/>
              </a:rPr>
              <a:t>c</a:t>
            </a:r>
            <a:r>
              <a:rPr sz="2200" spc="0" dirty="0">
                <a:latin typeface="Georgia"/>
                <a:cs typeface="Georgia"/>
              </a:rPr>
              <a:t>es </a:t>
            </a:r>
            <a:r>
              <a:rPr sz="2200" spc="139" dirty="0">
                <a:latin typeface="Georgia"/>
                <a:cs typeface="Georgia"/>
              </a:rPr>
              <a:t> </a:t>
            </a:r>
            <a:r>
              <a:rPr sz="2200" spc="4" dirty="0">
                <a:latin typeface="Georgia"/>
                <a:cs typeface="Georgia"/>
              </a:rPr>
              <a:t>it</a:t>
            </a:r>
            <a:endParaRPr sz="22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140"/>
              </a:spcBef>
            </a:pPr>
            <a:r>
              <a:rPr sz="2200" spc="0" dirty="0">
                <a:latin typeface="Georgia"/>
                <a:cs typeface="Georgia"/>
              </a:rPr>
              <a:t>contains.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431857" marR="3432570" algn="ctr">
              <a:lnSpc>
                <a:spcPct val="94685"/>
              </a:lnSpc>
              <a:spcBef>
                <a:spcPts val="1399"/>
              </a:spcBef>
            </a:pPr>
            <a:r>
              <a:rPr sz="3300" spc="0" dirty="0">
                <a:solidFill>
                  <a:srgbClr val="8B438F"/>
                </a:solidFill>
                <a:latin typeface="Georgia"/>
                <a:cs typeface="Georgia"/>
              </a:rPr>
              <a:t>In general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240792">
              <a:lnSpc>
                <a:spcPct val="94685"/>
              </a:lnSpc>
              <a:spcBef>
                <a:spcPts val="1000"/>
              </a:spcBef>
            </a:pPr>
            <a:r>
              <a:rPr sz="2300" spc="0" dirty="0">
                <a:solidFill>
                  <a:srgbClr val="525389"/>
                </a:solidFill>
                <a:latin typeface="Wingdings"/>
                <a:cs typeface="Wingdings"/>
              </a:rPr>
              <a:t></a:t>
            </a:r>
            <a:r>
              <a:rPr sz="2300" spc="0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257" dirty="0">
                <a:solidFill>
                  <a:srgbClr val="52538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0" dirty="0">
                <a:latin typeface="Georgia"/>
                <a:cs typeface="Georgia"/>
              </a:rPr>
              <a:t>To</a:t>
            </a:r>
            <a:r>
              <a:rPr sz="2700" spc="4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prove</a:t>
            </a:r>
            <a:r>
              <a:rPr sz="2700" spc="-2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NP</a:t>
            </a:r>
            <a:r>
              <a:rPr sz="2700" spc="9" dirty="0">
                <a:latin typeface="Georgia"/>
                <a:cs typeface="Georgia"/>
              </a:rPr>
              <a:t> </a:t>
            </a:r>
            <a:r>
              <a:rPr sz="2700" spc="0" dirty="0">
                <a:latin typeface="Georgia"/>
                <a:cs typeface="Georgia"/>
              </a:rPr>
              <a:t>C</a:t>
            </a:r>
            <a:r>
              <a:rPr sz="2700" spc="-9" dirty="0">
                <a:latin typeface="Georgia"/>
                <a:cs typeface="Georgia"/>
              </a:rPr>
              <a:t>o</a:t>
            </a:r>
            <a:r>
              <a:rPr sz="2700" spc="0" dirty="0">
                <a:latin typeface="Georgia"/>
                <a:cs typeface="Georgia"/>
              </a:rPr>
              <a:t>mplet</a:t>
            </a:r>
            <a:r>
              <a:rPr sz="2700" spc="4" dirty="0">
                <a:latin typeface="Georgia"/>
                <a:cs typeface="Georgia"/>
              </a:rPr>
              <a:t>e</a:t>
            </a:r>
            <a:r>
              <a:rPr sz="2700" spc="0" dirty="0">
                <a:latin typeface="Georgia"/>
                <a:cs typeface="Georgia"/>
              </a:rPr>
              <a:t>ness</a:t>
            </a:r>
            <a:endParaRPr sz="2700">
              <a:latin typeface="Georgia"/>
              <a:cs typeface="Georgia"/>
            </a:endParaRPr>
          </a:p>
          <a:p>
            <a:pPr marL="789736" marR="220865" indent="-274624">
              <a:lnSpc>
                <a:spcPts val="2726"/>
              </a:lnSpc>
              <a:spcBef>
                <a:spcPts val="735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Prove</a:t>
            </a:r>
            <a:r>
              <a:rPr sz="2400" spc="1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that</a:t>
            </a:r>
            <a:r>
              <a:rPr sz="2400" spc="1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400" spc="1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obl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m</a:t>
            </a:r>
            <a:r>
              <a:rPr sz="2400" spc="1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400" spc="1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400" spc="15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v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ed</a:t>
            </a:r>
            <a:r>
              <a:rPr sz="2400" spc="1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14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poly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omial</a:t>
            </a:r>
            <a:r>
              <a:rPr sz="2400" spc="15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time </a:t>
            </a:r>
            <a:endParaRPr sz="2400">
              <a:latin typeface="Georgia"/>
              <a:cs typeface="Georgia"/>
            </a:endParaRPr>
          </a:p>
          <a:p>
            <a:pPr marL="789736" marR="220865">
              <a:lnSpc>
                <a:spcPts val="2726"/>
              </a:lnSpc>
              <a:spcBef>
                <a:spcPts val="152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by non det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rministic</a:t>
            </a:r>
            <a:r>
              <a:rPr sz="2400" spc="-25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way</a:t>
            </a:r>
            <a:endParaRPr sz="2400">
              <a:latin typeface="Georgia"/>
              <a:cs typeface="Georgia"/>
            </a:endParaRPr>
          </a:p>
          <a:p>
            <a:pPr marL="789736" marR="219160" indent="-274624">
              <a:lnSpc>
                <a:spcPts val="2726"/>
              </a:lnSpc>
              <a:spcBef>
                <a:spcPts val="731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Then</a:t>
            </a:r>
            <a:r>
              <a:rPr sz="2400" spc="36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try</a:t>
            </a:r>
            <a:r>
              <a:rPr sz="2400" spc="36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37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sh</a:t>
            </a:r>
            <a:r>
              <a:rPr sz="2400" spc="14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36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37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the</a:t>
            </a:r>
            <a:r>
              <a:rPr sz="2400" spc="36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pr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o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em</a:t>
            </a:r>
            <a:r>
              <a:rPr sz="2400" spc="37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can</a:t>
            </a:r>
            <a:r>
              <a:rPr sz="2400" spc="36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400" spc="37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expr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e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ssed</a:t>
            </a:r>
            <a:r>
              <a:rPr sz="2400" spc="38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as </a:t>
            </a:r>
            <a:endParaRPr sz="2400">
              <a:latin typeface="Georgia"/>
              <a:cs typeface="Georgia"/>
            </a:endParaRPr>
          </a:p>
          <a:p>
            <a:pPr marL="789736" marR="219160">
              <a:lnSpc>
                <a:spcPts val="2726"/>
              </a:lnSpc>
              <a:spcBef>
                <a:spcPts val="152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satisfiab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lity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problem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No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w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, </a:t>
            </a:r>
            <a:r>
              <a:rPr sz="2400" spc="43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sati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fi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bi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l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ity </a:t>
            </a:r>
            <a:r>
              <a:rPr sz="2400" spc="44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oblem </a:t>
            </a:r>
            <a:r>
              <a:rPr sz="2400" spc="4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 </a:t>
            </a:r>
            <a:r>
              <a:rPr sz="2400" spc="44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alre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a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dy </a:t>
            </a:r>
            <a:r>
              <a:rPr sz="2400" spc="45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r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oven </a:t>
            </a:r>
            <a:r>
              <a:rPr sz="2400" spc="443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as </a:t>
            </a:r>
            <a:r>
              <a:rPr sz="2400" spc="438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NP</a:t>
            </a:r>
            <a:endParaRPr sz="2400">
              <a:latin typeface="Georgia"/>
              <a:cs typeface="Georgia"/>
            </a:endParaRPr>
          </a:p>
          <a:p>
            <a:pPr marL="789736">
              <a:lnSpc>
                <a:spcPts val="2737"/>
              </a:lnSpc>
              <a:spcBef>
                <a:spcPts val="155"/>
              </a:spcBef>
            </a:pP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complete as the 1</a:t>
            </a:r>
            <a:r>
              <a:rPr sz="2400" spc="-4" baseline="2500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0" baseline="2500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177" baseline="25000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problem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So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given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such</a:t>
            </a:r>
            <a:r>
              <a:rPr sz="2400" spc="-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problem</a:t>
            </a:r>
            <a:r>
              <a:rPr sz="2400" spc="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also</a:t>
            </a:r>
            <a:r>
              <a:rPr sz="2400" spc="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be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c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omes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 complete</a:t>
            </a:r>
            <a:endParaRPr sz="2400">
              <a:latin typeface="Georgia"/>
              <a:cs typeface="Georgia"/>
            </a:endParaRPr>
          </a:p>
          <a:p>
            <a:pPr marL="515112">
              <a:lnSpc>
                <a:spcPct val="94685"/>
              </a:lnSpc>
              <a:spcBef>
                <a:spcPts val="729"/>
              </a:spcBef>
            </a:pPr>
            <a:r>
              <a:rPr sz="1650" spc="0" dirty="0">
                <a:solidFill>
                  <a:srgbClr val="438085"/>
                </a:solidFill>
                <a:latin typeface="Wingdings"/>
                <a:cs typeface="Wingdings"/>
              </a:rPr>
              <a:t></a:t>
            </a:r>
            <a:r>
              <a:rPr sz="1650" spc="267" dirty="0">
                <a:solidFill>
                  <a:srgbClr val="43808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Else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t</a:t>
            </a:r>
            <a:r>
              <a:rPr sz="2400" spc="-14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4" dirty="0">
                <a:solidFill>
                  <a:srgbClr val="424455"/>
                </a:solidFill>
                <a:latin typeface="Georgia"/>
                <a:cs typeface="Georgia"/>
              </a:rPr>
              <a:t>i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s</a:t>
            </a:r>
            <a:r>
              <a:rPr sz="2400" spc="-19" dirty="0">
                <a:solidFill>
                  <a:srgbClr val="424455"/>
                </a:solidFill>
                <a:latin typeface="Georgia"/>
                <a:cs typeface="Georgia"/>
              </a:rPr>
              <a:t> </a:t>
            </a:r>
            <a:r>
              <a:rPr sz="2400" spc="-4" dirty="0">
                <a:solidFill>
                  <a:srgbClr val="424455"/>
                </a:solidFill>
                <a:latin typeface="Georgia"/>
                <a:cs typeface="Georgia"/>
              </a:rPr>
              <a:t>N</a:t>
            </a:r>
            <a:r>
              <a:rPr sz="2400" spc="0" dirty="0">
                <a:solidFill>
                  <a:srgbClr val="424455"/>
                </a:solidFill>
                <a:latin typeface="Georgia"/>
                <a:cs typeface="Georgia"/>
              </a:rPr>
              <a:t>P hard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152400" y="1392936"/>
            <a:ext cx="8839200" cy="4995672"/>
          </a:xfrm>
          <a:custGeom>
            <a:avLst/>
            <a:gdLst/>
            <a:ahLst/>
            <a:cxnLst/>
            <a:rect l="l" t="t" r="r" b="b"/>
            <a:pathLst>
              <a:path w="8839200" h="4995672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400" y="6697980"/>
            <a:ext cx="8839200" cy="7619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20"/>
                </a:moveTo>
                <a:lnTo>
                  <a:pt x="8839200" y="7620"/>
                </a:lnTo>
                <a:lnTo>
                  <a:pt x="8839200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" y="6705600"/>
            <a:ext cx="8839200" cy="152400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0"/>
            <a:ext cx="8839200" cy="1392936"/>
          </a:xfrm>
          <a:custGeom>
            <a:avLst/>
            <a:gdLst/>
            <a:ahLst/>
            <a:cxnLst/>
            <a:rect l="l" t="t" r="r" b="b"/>
            <a:pathLst>
              <a:path w="8839200" h="1392936">
                <a:moveTo>
                  <a:pt x="0" y="1392936"/>
                </a:moveTo>
                <a:lnTo>
                  <a:pt x="8839200" y="1392936"/>
                </a:lnTo>
                <a:lnTo>
                  <a:pt x="8839200" y="0"/>
                </a:lnTo>
                <a:lnTo>
                  <a:pt x="0" y="0"/>
                </a:lnTo>
                <a:lnTo>
                  <a:pt x="0" y="1392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91600" y="0"/>
            <a:ext cx="152400" cy="6858000"/>
          </a:xfrm>
          <a:custGeom>
            <a:avLst/>
            <a:gdLst/>
            <a:ahLst/>
            <a:cxnLst/>
            <a:rect l="l" t="t" r="r" b="b"/>
            <a:pathLst>
              <a:path w="152400" h="6858000">
                <a:moveTo>
                  <a:pt x="0" y="6858000"/>
                </a:moveTo>
                <a:lnTo>
                  <a:pt x="152400" y="6858000"/>
                </a:lnTo>
                <a:lnTo>
                  <a:pt x="1524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9352" y="6388608"/>
            <a:ext cx="8833104" cy="309372"/>
          </a:xfrm>
          <a:custGeom>
            <a:avLst/>
            <a:gdLst/>
            <a:ahLst/>
            <a:cxnLst/>
            <a:rect l="l" t="t" r="r" b="b"/>
            <a:pathLst>
              <a:path w="8833104" h="309371">
                <a:moveTo>
                  <a:pt x="0" y="309371"/>
                </a:moveTo>
                <a:lnTo>
                  <a:pt x="8833104" y="309371"/>
                </a:lnTo>
                <a:lnTo>
                  <a:pt x="8833104" y="0"/>
                </a:lnTo>
                <a:lnTo>
                  <a:pt x="0" y="0"/>
                </a:lnTo>
                <a:lnTo>
                  <a:pt x="0" y="309371"/>
                </a:lnTo>
                <a:close/>
              </a:path>
            </a:pathLst>
          </a:custGeom>
          <a:solidFill>
            <a:srgbClr val="9F4DA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" y="155448"/>
            <a:ext cx="8833104" cy="6547104"/>
          </a:xfrm>
          <a:custGeom>
            <a:avLst/>
            <a:gdLst/>
            <a:ahLst/>
            <a:cxnLst/>
            <a:rect l="l" t="t" r="r" b="b"/>
            <a:pathLst>
              <a:path w="8833104" h="654710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8B438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" y="1277112"/>
            <a:ext cx="8833104" cy="0"/>
          </a:xfrm>
          <a:custGeom>
            <a:avLst/>
            <a:gdLst/>
            <a:ahLst/>
            <a:cxnLst/>
            <a:rect l="l" t="t" r="r" b="b"/>
            <a:pathLst>
              <a:path w="8833104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8B438F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7200" y="9555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1010" y="329790"/>
                </a:lnTo>
                <a:lnTo>
                  <a:pt x="3990" y="354225"/>
                </a:lnTo>
                <a:lnTo>
                  <a:pt x="8861" y="378027"/>
                </a:lnTo>
                <a:lnTo>
                  <a:pt x="15544" y="401116"/>
                </a:lnTo>
                <a:lnTo>
                  <a:pt x="23961" y="423416"/>
                </a:lnTo>
                <a:lnTo>
                  <a:pt x="34032" y="444846"/>
                </a:lnTo>
                <a:lnTo>
                  <a:pt x="45680" y="465328"/>
                </a:lnTo>
                <a:lnTo>
                  <a:pt x="58826" y="484784"/>
                </a:lnTo>
                <a:lnTo>
                  <a:pt x="73391" y="503135"/>
                </a:lnTo>
                <a:lnTo>
                  <a:pt x="89296" y="520303"/>
                </a:lnTo>
                <a:lnTo>
                  <a:pt x="106464" y="536208"/>
                </a:lnTo>
                <a:lnTo>
                  <a:pt x="124815" y="550773"/>
                </a:lnTo>
                <a:lnTo>
                  <a:pt x="144271" y="563919"/>
                </a:lnTo>
                <a:lnTo>
                  <a:pt x="164753" y="575567"/>
                </a:lnTo>
                <a:lnTo>
                  <a:pt x="186183" y="585638"/>
                </a:lnTo>
                <a:lnTo>
                  <a:pt x="208483" y="594055"/>
                </a:lnTo>
                <a:lnTo>
                  <a:pt x="231572" y="600738"/>
                </a:lnTo>
                <a:lnTo>
                  <a:pt x="255374" y="605609"/>
                </a:lnTo>
                <a:lnTo>
                  <a:pt x="279809" y="608589"/>
                </a:lnTo>
                <a:lnTo>
                  <a:pt x="304800" y="609600"/>
                </a:lnTo>
                <a:lnTo>
                  <a:pt x="329790" y="608589"/>
                </a:lnTo>
                <a:lnTo>
                  <a:pt x="354225" y="605609"/>
                </a:lnTo>
                <a:lnTo>
                  <a:pt x="378027" y="600738"/>
                </a:lnTo>
                <a:lnTo>
                  <a:pt x="401116" y="594055"/>
                </a:lnTo>
                <a:lnTo>
                  <a:pt x="423416" y="585638"/>
                </a:lnTo>
                <a:lnTo>
                  <a:pt x="444846" y="575567"/>
                </a:lnTo>
                <a:lnTo>
                  <a:pt x="465328" y="563919"/>
                </a:lnTo>
                <a:lnTo>
                  <a:pt x="484784" y="550773"/>
                </a:lnTo>
                <a:lnTo>
                  <a:pt x="503135" y="536208"/>
                </a:lnTo>
                <a:lnTo>
                  <a:pt x="520303" y="520303"/>
                </a:lnTo>
                <a:lnTo>
                  <a:pt x="536208" y="503135"/>
                </a:lnTo>
                <a:lnTo>
                  <a:pt x="550773" y="484784"/>
                </a:lnTo>
                <a:lnTo>
                  <a:pt x="563919" y="465328"/>
                </a:lnTo>
                <a:lnTo>
                  <a:pt x="575567" y="444846"/>
                </a:lnTo>
                <a:lnTo>
                  <a:pt x="585638" y="423416"/>
                </a:lnTo>
                <a:lnTo>
                  <a:pt x="594055" y="401116"/>
                </a:lnTo>
                <a:lnTo>
                  <a:pt x="600738" y="378027"/>
                </a:lnTo>
                <a:lnTo>
                  <a:pt x="605609" y="354225"/>
                </a:lnTo>
                <a:lnTo>
                  <a:pt x="608589" y="329790"/>
                </a:lnTo>
                <a:lnTo>
                  <a:pt x="609600" y="304800"/>
                </a:lnTo>
                <a:lnTo>
                  <a:pt x="608589" y="279809"/>
                </a:lnTo>
                <a:lnTo>
                  <a:pt x="605609" y="255374"/>
                </a:lnTo>
                <a:lnTo>
                  <a:pt x="600738" y="231572"/>
                </a:lnTo>
                <a:lnTo>
                  <a:pt x="594055" y="208483"/>
                </a:lnTo>
                <a:lnTo>
                  <a:pt x="585638" y="186183"/>
                </a:lnTo>
                <a:lnTo>
                  <a:pt x="575567" y="164753"/>
                </a:lnTo>
                <a:lnTo>
                  <a:pt x="563919" y="144271"/>
                </a:lnTo>
                <a:lnTo>
                  <a:pt x="550773" y="124815"/>
                </a:lnTo>
                <a:lnTo>
                  <a:pt x="536208" y="106464"/>
                </a:lnTo>
                <a:lnTo>
                  <a:pt x="520303" y="89296"/>
                </a:lnTo>
                <a:lnTo>
                  <a:pt x="503135" y="73391"/>
                </a:lnTo>
                <a:lnTo>
                  <a:pt x="484784" y="58826"/>
                </a:lnTo>
                <a:lnTo>
                  <a:pt x="465328" y="45680"/>
                </a:lnTo>
                <a:lnTo>
                  <a:pt x="444846" y="34032"/>
                </a:lnTo>
                <a:lnTo>
                  <a:pt x="423416" y="23961"/>
                </a:lnTo>
                <a:lnTo>
                  <a:pt x="401116" y="15544"/>
                </a:lnTo>
                <a:lnTo>
                  <a:pt x="378027" y="8861"/>
                </a:lnTo>
                <a:lnTo>
                  <a:pt x="354225" y="3990"/>
                </a:lnTo>
                <a:lnTo>
                  <a:pt x="329790" y="1010"/>
                </a:lnTo>
                <a:lnTo>
                  <a:pt x="304800" y="0"/>
                </a:lnTo>
                <a:lnTo>
                  <a:pt x="279809" y="1010"/>
                </a:lnTo>
                <a:lnTo>
                  <a:pt x="255374" y="3990"/>
                </a:lnTo>
                <a:lnTo>
                  <a:pt x="231572" y="8861"/>
                </a:lnTo>
                <a:lnTo>
                  <a:pt x="208483" y="15544"/>
                </a:lnTo>
                <a:lnTo>
                  <a:pt x="186183" y="23961"/>
                </a:lnTo>
                <a:lnTo>
                  <a:pt x="164753" y="34032"/>
                </a:lnTo>
                <a:lnTo>
                  <a:pt x="144271" y="45680"/>
                </a:lnTo>
                <a:lnTo>
                  <a:pt x="124815" y="58826"/>
                </a:lnTo>
                <a:lnTo>
                  <a:pt x="106464" y="73391"/>
                </a:lnTo>
                <a:lnTo>
                  <a:pt x="89296" y="89296"/>
                </a:lnTo>
                <a:lnTo>
                  <a:pt x="73391" y="106464"/>
                </a:lnTo>
                <a:lnTo>
                  <a:pt x="58826" y="124815"/>
                </a:lnTo>
                <a:lnTo>
                  <a:pt x="45680" y="144271"/>
                </a:lnTo>
                <a:lnTo>
                  <a:pt x="34032" y="164753"/>
                </a:lnTo>
                <a:lnTo>
                  <a:pt x="23961" y="186183"/>
                </a:lnTo>
                <a:lnTo>
                  <a:pt x="15544" y="208483"/>
                </a:lnTo>
                <a:lnTo>
                  <a:pt x="8861" y="231572"/>
                </a:lnTo>
                <a:lnTo>
                  <a:pt x="3990" y="255374"/>
                </a:lnTo>
                <a:lnTo>
                  <a:pt x="1010" y="279809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62450" y="105079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0" y="210312"/>
                </a:moveTo>
                <a:lnTo>
                  <a:pt x="696" y="227568"/>
                </a:lnTo>
                <a:lnTo>
                  <a:pt x="2751" y="244438"/>
                </a:lnTo>
                <a:lnTo>
                  <a:pt x="6109" y="260869"/>
                </a:lnTo>
                <a:lnTo>
                  <a:pt x="10716" y="276807"/>
                </a:lnTo>
                <a:lnTo>
                  <a:pt x="16519" y="292197"/>
                </a:lnTo>
                <a:lnTo>
                  <a:pt x="23464" y="306985"/>
                </a:lnTo>
                <a:lnTo>
                  <a:pt x="31496" y="321118"/>
                </a:lnTo>
                <a:lnTo>
                  <a:pt x="40562" y="334542"/>
                </a:lnTo>
                <a:lnTo>
                  <a:pt x="50608" y="347202"/>
                </a:lnTo>
                <a:lnTo>
                  <a:pt x="61579" y="359044"/>
                </a:lnTo>
                <a:lnTo>
                  <a:pt x="73421" y="370015"/>
                </a:lnTo>
                <a:lnTo>
                  <a:pt x="86081" y="380061"/>
                </a:lnTo>
                <a:lnTo>
                  <a:pt x="99505" y="389127"/>
                </a:lnTo>
                <a:lnTo>
                  <a:pt x="113638" y="397159"/>
                </a:lnTo>
                <a:lnTo>
                  <a:pt x="128426" y="404104"/>
                </a:lnTo>
                <a:lnTo>
                  <a:pt x="143816" y="409907"/>
                </a:lnTo>
                <a:lnTo>
                  <a:pt x="159754" y="414514"/>
                </a:lnTo>
                <a:lnTo>
                  <a:pt x="176185" y="417872"/>
                </a:lnTo>
                <a:lnTo>
                  <a:pt x="193055" y="419927"/>
                </a:lnTo>
                <a:lnTo>
                  <a:pt x="210312" y="420624"/>
                </a:lnTo>
                <a:lnTo>
                  <a:pt x="227568" y="419927"/>
                </a:lnTo>
                <a:lnTo>
                  <a:pt x="244438" y="417872"/>
                </a:lnTo>
                <a:lnTo>
                  <a:pt x="260869" y="414514"/>
                </a:lnTo>
                <a:lnTo>
                  <a:pt x="276807" y="409907"/>
                </a:lnTo>
                <a:lnTo>
                  <a:pt x="292197" y="404104"/>
                </a:lnTo>
                <a:lnTo>
                  <a:pt x="306985" y="397159"/>
                </a:lnTo>
                <a:lnTo>
                  <a:pt x="321118" y="389127"/>
                </a:lnTo>
                <a:lnTo>
                  <a:pt x="334542" y="380061"/>
                </a:lnTo>
                <a:lnTo>
                  <a:pt x="347202" y="370015"/>
                </a:lnTo>
                <a:lnTo>
                  <a:pt x="359044" y="359044"/>
                </a:lnTo>
                <a:lnTo>
                  <a:pt x="370015" y="347202"/>
                </a:lnTo>
                <a:lnTo>
                  <a:pt x="380061" y="334542"/>
                </a:lnTo>
                <a:lnTo>
                  <a:pt x="389127" y="321118"/>
                </a:lnTo>
                <a:lnTo>
                  <a:pt x="397159" y="306985"/>
                </a:lnTo>
                <a:lnTo>
                  <a:pt x="404104" y="292197"/>
                </a:lnTo>
                <a:lnTo>
                  <a:pt x="409907" y="276807"/>
                </a:lnTo>
                <a:lnTo>
                  <a:pt x="414514" y="260869"/>
                </a:lnTo>
                <a:lnTo>
                  <a:pt x="417872" y="244438"/>
                </a:lnTo>
                <a:lnTo>
                  <a:pt x="419927" y="227568"/>
                </a:lnTo>
                <a:lnTo>
                  <a:pt x="420624" y="210312"/>
                </a:lnTo>
                <a:lnTo>
                  <a:pt x="419927" y="193055"/>
                </a:lnTo>
                <a:lnTo>
                  <a:pt x="417872" y="176185"/>
                </a:lnTo>
                <a:lnTo>
                  <a:pt x="414514" y="159754"/>
                </a:lnTo>
                <a:lnTo>
                  <a:pt x="409907" y="143816"/>
                </a:lnTo>
                <a:lnTo>
                  <a:pt x="404104" y="128426"/>
                </a:lnTo>
                <a:lnTo>
                  <a:pt x="397159" y="113638"/>
                </a:lnTo>
                <a:lnTo>
                  <a:pt x="389127" y="99505"/>
                </a:lnTo>
                <a:lnTo>
                  <a:pt x="380061" y="86081"/>
                </a:lnTo>
                <a:lnTo>
                  <a:pt x="370015" y="73421"/>
                </a:lnTo>
                <a:lnTo>
                  <a:pt x="359044" y="61579"/>
                </a:lnTo>
                <a:lnTo>
                  <a:pt x="347202" y="50608"/>
                </a:lnTo>
                <a:lnTo>
                  <a:pt x="334542" y="40562"/>
                </a:lnTo>
                <a:lnTo>
                  <a:pt x="321118" y="31496"/>
                </a:lnTo>
                <a:lnTo>
                  <a:pt x="306985" y="23464"/>
                </a:lnTo>
                <a:lnTo>
                  <a:pt x="292197" y="16519"/>
                </a:lnTo>
                <a:lnTo>
                  <a:pt x="276807" y="10716"/>
                </a:lnTo>
                <a:lnTo>
                  <a:pt x="260869" y="6109"/>
                </a:lnTo>
                <a:lnTo>
                  <a:pt x="244438" y="2751"/>
                </a:lnTo>
                <a:lnTo>
                  <a:pt x="227568" y="696"/>
                </a:lnTo>
                <a:lnTo>
                  <a:pt x="210312" y="0"/>
                </a:lnTo>
                <a:lnTo>
                  <a:pt x="193055" y="696"/>
                </a:lnTo>
                <a:lnTo>
                  <a:pt x="176185" y="2751"/>
                </a:lnTo>
                <a:lnTo>
                  <a:pt x="159754" y="6109"/>
                </a:lnTo>
                <a:lnTo>
                  <a:pt x="143816" y="10716"/>
                </a:lnTo>
                <a:lnTo>
                  <a:pt x="128426" y="16519"/>
                </a:lnTo>
                <a:lnTo>
                  <a:pt x="113638" y="23464"/>
                </a:lnTo>
                <a:lnTo>
                  <a:pt x="99505" y="31496"/>
                </a:lnTo>
                <a:lnTo>
                  <a:pt x="86081" y="40562"/>
                </a:lnTo>
                <a:lnTo>
                  <a:pt x="73421" y="50608"/>
                </a:lnTo>
                <a:lnTo>
                  <a:pt x="61579" y="61579"/>
                </a:lnTo>
                <a:lnTo>
                  <a:pt x="50608" y="73421"/>
                </a:lnTo>
                <a:lnTo>
                  <a:pt x="40562" y="86081"/>
                </a:lnTo>
                <a:lnTo>
                  <a:pt x="31496" y="99505"/>
                </a:lnTo>
                <a:lnTo>
                  <a:pt x="23464" y="113638"/>
                </a:lnTo>
                <a:lnTo>
                  <a:pt x="16519" y="128426"/>
                </a:lnTo>
                <a:lnTo>
                  <a:pt x="10716" y="143816"/>
                </a:lnTo>
                <a:lnTo>
                  <a:pt x="6109" y="159754"/>
                </a:lnTo>
                <a:lnTo>
                  <a:pt x="2751" y="176185"/>
                </a:lnTo>
                <a:lnTo>
                  <a:pt x="696" y="193055"/>
                </a:lnTo>
                <a:lnTo>
                  <a:pt x="0" y="2103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7304" y="1059179"/>
            <a:ext cx="437388" cy="437388"/>
          </a:xfrm>
          <a:custGeom>
            <a:avLst/>
            <a:gdLst/>
            <a:ahLst/>
            <a:cxnLst/>
            <a:rect l="l" t="t" r="r" b="b"/>
            <a:pathLst>
              <a:path w="437388" h="437388">
                <a:moveTo>
                  <a:pt x="91694" y="318770"/>
                </a:moveTo>
                <a:lnTo>
                  <a:pt x="81153" y="304546"/>
                </a:lnTo>
                <a:lnTo>
                  <a:pt x="72136" y="289179"/>
                </a:lnTo>
                <a:lnTo>
                  <a:pt x="64388" y="272923"/>
                </a:lnTo>
                <a:lnTo>
                  <a:pt x="67818" y="314579"/>
                </a:lnTo>
                <a:lnTo>
                  <a:pt x="79375" y="330073"/>
                </a:lnTo>
                <a:lnTo>
                  <a:pt x="92456" y="344550"/>
                </a:lnTo>
                <a:lnTo>
                  <a:pt x="106807" y="357505"/>
                </a:lnTo>
                <a:lnTo>
                  <a:pt x="122300" y="369189"/>
                </a:lnTo>
                <a:lnTo>
                  <a:pt x="138937" y="379349"/>
                </a:lnTo>
                <a:lnTo>
                  <a:pt x="156463" y="387858"/>
                </a:lnTo>
                <a:lnTo>
                  <a:pt x="175006" y="394716"/>
                </a:lnTo>
                <a:lnTo>
                  <a:pt x="194310" y="399669"/>
                </a:lnTo>
                <a:lnTo>
                  <a:pt x="214375" y="402844"/>
                </a:lnTo>
                <a:lnTo>
                  <a:pt x="235076" y="403860"/>
                </a:lnTo>
                <a:lnTo>
                  <a:pt x="255650" y="402971"/>
                </a:lnTo>
                <a:lnTo>
                  <a:pt x="275717" y="399796"/>
                </a:lnTo>
                <a:lnTo>
                  <a:pt x="295148" y="394970"/>
                </a:lnTo>
                <a:lnTo>
                  <a:pt x="313690" y="388239"/>
                </a:lnTo>
                <a:lnTo>
                  <a:pt x="331343" y="379730"/>
                </a:lnTo>
                <a:lnTo>
                  <a:pt x="348107" y="369570"/>
                </a:lnTo>
                <a:lnTo>
                  <a:pt x="363600" y="358013"/>
                </a:lnTo>
                <a:lnTo>
                  <a:pt x="378079" y="345059"/>
                </a:lnTo>
                <a:lnTo>
                  <a:pt x="391033" y="330708"/>
                </a:lnTo>
                <a:lnTo>
                  <a:pt x="402717" y="315214"/>
                </a:lnTo>
                <a:lnTo>
                  <a:pt x="412876" y="298577"/>
                </a:lnTo>
                <a:lnTo>
                  <a:pt x="421386" y="280924"/>
                </a:lnTo>
                <a:lnTo>
                  <a:pt x="428244" y="262382"/>
                </a:lnTo>
                <a:lnTo>
                  <a:pt x="433197" y="243078"/>
                </a:lnTo>
                <a:lnTo>
                  <a:pt x="436372" y="223012"/>
                </a:lnTo>
                <a:lnTo>
                  <a:pt x="437388" y="202311"/>
                </a:lnTo>
                <a:lnTo>
                  <a:pt x="436499" y="181737"/>
                </a:lnTo>
                <a:lnTo>
                  <a:pt x="433324" y="161671"/>
                </a:lnTo>
                <a:lnTo>
                  <a:pt x="428498" y="142367"/>
                </a:lnTo>
                <a:lnTo>
                  <a:pt x="421767" y="123698"/>
                </a:lnTo>
                <a:lnTo>
                  <a:pt x="413258" y="106045"/>
                </a:lnTo>
                <a:lnTo>
                  <a:pt x="403098" y="89408"/>
                </a:lnTo>
                <a:lnTo>
                  <a:pt x="391541" y="73787"/>
                </a:lnTo>
                <a:lnTo>
                  <a:pt x="378587" y="59436"/>
                </a:lnTo>
                <a:lnTo>
                  <a:pt x="364236" y="46355"/>
                </a:lnTo>
                <a:lnTo>
                  <a:pt x="348742" y="34671"/>
                </a:lnTo>
                <a:lnTo>
                  <a:pt x="332105" y="24637"/>
                </a:lnTo>
                <a:lnTo>
                  <a:pt x="314451" y="16002"/>
                </a:lnTo>
                <a:lnTo>
                  <a:pt x="295910" y="9144"/>
                </a:lnTo>
                <a:lnTo>
                  <a:pt x="276606" y="4191"/>
                </a:lnTo>
                <a:lnTo>
                  <a:pt x="256540" y="1016"/>
                </a:lnTo>
                <a:lnTo>
                  <a:pt x="235838" y="0"/>
                </a:lnTo>
                <a:lnTo>
                  <a:pt x="215265" y="889"/>
                </a:lnTo>
                <a:lnTo>
                  <a:pt x="195199" y="4064"/>
                </a:lnTo>
                <a:lnTo>
                  <a:pt x="175895" y="8890"/>
                </a:lnTo>
                <a:lnTo>
                  <a:pt x="157225" y="15748"/>
                </a:lnTo>
                <a:lnTo>
                  <a:pt x="139573" y="24257"/>
                </a:lnTo>
                <a:lnTo>
                  <a:pt x="122936" y="34290"/>
                </a:lnTo>
                <a:lnTo>
                  <a:pt x="107315" y="45847"/>
                </a:lnTo>
                <a:lnTo>
                  <a:pt x="92963" y="58928"/>
                </a:lnTo>
                <a:lnTo>
                  <a:pt x="79883" y="73279"/>
                </a:lnTo>
                <a:lnTo>
                  <a:pt x="68199" y="88773"/>
                </a:lnTo>
                <a:lnTo>
                  <a:pt x="58166" y="105410"/>
                </a:lnTo>
                <a:lnTo>
                  <a:pt x="49530" y="123062"/>
                </a:lnTo>
                <a:lnTo>
                  <a:pt x="42672" y="141478"/>
                </a:lnTo>
                <a:lnTo>
                  <a:pt x="37719" y="160782"/>
                </a:lnTo>
                <a:lnTo>
                  <a:pt x="34544" y="180848"/>
                </a:lnTo>
                <a:lnTo>
                  <a:pt x="33528" y="201549"/>
                </a:lnTo>
                <a:lnTo>
                  <a:pt x="34417" y="222123"/>
                </a:lnTo>
                <a:lnTo>
                  <a:pt x="37592" y="242189"/>
                </a:lnTo>
                <a:lnTo>
                  <a:pt x="42418" y="261620"/>
                </a:lnTo>
                <a:lnTo>
                  <a:pt x="49275" y="280162"/>
                </a:lnTo>
                <a:lnTo>
                  <a:pt x="50292" y="200660"/>
                </a:lnTo>
                <a:lnTo>
                  <a:pt x="51308" y="181610"/>
                </a:lnTo>
                <a:lnTo>
                  <a:pt x="54229" y="163449"/>
                </a:lnTo>
                <a:lnTo>
                  <a:pt x="58928" y="145669"/>
                </a:lnTo>
                <a:lnTo>
                  <a:pt x="65278" y="128778"/>
                </a:lnTo>
                <a:lnTo>
                  <a:pt x="73279" y="112649"/>
                </a:lnTo>
                <a:lnTo>
                  <a:pt x="82550" y="97409"/>
                </a:lnTo>
                <a:lnTo>
                  <a:pt x="93345" y="83312"/>
                </a:lnTo>
                <a:lnTo>
                  <a:pt x="105410" y="70231"/>
                </a:lnTo>
                <a:lnTo>
                  <a:pt x="118618" y="58166"/>
                </a:lnTo>
                <a:lnTo>
                  <a:pt x="132969" y="47625"/>
                </a:lnTo>
                <a:lnTo>
                  <a:pt x="148209" y="38608"/>
                </a:lnTo>
                <a:lnTo>
                  <a:pt x="164592" y="30861"/>
                </a:lnTo>
                <a:lnTo>
                  <a:pt x="181737" y="24637"/>
                </a:lnTo>
                <a:lnTo>
                  <a:pt x="199262" y="20320"/>
                </a:lnTo>
                <a:lnTo>
                  <a:pt x="217805" y="17525"/>
                </a:lnTo>
                <a:lnTo>
                  <a:pt x="236728" y="16764"/>
                </a:lnTo>
                <a:lnTo>
                  <a:pt x="255778" y="17780"/>
                </a:lnTo>
                <a:lnTo>
                  <a:pt x="273938" y="20700"/>
                </a:lnTo>
                <a:lnTo>
                  <a:pt x="291846" y="25400"/>
                </a:lnTo>
                <a:lnTo>
                  <a:pt x="308610" y="31750"/>
                </a:lnTo>
                <a:lnTo>
                  <a:pt x="324866" y="39750"/>
                </a:lnTo>
                <a:lnTo>
                  <a:pt x="340106" y="49022"/>
                </a:lnTo>
                <a:lnTo>
                  <a:pt x="354203" y="59817"/>
                </a:lnTo>
                <a:lnTo>
                  <a:pt x="367284" y="71882"/>
                </a:lnTo>
                <a:lnTo>
                  <a:pt x="379095" y="85090"/>
                </a:lnTo>
                <a:lnTo>
                  <a:pt x="389763" y="99441"/>
                </a:lnTo>
                <a:lnTo>
                  <a:pt x="398907" y="114808"/>
                </a:lnTo>
                <a:lnTo>
                  <a:pt x="406654" y="131064"/>
                </a:lnTo>
                <a:lnTo>
                  <a:pt x="412750" y="148082"/>
                </a:lnTo>
                <a:lnTo>
                  <a:pt x="417068" y="165735"/>
                </a:lnTo>
                <a:lnTo>
                  <a:pt x="419862" y="184277"/>
                </a:lnTo>
                <a:lnTo>
                  <a:pt x="420624" y="203200"/>
                </a:lnTo>
                <a:lnTo>
                  <a:pt x="419608" y="222250"/>
                </a:lnTo>
                <a:lnTo>
                  <a:pt x="416687" y="240411"/>
                </a:lnTo>
                <a:lnTo>
                  <a:pt x="411988" y="258318"/>
                </a:lnTo>
                <a:lnTo>
                  <a:pt x="405638" y="275209"/>
                </a:lnTo>
                <a:lnTo>
                  <a:pt x="397763" y="291338"/>
                </a:lnTo>
                <a:lnTo>
                  <a:pt x="388366" y="306450"/>
                </a:lnTo>
                <a:lnTo>
                  <a:pt x="377571" y="320675"/>
                </a:lnTo>
                <a:lnTo>
                  <a:pt x="365633" y="333883"/>
                </a:lnTo>
                <a:lnTo>
                  <a:pt x="352425" y="345567"/>
                </a:lnTo>
                <a:lnTo>
                  <a:pt x="338074" y="356235"/>
                </a:lnTo>
                <a:lnTo>
                  <a:pt x="322707" y="365379"/>
                </a:lnTo>
                <a:lnTo>
                  <a:pt x="306450" y="373125"/>
                </a:lnTo>
                <a:lnTo>
                  <a:pt x="289433" y="379222"/>
                </a:lnTo>
                <a:lnTo>
                  <a:pt x="271653" y="383540"/>
                </a:lnTo>
                <a:lnTo>
                  <a:pt x="253111" y="386334"/>
                </a:lnTo>
                <a:lnTo>
                  <a:pt x="234187" y="387096"/>
                </a:lnTo>
                <a:lnTo>
                  <a:pt x="215137" y="386080"/>
                </a:lnTo>
                <a:lnTo>
                  <a:pt x="196976" y="383159"/>
                </a:lnTo>
                <a:lnTo>
                  <a:pt x="179197" y="378460"/>
                </a:lnTo>
                <a:lnTo>
                  <a:pt x="162306" y="372110"/>
                </a:lnTo>
                <a:lnTo>
                  <a:pt x="146176" y="364236"/>
                </a:lnTo>
                <a:lnTo>
                  <a:pt x="131063" y="354838"/>
                </a:lnTo>
                <a:lnTo>
                  <a:pt x="116840" y="344043"/>
                </a:lnTo>
                <a:lnTo>
                  <a:pt x="103632" y="332105"/>
                </a:lnTo>
                <a:lnTo>
                  <a:pt x="91694" y="318770"/>
                </a:lnTo>
                <a:close/>
              </a:path>
              <a:path w="437388" h="437388">
                <a:moveTo>
                  <a:pt x="58166" y="255778"/>
                </a:moveTo>
                <a:lnTo>
                  <a:pt x="53848" y="238125"/>
                </a:lnTo>
                <a:lnTo>
                  <a:pt x="51054" y="219583"/>
                </a:lnTo>
                <a:lnTo>
                  <a:pt x="50292" y="200660"/>
                </a:lnTo>
                <a:lnTo>
                  <a:pt x="49275" y="280162"/>
                </a:lnTo>
                <a:lnTo>
                  <a:pt x="57785" y="297942"/>
                </a:lnTo>
                <a:lnTo>
                  <a:pt x="67818" y="314579"/>
                </a:lnTo>
                <a:lnTo>
                  <a:pt x="64388" y="272923"/>
                </a:lnTo>
                <a:lnTo>
                  <a:pt x="58166" y="255778"/>
                </a:lnTo>
                <a:close/>
              </a:path>
              <a:path w="437388" h="437388">
                <a:moveTo>
                  <a:pt x="54610" y="352679"/>
                </a:moveTo>
                <a:lnTo>
                  <a:pt x="69850" y="369316"/>
                </a:lnTo>
                <a:lnTo>
                  <a:pt x="86741" y="384429"/>
                </a:lnTo>
                <a:lnTo>
                  <a:pt x="104775" y="397764"/>
                </a:lnTo>
                <a:lnTo>
                  <a:pt x="124333" y="409575"/>
                </a:lnTo>
                <a:lnTo>
                  <a:pt x="145034" y="419354"/>
                </a:lnTo>
                <a:lnTo>
                  <a:pt x="166750" y="427228"/>
                </a:lnTo>
                <a:lnTo>
                  <a:pt x="189230" y="432816"/>
                </a:lnTo>
                <a:lnTo>
                  <a:pt x="212725" y="436372"/>
                </a:lnTo>
                <a:lnTo>
                  <a:pt x="236728" y="437388"/>
                </a:lnTo>
                <a:lnTo>
                  <a:pt x="260858" y="435991"/>
                </a:lnTo>
                <a:lnTo>
                  <a:pt x="284099" y="432308"/>
                </a:lnTo>
                <a:lnTo>
                  <a:pt x="306705" y="426466"/>
                </a:lnTo>
                <a:lnTo>
                  <a:pt x="328295" y="418465"/>
                </a:lnTo>
                <a:lnTo>
                  <a:pt x="348869" y="408432"/>
                </a:lnTo>
                <a:lnTo>
                  <a:pt x="368173" y="396494"/>
                </a:lnTo>
                <a:lnTo>
                  <a:pt x="386207" y="382905"/>
                </a:lnTo>
                <a:lnTo>
                  <a:pt x="402844" y="367538"/>
                </a:lnTo>
                <a:lnTo>
                  <a:pt x="417957" y="350774"/>
                </a:lnTo>
                <a:lnTo>
                  <a:pt x="431292" y="332613"/>
                </a:lnTo>
                <a:lnTo>
                  <a:pt x="443103" y="313182"/>
                </a:lnTo>
                <a:lnTo>
                  <a:pt x="452882" y="292481"/>
                </a:lnTo>
                <a:lnTo>
                  <a:pt x="460756" y="270764"/>
                </a:lnTo>
                <a:lnTo>
                  <a:pt x="466344" y="248158"/>
                </a:lnTo>
                <a:lnTo>
                  <a:pt x="469900" y="224662"/>
                </a:lnTo>
                <a:lnTo>
                  <a:pt x="470916" y="200660"/>
                </a:lnTo>
                <a:lnTo>
                  <a:pt x="469519" y="176530"/>
                </a:lnTo>
                <a:lnTo>
                  <a:pt x="465836" y="153289"/>
                </a:lnTo>
                <a:lnTo>
                  <a:pt x="459994" y="130810"/>
                </a:lnTo>
                <a:lnTo>
                  <a:pt x="451993" y="109220"/>
                </a:lnTo>
                <a:lnTo>
                  <a:pt x="441960" y="88646"/>
                </a:lnTo>
                <a:lnTo>
                  <a:pt x="430022" y="69342"/>
                </a:lnTo>
                <a:lnTo>
                  <a:pt x="416433" y="51308"/>
                </a:lnTo>
                <a:lnTo>
                  <a:pt x="401193" y="34671"/>
                </a:lnTo>
                <a:lnTo>
                  <a:pt x="384301" y="19431"/>
                </a:lnTo>
                <a:lnTo>
                  <a:pt x="366141" y="5969"/>
                </a:lnTo>
                <a:lnTo>
                  <a:pt x="346710" y="-5587"/>
                </a:lnTo>
                <a:lnTo>
                  <a:pt x="326136" y="-15366"/>
                </a:lnTo>
                <a:lnTo>
                  <a:pt x="304292" y="-23367"/>
                </a:lnTo>
                <a:lnTo>
                  <a:pt x="281686" y="-28955"/>
                </a:lnTo>
                <a:lnTo>
                  <a:pt x="258191" y="-32512"/>
                </a:lnTo>
                <a:lnTo>
                  <a:pt x="234187" y="-33527"/>
                </a:lnTo>
                <a:lnTo>
                  <a:pt x="210058" y="-32130"/>
                </a:lnTo>
                <a:lnTo>
                  <a:pt x="186817" y="-28447"/>
                </a:lnTo>
                <a:lnTo>
                  <a:pt x="164211" y="-22478"/>
                </a:lnTo>
                <a:lnTo>
                  <a:pt x="142748" y="-14477"/>
                </a:lnTo>
                <a:lnTo>
                  <a:pt x="122300" y="-4444"/>
                </a:lnTo>
                <a:lnTo>
                  <a:pt x="102870" y="7366"/>
                </a:lnTo>
                <a:lnTo>
                  <a:pt x="84836" y="21082"/>
                </a:lnTo>
                <a:lnTo>
                  <a:pt x="68199" y="36322"/>
                </a:lnTo>
                <a:lnTo>
                  <a:pt x="52959" y="53086"/>
                </a:lnTo>
                <a:lnTo>
                  <a:pt x="39497" y="71374"/>
                </a:lnTo>
                <a:lnTo>
                  <a:pt x="27940" y="90805"/>
                </a:lnTo>
                <a:lnTo>
                  <a:pt x="18161" y="111379"/>
                </a:lnTo>
                <a:lnTo>
                  <a:pt x="10160" y="133223"/>
                </a:lnTo>
                <a:lnTo>
                  <a:pt x="4572" y="155702"/>
                </a:lnTo>
                <a:lnTo>
                  <a:pt x="1016" y="179197"/>
                </a:lnTo>
                <a:lnTo>
                  <a:pt x="0" y="203200"/>
                </a:lnTo>
                <a:lnTo>
                  <a:pt x="1397" y="227330"/>
                </a:lnTo>
                <a:lnTo>
                  <a:pt x="5080" y="250571"/>
                </a:lnTo>
                <a:lnTo>
                  <a:pt x="11049" y="273177"/>
                </a:lnTo>
                <a:lnTo>
                  <a:pt x="16763" y="202311"/>
                </a:lnTo>
                <a:lnTo>
                  <a:pt x="17780" y="179959"/>
                </a:lnTo>
                <a:lnTo>
                  <a:pt x="21209" y="158242"/>
                </a:lnTo>
                <a:lnTo>
                  <a:pt x="26416" y="137414"/>
                </a:lnTo>
                <a:lnTo>
                  <a:pt x="33909" y="117221"/>
                </a:lnTo>
                <a:lnTo>
                  <a:pt x="43053" y="98044"/>
                </a:lnTo>
                <a:lnTo>
                  <a:pt x="53848" y="80010"/>
                </a:lnTo>
                <a:lnTo>
                  <a:pt x="66421" y="63119"/>
                </a:lnTo>
                <a:lnTo>
                  <a:pt x="80518" y="47625"/>
                </a:lnTo>
                <a:lnTo>
                  <a:pt x="96138" y="33400"/>
                </a:lnTo>
                <a:lnTo>
                  <a:pt x="112903" y="20828"/>
                </a:lnTo>
                <a:lnTo>
                  <a:pt x="130937" y="9906"/>
                </a:lnTo>
                <a:lnTo>
                  <a:pt x="149987" y="635"/>
                </a:lnTo>
                <a:lnTo>
                  <a:pt x="170053" y="-6857"/>
                </a:lnTo>
                <a:lnTo>
                  <a:pt x="191008" y="-12191"/>
                </a:lnTo>
                <a:lnTo>
                  <a:pt x="212598" y="-15620"/>
                </a:lnTo>
                <a:lnTo>
                  <a:pt x="235076" y="-16763"/>
                </a:lnTo>
                <a:lnTo>
                  <a:pt x="257429" y="-15747"/>
                </a:lnTo>
                <a:lnTo>
                  <a:pt x="279146" y="-12318"/>
                </a:lnTo>
                <a:lnTo>
                  <a:pt x="300100" y="-7112"/>
                </a:lnTo>
                <a:lnTo>
                  <a:pt x="320294" y="381"/>
                </a:lnTo>
                <a:lnTo>
                  <a:pt x="339344" y="9525"/>
                </a:lnTo>
                <a:lnTo>
                  <a:pt x="357378" y="20320"/>
                </a:lnTo>
                <a:lnTo>
                  <a:pt x="374269" y="32893"/>
                </a:lnTo>
                <a:lnTo>
                  <a:pt x="389890" y="46990"/>
                </a:lnTo>
                <a:lnTo>
                  <a:pt x="403987" y="62611"/>
                </a:lnTo>
                <a:lnTo>
                  <a:pt x="416560" y="79375"/>
                </a:lnTo>
                <a:lnTo>
                  <a:pt x="427609" y="97409"/>
                </a:lnTo>
                <a:lnTo>
                  <a:pt x="436880" y="116459"/>
                </a:lnTo>
                <a:lnTo>
                  <a:pt x="444246" y="136525"/>
                </a:lnTo>
                <a:lnTo>
                  <a:pt x="449580" y="157480"/>
                </a:lnTo>
                <a:lnTo>
                  <a:pt x="453009" y="179070"/>
                </a:lnTo>
                <a:lnTo>
                  <a:pt x="454151" y="201549"/>
                </a:lnTo>
                <a:lnTo>
                  <a:pt x="453136" y="223900"/>
                </a:lnTo>
                <a:lnTo>
                  <a:pt x="449707" y="245618"/>
                </a:lnTo>
                <a:lnTo>
                  <a:pt x="444500" y="266573"/>
                </a:lnTo>
                <a:lnTo>
                  <a:pt x="437134" y="286766"/>
                </a:lnTo>
                <a:lnTo>
                  <a:pt x="427990" y="305816"/>
                </a:lnTo>
                <a:lnTo>
                  <a:pt x="417068" y="323977"/>
                </a:lnTo>
                <a:lnTo>
                  <a:pt x="404495" y="340741"/>
                </a:lnTo>
                <a:lnTo>
                  <a:pt x="390398" y="356362"/>
                </a:lnTo>
                <a:lnTo>
                  <a:pt x="374904" y="370459"/>
                </a:lnTo>
                <a:lnTo>
                  <a:pt x="358140" y="383032"/>
                </a:lnTo>
                <a:lnTo>
                  <a:pt x="340106" y="394081"/>
                </a:lnTo>
                <a:lnTo>
                  <a:pt x="321056" y="403352"/>
                </a:lnTo>
                <a:lnTo>
                  <a:pt x="300863" y="410718"/>
                </a:lnTo>
                <a:lnTo>
                  <a:pt x="279908" y="416052"/>
                </a:lnTo>
                <a:lnTo>
                  <a:pt x="258318" y="419481"/>
                </a:lnTo>
                <a:lnTo>
                  <a:pt x="235838" y="420624"/>
                </a:lnTo>
                <a:lnTo>
                  <a:pt x="213487" y="419608"/>
                </a:lnTo>
                <a:lnTo>
                  <a:pt x="191770" y="416179"/>
                </a:lnTo>
                <a:lnTo>
                  <a:pt x="170942" y="410972"/>
                </a:lnTo>
                <a:lnTo>
                  <a:pt x="150749" y="403606"/>
                </a:lnTo>
                <a:lnTo>
                  <a:pt x="131572" y="394462"/>
                </a:lnTo>
                <a:lnTo>
                  <a:pt x="113537" y="383540"/>
                </a:lnTo>
                <a:lnTo>
                  <a:pt x="96774" y="370967"/>
                </a:lnTo>
                <a:lnTo>
                  <a:pt x="81153" y="356870"/>
                </a:lnTo>
                <a:lnTo>
                  <a:pt x="66929" y="341375"/>
                </a:lnTo>
                <a:lnTo>
                  <a:pt x="54356" y="324612"/>
                </a:lnTo>
                <a:lnTo>
                  <a:pt x="43434" y="306578"/>
                </a:lnTo>
                <a:lnTo>
                  <a:pt x="34162" y="287528"/>
                </a:lnTo>
                <a:lnTo>
                  <a:pt x="26670" y="267462"/>
                </a:lnTo>
                <a:lnTo>
                  <a:pt x="21336" y="246380"/>
                </a:lnTo>
                <a:lnTo>
                  <a:pt x="29083" y="315214"/>
                </a:lnTo>
                <a:lnTo>
                  <a:pt x="40894" y="334645"/>
                </a:lnTo>
                <a:lnTo>
                  <a:pt x="54610" y="352679"/>
                </a:lnTo>
                <a:close/>
              </a:path>
              <a:path w="437388" h="437388">
                <a:moveTo>
                  <a:pt x="19050" y="294767"/>
                </a:moveTo>
                <a:lnTo>
                  <a:pt x="29083" y="315214"/>
                </a:lnTo>
                <a:lnTo>
                  <a:pt x="21336" y="246380"/>
                </a:lnTo>
                <a:lnTo>
                  <a:pt x="17907" y="224790"/>
                </a:lnTo>
                <a:lnTo>
                  <a:pt x="16763" y="202311"/>
                </a:lnTo>
                <a:lnTo>
                  <a:pt x="11049" y="273177"/>
                </a:lnTo>
                <a:lnTo>
                  <a:pt x="19050" y="294767"/>
                </a:lnTo>
                <a:close/>
              </a:path>
            </a:pathLst>
          </a:custGeom>
          <a:solidFill>
            <a:srgbClr val="8B43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3400" y="1600200"/>
            <a:ext cx="8001000" cy="4572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2400" y="155448"/>
            <a:ext cx="8833866" cy="11216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00"/>
              </a:lnSpc>
              <a:spcBef>
                <a:spcPts val="47"/>
              </a:spcBef>
            </a:pPr>
            <a:endParaRPr sz="700"/>
          </a:p>
          <a:p>
            <a:pPr marL="506882">
              <a:lnSpc>
                <a:spcPct val="94685"/>
              </a:lnSpc>
              <a:spcBef>
                <a:spcPts val="2000"/>
              </a:spcBef>
            </a:pP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Relation between </a:t>
            </a:r>
            <a:r>
              <a:rPr sz="3000" spc="4" dirty="0">
                <a:solidFill>
                  <a:srgbClr val="8B438F"/>
                </a:solidFill>
                <a:latin typeface="Georgia"/>
                <a:cs typeface="Georgia"/>
              </a:rPr>
              <a:t>d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if</a:t>
            </a:r>
            <a:r>
              <a:rPr sz="3000" spc="-9" dirty="0">
                <a:solidFill>
                  <a:srgbClr val="8B438F"/>
                </a:solidFill>
                <a:latin typeface="Georgia"/>
                <a:cs typeface="Georgia"/>
              </a:rPr>
              <a:t>f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erent c</a:t>
            </a:r>
            <a:r>
              <a:rPr sz="3000" spc="9" dirty="0">
                <a:solidFill>
                  <a:srgbClr val="8B438F"/>
                </a:solidFill>
                <a:latin typeface="Georgia"/>
                <a:cs typeface="Georgia"/>
              </a:rPr>
              <a:t>l</a:t>
            </a:r>
            <a:r>
              <a:rPr sz="3000" spc="0" dirty="0">
                <a:solidFill>
                  <a:srgbClr val="8B438F"/>
                </a:solidFill>
                <a:latin typeface="Georgia"/>
                <a:cs typeface="Georgia"/>
              </a:rPr>
              <a:t>asses of problems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1277112"/>
            <a:ext cx="8833866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12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152400" y="1392936"/>
            <a:ext cx="8833866" cy="49956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2400" y="6388608"/>
            <a:ext cx="8833866" cy="313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2428</Words>
  <Application>Microsoft Office PowerPoint</Application>
  <PresentationFormat>On-screen Show (4:3)</PresentationFormat>
  <Paragraphs>438</Paragraphs>
  <Slides>45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Georgia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LaxmiChaitanya Bhosale</cp:lastModifiedBy>
  <cp:revision>6</cp:revision>
  <dcterms:modified xsi:type="dcterms:W3CDTF">2020-12-07T07:20:34Z</dcterms:modified>
</cp:coreProperties>
</file>