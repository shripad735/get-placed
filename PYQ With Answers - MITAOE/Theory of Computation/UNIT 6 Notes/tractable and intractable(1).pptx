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85" r:id="rId4"/>
    <p:sldId id="258" r:id="rId5"/>
    <p:sldId id="259" r:id="rId6"/>
    <p:sldId id="260" r:id="rId7"/>
    <p:sldId id="261" r:id="rId8"/>
    <p:sldId id="262" r:id="rId9"/>
    <p:sldId id="263" r:id="rId10"/>
    <p:sldId id="264" r:id="rId11"/>
    <p:sldId id="265" r:id="rId12"/>
    <p:sldId id="286" r:id="rId13"/>
    <p:sldId id="266" r:id="rId14"/>
    <p:sldId id="287" r:id="rId15"/>
    <p:sldId id="267" r:id="rId16"/>
    <p:sldId id="268" r:id="rId17"/>
    <p:sldId id="269" r:id="rId18"/>
    <p:sldId id="270" r:id="rId19"/>
    <p:sldId id="271" r:id="rId20"/>
    <p:sldId id="272" r:id="rId21"/>
    <p:sldId id="273" r:id="rId22"/>
    <p:sldId id="288" r:id="rId23"/>
    <p:sldId id="274" r:id="rId24"/>
    <p:sldId id="275" r:id="rId25"/>
    <p:sldId id="276" r:id="rId26"/>
    <p:sldId id="289" r:id="rId27"/>
    <p:sldId id="277" r:id="rId28"/>
    <p:sldId id="278" r:id="rId29"/>
    <p:sldId id="279" r:id="rId30"/>
    <p:sldId id="280" r:id="rId31"/>
    <p:sldId id="290" r:id="rId32"/>
    <p:sldId id="281" r:id="rId33"/>
    <p:sldId id="282" r:id="rId34"/>
    <p:sldId id="283" r:id="rId35"/>
    <p:sldId id="284"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95D4447-A2D4-4F83-B151-D864D6E51967}" type="datetimeFigureOut">
              <a:rPr lang="en-US" smtClean="0"/>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E79D78-B4B8-4C39-AE2E-7FB78250C555}" type="slidenum">
              <a:rPr lang="en-US" smtClean="0"/>
              <a:t>‹#›</a:t>
            </a:fld>
            <a:endParaRPr lang="en-US"/>
          </a:p>
        </p:txBody>
      </p:sp>
      <p:sp>
        <p:nvSpPr>
          <p:cNvPr id="2" name="Title 1"/>
          <p:cNvSpPr>
            <a:spLocks noGrp="1"/>
          </p:cNvSpPr>
          <p:nvPr>
            <p:ph type="ctrTitle"/>
          </p:nvPr>
        </p:nvSpPr>
        <p:spPr>
          <a:xfrm>
            <a:off x="817581" y="3132290"/>
            <a:ext cx="7175351"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95D4447-A2D4-4F83-B151-D864D6E51967}" type="datetimeFigureOut">
              <a:rPr lang="en-US" smtClean="0"/>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E79D78-B4B8-4C39-AE2E-7FB78250C555}" type="slidenum">
              <a:rPr lang="en-US" smtClean="0"/>
              <a:t>‹#›</a:t>
            </a:fld>
            <a:endParaRPr lang="en-US"/>
          </a:p>
        </p:txBody>
      </p:sp>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143000" y="731520"/>
            <a:ext cx="64008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5D4447-A2D4-4F83-B151-D864D6E51967}" type="datetimeFigureOut">
              <a:rPr lang="en-US" smtClean="0"/>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E79D78-B4B8-4C39-AE2E-7FB78250C55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95D4447-A2D4-4F83-B151-D864D6E51967}" type="datetimeFigureOut">
              <a:rPr lang="en-US" smtClean="0"/>
              <a:t>12/7/2020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E79D78-B4B8-4C39-AE2E-7FB78250C555}" type="slidenum">
              <a:rPr lang="en-US" smtClean="0"/>
              <a:t>‹#›</a:t>
            </a:fld>
            <a:endParaRPr lang="en-US"/>
          </a:p>
        </p:txBody>
      </p:sp>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142999" y="731519"/>
            <a:ext cx="3346704"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45152" y="731520"/>
            <a:ext cx="3346704"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en-US"/>
              <a:t>Click to edit Master text styles</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5D4447-A2D4-4F83-B151-D864D6E51967}" type="datetimeFigureOut">
              <a:rPr lang="en-US" smtClean="0"/>
              <a:t>12/7/2020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E79D78-B4B8-4C39-AE2E-7FB78250C555}"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5D4447-A2D4-4F83-B151-D864D6E51967}" type="datetimeFigureOut">
              <a:rPr lang="en-US" smtClean="0"/>
              <a:t>12/7/2020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E79D78-B4B8-4C39-AE2E-7FB78250C55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5D4447-A2D4-4F83-B151-D864D6E51967}" type="datetimeFigureOut">
              <a:rPr lang="en-US" smtClean="0"/>
              <a:t>12/7/2020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E79D78-B4B8-4C39-AE2E-7FB78250C55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5D4447-A2D4-4F83-B151-D864D6E51967}" type="datetimeFigureOut">
              <a:rPr lang="en-US" smtClean="0"/>
              <a:t>12/7/2020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E79D78-B4B8-4C39-AE2E-7FB78250C55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5D4447-A2D4-4F83-B151-D864D6E51967}" type="datetimeFigureOut">
              <a:rPr lang="en-US" smtClean="0"/>
              <a:t>12/7/2020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E79D78-B4B8-4C39-AE2E-7FB78250C555}" type="slidenum">
              <a:rPr lang="en-US" smtClean="0"/>
              <a:t>‹#›</a:t>
            </a:fld>
            <a:endParaRPr lang="en-US"/>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5D4447-A2D4-4F83-B151-D864D6E51967}" type="datetimeFigureOut">
              <a:rPr lang="en-US" smtClean="0"/>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E79D78-B4B8-4C39-AE2E-7FB78250C55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5D4447-A2D4-4F83-B151-D864D6E51967}" type="datetimeFigureOut">
              <a:rPr lang="en-US" smtClean="0"/>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E79D78-B4B8-4C39-AE2E-7FB78250C55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793289" y="4372168"/>
            <a:ext cx="6512511"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143000" y="732260"/>
            <a:ext cx="6400800" cy="34747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895D4447-A2D4-4F83-B151-D864D6E51967}" type="datetimeFigureOut">
              <a:rPr lang="en-US" smtClean="0"/>
              <a:t>12/7/2020</a:t>
            </a:fld>
            <a:endParaRPr lang="en-US"/>
          </a:p>
        </p:txBody>
      </p:sp>
      <p:sp>
        <p:nvSpPr>
          <p:cNvPr id="5" name="Footer Placeholder 4"/>
          <p:cNvSpPr>
            <a:spLocks noGrp="1"/>
          </p:cNvSpPr>
          <p:nvPr>
            <p:ph type="ftr" sz="quarter" idx="3"/>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07E79D78-B4B8-4C39-AE2E-7FB78250C55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116986">
            <a:off x="864518" y="1519453"/>
            <a:ext cx="7735298" cy="1793167"/>
          </a:xfrm>
        </p:spPr>
        <p:txBody>
          <a:bodyPr/>
          <a:lstStyle/>
          <a:p>
            <a:r>
              <a:rPr lang="en-US" cap="all" dirty="0"/>
              <a:t>tractable and intractable </a:t>
            </a:r>
            <a:endParaRPr lang="en-US" dirty="0"/>
          </a:p>
        </p:txBody>
      </p:sp>
    </p:spTree>
    <p:extLst>
      <p:ext uri="{BB962C8B-B14F-4D97-AF65-F5344CB8AC3E}">
        <p14:creationId xmlns:p14="http://schemas.microsoft.com/office/powerpoint/2010/main" val="2035149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512511" cy="1143000"/>
          </a:xfrm>
        </p:spPr>
        <p:txBody>
          <a:bodyPr>
            <a:normAutofit fontScale="90000"/>
          </a:bodyPr>
          <a:lstStyle/>
          <a:p>
            <a:r>
              <a:rPr lang="en-GB" b="1" dirty="0"/>
              <a:t>Sessions</a:t>
            </a:r>
            <a:br>
              <a:rPr lang="en-US" b="1" cap="all" dirty="0"/>
            </a:br>
            <a:endParaRPr lang="en-US" dirty="0"/>
          </a:p>
        </p:txBody>
      </p:sp>
      <p:sp>
        <p:nvSpPr>
          <p:cNvPr id="3" name="Content Placeholder 2"/>
          <p:cNvSpPr>
            <a:spLocks noGrp="1"/>
          </p:cNvSpPr>
          <p:nvPr>
            <p:ph sz="quarter" idx="13"/>
          </p:nvPr>
        </p:nvSpPr>
        <p:spPr>
          <a:xfrm>
            <a:off x="1143000" y="2057400"/>
            <a:ext cx="6400800" cy="3474720"/>
          </a:xfrm>
        </p:spPr>
        <p:txBody>
          <a:bodyPr>
            <a:normAutofit fontScale="62500" lnSpcReduction="20000"/>
          </a:bodyPr>
          <a:lstStyle/>
          <a:p>
            <a:r>
              <a:rPr lang="en-GB" b="1" cap="all" dirty="0"/>
              <a:t>6.1	Introduction </a:t>
            </a:r>
            <a:endParaRPr lang="en-US" b="1" cap="all" dirty="0"/>
          </a:p>
          <a:p>
            <a:r>
              <a:rPr lang="en-GB" b="1" cap="all" dirty="0"/>
              <a:t>6.2	The classes P and NP</a:t>
            </a:r>
            <a:endParaRPr lang="en-US" b="1" cap="all" dirty="0"/>
          </a:p>
          <a:p>
            <a:r>
              <a:rPr lang="en-GB" b="1" cap="all" dirty="0"/>
              <a:t>6.3	Non-deterministic Polynomial Time </a:t>
            </a:r>
            <a:endParaRPr lang="en-US" b="1" cap="all" dirty="0"/>
          </a:p>
          <a:p>
            <a:r>
              <a:rPr lang="en-GB" b="1" cap="all" dirty="0"/>
              <a:t>6.4	Polynomial Time Reductions </a:t>
            </a:r>
            <a:endParaRPr lang="en-US" b="1" cap="all" dirty="0"/>
          </a:p>
          <a:p>
            <a:r>
              <a:rPr lang="en-GB" b="1" cap="all" dirty="0"/>
              <a:t>6.5	NP Complete Problems</a:t>
            </a:r>
            <a:endParaRPr lang="en-US" b="1" cap="all" dirty="0"/>
          </a:p>
          <a:p>
            <a:r>
              <a:rPr lang="en-GB" b="1" cap="all" dirty="0"/>
              <a:t>6.6	An NP complete problem </a:t>
            </a:r>
            <a:endParaRPr lang="en-US" b="1" cap="all" dirty="0"/>
          </a:p>
          <a:p>
            <a:r>
              <a:rPr lang="en-GB" b="1" cap="all" dirty="0"/>
              <a:t>6.7	Representing SAT Instances </a:t>
            </a:r>
            <a:endParaRPr lang="en-US" b="1" cap="all" dirty="0"/>
          </a:p>
          <a:p>
            <a:r>
              <a:rPr lang="en-GB" b="1" cap="all" dirty="0"/>
              <a:t>6.8	NP Completeness of the SAT Problem [Cook's Theorem]</a:t>
            </a:r>
            <a:endParaRPr lang="en-US" b="1" cap="all" dirty="0"/>
          </a:p>
          <a:p>
            <a:r>
              <a:rPr lang="en-GB" b="1" cap="all" dirty="0"/>
              <a:t>6.9	A Restricted Satisfiability Problem</a:t>
            </a:r>
            <a:endParaRPr lang="en-US" b="1" cap="all" dirty="0"/>
          </a:p>
          <a:p>
            <a:r>
              <a:rPr lang="en-GB" b="1" cap="all" dirty="0"/>
              <a:t>6.10	The Problem of Independent Sets</a:t>
            </a:r>
            <a:endParaRPr lang="en-US" b="1" cap="all" dirty="0"/>
          </a:p>
          <a:p>
            <a:r>
              <a:rPr lang="en-GB" b="1" cap="all" dirty="0"/>
              <a:t>6.11	The Node Cover Problem </a:t>
            </a:r>
            <a:endParaRPr lang="en-US" b="1" cap="all" dirty="0"/>
          </a:p>
          <a:p>
            <a:r>
              <a:rPr lang="en-GB" b="1" cap="all" dirty="0"/>
              <a:t>6.12	The Directed Hamilton-Circuit Problem</a:t>
            </a:r>
            <a:endParaRPr lang="en-US" b="1" cap="all" dirty="0"/>
          </a:p>
          <a:p>
            <a:r>
              <a:rPr lang="en-GB" b="1" cap="all" dirty="0"/>
              <a:t>6.13	Undirected Hamilton Circuits</a:t>
            </a:r>
            <a:endParaRPr lang="en-US" b="1" cap="all" dirty="0"/>
          </a:p>
          <a:p>
            <a:endParaRPr lang="en-US" dirty="0"/>
          </a:p>
        </p:txBody>
      </p:sp>
    </p:spTree>
    <p:extLst>
      <p:ext uri="{BB962C8B-B14F-4D97-AF65-F5344CB8AC3E}">
        <p14:creationId xmlns:p14="http://schemas.microsoft.com/office/powerpoint/2010/main" val="3605872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3289" y="1447800"/>
            <a:ext cx="6512511" cy="4067368"/>
          </a:xfrm>
        </p:spPr>
        <p:txBody>
          <a:bodyPr/>
          <a:lstStyle/>
          <a:p>
            <a:endParaRPr lang="en-US" dirty="0"/>
          </a:p>
        </p:txBody>
      </p:sp>
      <p:sp>
        <p:nvSpPr>
          <p:cNvPr id="5" name="TextBox 4"/>
          <p:cNvSpPr txBox="1"/>
          <p:nvPr/>
        </p:nvSpPr>
        <p:spPr>
          <a:xfrm>
            <a:off x="1676400" y="152400"/>
            <a:ext cx="3657600" cy="369332"/>
          </a:xfrm>
          <a:prstGeom prst="rect">
            <a:avLst/>
          </a:prstGeom>
          <a:noFill/>
        </p:spPr>
        <p:txBody>
          <a:bodyPr wrap="square" rtlCol="0">
            <a:spAutoFit/>
          </a:bodyPr>
          <a:lstStyle/>
          <a:p>
            <a:r>
              <a:rPr lang="en-US" dirty="0"/>
              <a:t>Session 1.</a:t>
            </a:r>
          </a:p>
        </p:txBody>
      </p:sp>
      <p:sp>
        <p:nvSpPr>
          <p:cNvPr id="6" name="Content Placeholder 5"/>
          <p:cNvSpPr>
            <a:spLocks noGrp="1"/>
          </p:cNvSpPr>
          <p:nvPr>
            <p:ph sz="quarter" idx="13"/>
          </p:nvPr>
        </p:nvSpPr>
        <p:spPr>
          <a:xfrm>
            <a:off x="1143000" y="731520"/>
            <a:ext cx="6400800" cy="487680"/>
          </a:xfrm>
        </p:spPr>
        <p:txBody>
          <a:bodyPr/>
          <a:lstStyle/>
          <a:p>
            <a:r>
              <a:rPr lang="en-US" dirty="0"/>
              <a:t>Session 1</a:t>
            </a:r>
          </a:p>
        </p:txBody>
      </p:sp>
      <p:graphicFrame>
        <p:nvGraphicFramePr>
          <p:cNvPr id="7" name="Table 6"/>
          <p:cNvGraphicFramePr>
            <a:graphicFrameLocks noGrp="1"/>
          </p:cNvGraphicFramePr>
          <p:nvPr>
            <p:extLst>
              <p:ext uri="{D42A27DB-BD31-4B8C-83A1-F6EECF244321}">
                <p14:modId xmlns:p14="http://schemas.microsoft.com/office/powerpoint/2010/main" val="1569924003"/>
              </p:ext>
            </p:extLst>
          </p:nvPr>
        </p:nvGraphicFramePr>
        <p:xfrm>
          <a:off x="1509805" y="631990"/>
          <a:ext cx="6643595" cy="5006810"/>
        </p:xfrm>
        <a:graphic>
          <a:graphicData uri="http://schemas.openxmlformats.org/drawingml/2006/table">
            <a:tbl>
              <a:tblPr firstRow="1" firstCol="1" bandRow="1">
                <a:tableStyleId>{5C22544A-7EE6-4342-B048-85BDC9FD1C3A}</a:tableStyleId>
              </a:tblPr>
              <a:tblGrid>
                <a:gridCol w="366793">
                  <a:extLst>
                    <a:ext uri="{9D8B030D-6E8A-4147-A177-3AD203B41FA5}">
                      <a16:colId xmlns:a16="http://schemas.microsoft.com/office/drawing/2014/main" val="20000"/>
                    </a:ext>
                  </a:extLst>
                </a:gridCol>
                <a:gridCol w="843782">
                  <a:extLst>
                    <a:ext uri="{9D8B030D-6E8A-4147-A177-3AD203B41FA5}">
                      <a16:colId xmlns:a16="http://schemas.microsoft.com/office/drawing/2014/main" val="20001"/>
                    </a:ext>
                  </a:extLst>
                </a:gridCol>
                <a:gridCol w="725715">
                  <a:extLst>
                    <a:ext uri="{9D8B030D-6E8A-4147-A177-3AD203B41FA5}">
                      <a16:colId xmlns:a16="http://schemas.microsoft.com/office/drawing/2014/main" val="20002"/>
                    </a:ext>
                  </a:extLst>
                </a:gridCol>
                <a:gridCol w="708399">
                  <a:extLst>
                    <a:ext uri="{9D8B030D-6E8A-4147-A177-3AD203B41FA5}">
                      <a16:colId xmlns:a16="http://schemas.microsoft.com/office/drawing/2014/main" val="20003"/>
                    </a:ext>
                  </a:extLst>
                </a:gridCol>
                <a:gridCol w="737784">
                  <a:extLst>
                    <a:ext uri="{9D8B030D-6E8A-4147-A177-3AD203B41FA5}">
                      <a16:colId xmlns:a16="http://schemas.microsoft.com/office/drawing/2014/main" val="20004"/>
                    </a:ext>
                  </a:extLst>
                </a:gridCol>
                <a:gridCol w="915146">
                  <a:extLst>
                    <a:ext uri="{9D8B030D-6E8A-4147-A177-3AD203B41FA5}">
                      <a16:colId xmlns:a16="http://schemas.microsoft.com/office/drawing/2014/main" val="20005"/>
                    </a:ext>
                  </a:extLst>
                </a:gridCol>
                <a:gridCol w="613946">
                  <a:extLst>
                    <a:ext uri="{9D8B030D-6E8A-4147-A177-3AD203B41FA5}">
                      <a16:colId xmlns:a16="http://schemas.microsoft.com/office/drawing/2014/main" val="20006"/>
                    </a:ext>
                  </a:extLst>
                </a:gridCol>
                <a:gridCol w="1732030">
                  <a:extLst>
                    <a:ext uri="{9D8B030D-6E8A-4147-A177-3AD203B41FA5}">
                      <a16:colId xmlns:a16="http://schemas.microsoft.com/office/drawing/2014/main" val="20007"/>
                    </a:ext>
                  </a:extLst>
                </a:gridCol>
              </a:tblGrid>
              <a:tr h="491071">
                <a:tc>
                  <a:txBody>
                    <a:bodyPr/>
                    <a:lstStyle/>
                    <a:p>
                      <a:pPr marL="0" marR="0">
                        <a:spcBef>
                          <a:spcPts val="0"/>
                        </a:spcBef>
                        <a:spcAft>
                          <a:spcPts val="0"/>
                        </a:spcAft>
                      </a:pPr>
                      <a:r>
                        <a:rPr lang="en-US" sz="800" dirty="0">
                          <a:effectLst/>
                        </a:rPr>
                        <a:t>Time (in min) </a:t>
                      </a:r>
                      <a:endParaRPr lang="en-US" sz="1000" dirty="0">
                        <a:solidFill>
                          <a:srgbClr val="000000"/>
                        </a:solidFill>
                        <a:effectLst/>
                        <a:latin typeface="Times New Roman"/>
                        <a:ea typeface="Calibri"/>
                      </a:endParaRPr>
                    </a:p>
                  </a:txBody>
                  <a:tcPr marL="56672" marR="56672" marT="0" marB="0"/>
                </a:tc>
                <a:tc>
                  <a:txBody>
                    <a:bodyPr/>
                    <a:lstStyle/>
                    <a:p>
                      <a:pPr marL="0" marR="0">
                        <a:spcBef>
                          <a:spcPts val="0"/>
                        </a:spcBef>
                        <a:spcAft>
                          <a:spcPts val="0"/>
                        </a:spcAft>
                      </a:pPr>
                      <a:r>
                        <a:rPr lang="en-US" sz="800">
                          <a:effectLst/>
                        </a:rPr>
                        <a:t>Content </a:t>
                      </a:r>
                      <a:endParaRPr lang="en-US" sz="1000">
                        <a:solidFill>
                          <a:srgbClr val="000000"/>
                        </a:solidFill>
                        <a:effectLst/>
                        <a:latin typeface="Times New Roman"/>
                        <a:ea typeface="Calibri"/>
                      </a:endParaRPr>
                    </a:p>
                  </a:txBody>
                  <a:tcPr marL="56672" marR="56672" marT="0" marB="0"/>
                </a:tc>
                <a:tc>
                  <a:txBody>
                    <a:bodyPr/>
                    <a:lstStyle/>
                    <a:p>
                      <a:pPr marL="0" marR="0">
                        <a:spcBef>
                          <a:spcPts val="0"/>
                        </a:spcBef>
                        <a:spcAft>
                          <a:spcPts val="0"/>
                        </a:spcAft>
                      </a:pPr>
                      <a:r>
                        <a:rPr lang="en-US" sz="800">
                          <a:effectLst/>
                        </a:rPr>
                        <a:t>Learning Aid/Methodology </a:t>
                      </a:r>
                      <a:endParaRPr lang="en-US" sz="1000">
                        <a:solidFill>
                          <a:srgbClr val="000000"/>
                        </a:solidFill>
                        <a:effectLst/>
                        <a:latin typeface="Times New Roman"/>
                        <a:ea typeface="Calibri"/>
                      </a:endParaRPr>
                    </a:p>
                  </a:txBody>
                  <a:tcPr marL="56672" marR="56672" marT="0" marB="0"/>
                </a:tc>
                <a:tc>
                  <a:txBody>
                    <a:bodyPr/>
                    <a:lstStyle/>
                    <a:p>
                      <a:pPr marL="0" marR="0">
                        <a:spcBef>
                          <a:spcPts val="0"/>
                        </a:spcBef>
                        <a:spcAft>
                          <a:spcPts val="0"/>
                        </a:spcAft>
                      </a:pPr>
                      <a:r>
                        <a:rPr lang="en-US" sz="800">
                          <a:effectLst/>
                        </a:rPr>
                        <a:t>Faculty Approach </a:t>
                      </a:r>
                      <a:endParaRPr lang="en-US" sz="1000">
                        <a:solidFill>
                          <a:srgbClr val="000000"/>
                        </a:solidFill>
                        <a:effectLst/>
                        <a:latin typeface="Times New Roman"/>
                        <a:ea typeface="Calibri"/>
                      </a:endParaRPr>
                    </a:p>
                  </a:txBody>
                  <a:tcPr marL="56672" marR="56672" marT="0" marB="0"/>
                </a:tc>
                <a:tc>
                  <a:txBody>
                    <a:bodyPr/>
                    <a:lstStyle/>
                    <a:p>
                      <a:pPr marL="0" marR="0">
                        <a:spcBef>
                          <a:spcPts val="0"/>
                        </a:spcBef>
                        <a:spcAft>
                          <a:spcPts val="0"/>
                        </a:spcAft>
                      </a:pPr>
                      <a:r>
                        <a:rPr lang="en-US" sz="800">
                          <a:effectLst/>
                        </a:rPr>
                        <a:t>Typical Student Activity </a:t>
                      </a:r>
                      <a:endParaRPr lang="en-US" sz="1000">
                        <a:solidFill>
                          <a:srgbClr val="000000"/>
                        </a:solidFill>
                        <a:effectLst/>
                        <a:latin typeface="Times New Roman"/>
                        <a:ea typeface="Calibri"/>
                      </a:endParaRPr>
                    </a:p>
                  </a:txBody>
                  <a:tcPr marL="56672" marR="56672" marT="0" marB="0"/>
                </a:tc>
                <a:tc>
                  <a:txBody>
                    <a:bodyPr/>
                    <a:lstStyle/>
                    <a:p>
                      <a:pPr marL="0" marR="0">
                        <a:spcBef>
                          <a:spcPts val="0"/>
                        </a:spcBef>
                        <a:spcAft>
                          <a:spcPts val="0"/>
                        </a:spcAft>
                      </a:pPr>
                      <a:r>
                        <a:rPr lang="en-US" sz="800">
                          <a:effectLst/>
                        </a:rPr>
                        <a:t>Skill /Competency Developed </a:t>
                      </a:r>
                      <a:endParaRPr lang="en-US" sz="1000">
                        <a:solidFill>
                          <a:srgbClr val="000000"/>
                        </a:solidFill>
                        <a:effectLst/>
                        <a:latin typeface="Times New Roman"/>
                        <a:ea typeface="Calibri"/>
                      </a:endParaRPr>
                    </a:p>
                  </a:txBody>
                  <a:tcPr marL="56672" marR="56672" marT="0" marB="0"/>
                </a:tc>
                <a:tc>
                  <a:txBody>
                    <a:bodyPr/>
                    <a:lstStyle/>
                    <a:p>
                      <a:pPr marL="0" marR="0">
                        <a:spcBef>
                          <a:spcPts val="0"/>
                        </a:spcBef>
                        <a:spcAft>
                          <a:spcPts val="0"/>
                        </a:spcAft>
                      </a:pPr>
                      <a:r>
                        <a:rPr lang="en-US" sz="800">
                          <a:effectLst/>
                        </a:rPr>
                        <a:t>Course </a:t>
                      </a:r>
                      <a:endParaRPr lang="en-US" sz="1000">
                        <a:effectLst/>
                      </a:endParaRPr>
                    </a:p>
                    <a:p>
                      <a:pPr marL="0" marR="0">
                        <a:spcBef>
                          <a:spcPts val="0"/>
                        </a:spcBef>
                        <a:spcAft>
                          <a:spcPts val="0"/>
                        </a:spcAft>
                      </a:pPr>
                      <a:r>
                        <a:rPr lang="en-US" sz="800">
                          <a:effectLst/>
                        </a:rPr>
                        <a:t>Outcomes </a:t>
                      </a:r>
                      <a:endParaRPr lang="en-US" sz="1000">
                        <a:solidFill>
                          <a:srgbClr val="000000"/>
                        </a:solidFill>
                        <a:effectLst/>
                        <a:latin typeface="Times New Roman"/>
                        <a:ea typeface="Calibri"/>
                      </a:endParaRPr>
                    </a:p>
                  </a:txBody>
                  <a:tcPr marL="56672" marR="56672" marT="0" marB="0"/>
                </a:tc>
                <a:tc>
                  <a:txBody>
                    <a:bodyPr/>
                    <a:lstStyle/>
                    <a:p>
                      <a:pPr marL="0" marR="0">
                        <a:spcBef>
                          <a:spcPts val="0"/>
                        </a:spcBef>
                        <a:spcAft>
                          <a:spcPts val="0"/>
                        </a:spcAft>
                      </a:pPr>
                      <a:r>
                        <a:rPr lang="en-US" sz="800">
                          <a:effectLst/>
                        </a:rPr>
                        <a:t>Program Outcomes </a:t>
                      </a:r>
                      <a:endParaRPr lang="en-US" sz="1000">
                        <a:effectLst/>
                      </a:endParaRPr>
                    </a:p>
                    <a:p>
                      <a:pPr marL="0" marR="0">
                        <a:spcBef>
                          <a:spcPts val="0"/>
                        </a:spcBef>
                        <a:spcAft>
                          <a:spcPts val="0"/>
                        </a:spcAft>
                      </a:pPr>
                      <a:r>
                        <a:rPr lang="en-US" sz="800">
                          <a:effectLst/>
                        </a:rPr>
                        <a:t> </a:t>
                      </a:r>
                      <a:endParaRPr lang="en-US" sz="1000">
                        <a:solidFill>
                          <a:srgbClr val="000000"/>
                        </a:solidFill>
                        <a:effectLst/>
                        <a:latin typeface="Times New Roman"/>
                        <a:ea typeface="Calibri"/>
                      </a:endParaRPr>
                    </a:p>
                  </a:txBody>
                  <a:tcPr marL="56672" marR="56672" marT="0" marB="0"/>
                </a:tc>
                <a:extLst>
                  <a:ext uri="{0D108BD9-81ED-4DB2-BD59-A6C34878D82A}">
                    <a16:rowId xmlns:a16="http://schemas.microsoft.com/office/drawing/2014/main" val="10000"/>
                  </a:ext>
                </a:extLst>
              </a:tr>
              <a:tr h="1011606">
                <a:tc>
                  <a:txBody>
                    <a:bodyPr/>
                    <a:lstStyle/>
                    <a:p>
                      <a:pPr marL="0" marR="0">
                        <a:lnSpc>
                          <a:spcPct val="115000"/>
                        </a:lnSpc>
                        <a:spcBef>
                          <a:spcPts val="0"/>
                        </a:spcBef>
                        <a:spcAft>
                          <a:spcPts val="1000"/>
                        </a:spcAft>
                      </a:pPr>
                      <a:r>
                        <a:rPr lang="en-US" sz="1000">
                          <a:effectLst/>
                        </a:rPr>
                        <a:t>10</a:t>
                      </a:r>
                      <a:endParaRPr lang="en-US" sz="900">
                        <a:effectLst/>
                        <a:latin typeface="Segoe UI"/>
                        <a:ea typeface="Calibri"/>
                        <a:cs typeface="Times New Roman"/>
                      </a:endParaRPr>
                    </a:p>
                  </a:txBody>
                  <a:tcPr marL="56672" marR="56672" marT="0" marB="0"/>
                </a:tc>
                <a:tc>
                  <a:txBody>
                    <a:bodyPr/>
                    <a:lstStyle/>
                    <a:p>
                      <a:pPr marL="0" marR="0">
                        <a:lnSpc>
                          <a:spcPct val="115000"/>
                        </a:lnSpc>
                        <a:spcBef>
                          <a:spcPts val="0"/>
                        </a:spcBef>
                        <a:spcAft>
                          <a:spcPts val="0"/>
                        </a:spcAft>
                      </a:pPr>
                      <a:r>
                        <a:rPr lang="en-US" sz="1000">
                          <a:effectLst/>
                        </a:rPr>
                        <a:t>The Classes P </a:t>
                      </a:r>
                      <a:endParaRPr lang="en-US" sz="900">
                        <a:effectLst/>
                      </a:endParaRPr>
                    </a:p>
                    <a:p>
                      <a:pPr marL="0" marR="0">
                        <a:lnSpc>
                          <a:spcPct val="115000"/>
                        </a:lnSpc>
                        <a:spcBef>
                          <a:spcPts val="0"/>
                        </a:spcBef>
                        <a:spcAft>
                          <a:spcPts val="1000"/>
                        </a:spcAft>
                      </a:pPr>
                      <a:r>
                        <a:rPr lang="en-US" sz="1000">
                          <a:effectLst/>
                        </a:rPr>
                        <a:t> </a:t>
                      </a:r>
                      <a:endParaRPr lang="en-US" sz="900">
                        <a:effectLst/>
                        <a:latin typeface="Segoe UI"/>
                        <a:ea typeface="Calibri"/>
                        <a:cs typeface="Times New Roman"/>
                      </a:endParaRPr>
                    </a:p>
                  </a:txBody>
                  <a:tcPr marL="56672" marR="56672" marT="0" marB="0"/>
                </a:tc>
                <a:tc>
                  <a:txBody>
                    <a:bodyPr/>
                    <a:lstStyle/>
                    <a:p>
                      <a:pPr marL="0" marR="0">
                        <a:spcBef>
                          <a:spcPts val="0"/>
                        </a:spcBef>
                        <a:spcAft>
                          <a:spcPts val="0"/>
                        </a:spcAft>
                      </a:pPr>
                      <a:r>
                        <a:rPr lang="en-US" sz="1000">
                          <a:effectLst/>
                        </a:rPr>
                        <a:t>Session interspersed with discussion </a:t>
                      </a:r>
                    </a:p>
                    <a:p>
                      <a:pPr marL="0" marR="0">
                        <a:lnSpc>
                          <a:spcPct val="115000"/>
                        </a:lnSpc>
                        <a:spcBef>
                          <a:spcPts val="0"/>
                        </a:spcBef>
                        <a:spcAft>
                          <a:spcPts val="1000"/>
                        </a:spcAft>
                      </a:pPr>
                      <a:r>
                        <a:rPr lang="en-US" sz="1000">
                          <a:effectLst/>
                        </a:rPr>
                        <a:t> </a:t>
                      </a:r>
                      <a:endParaRPr lang="en-US" sz="900">
                        <a:effectLst/>
                        <a:latin typeface="Segoe UI"/>
                        <a:ea typeface="Calibri"/>
                        <a:cs typeface="Times New Roman"/>
                      </a:endParaRPr>
                    </a:p>
                  </a:txBody>
                  <a:tcPr marL="56672" marR="56672" marT="0" marB="0"/>
                </a:tc>
                <a:tc>
                  <a:txBody>
                    <a:bodyPr/>
                    <a:lstStyle/>
                    <a:p>
                      <a:pPr marL="0" marR="0">
                        <a:spcBef>
                          <a:spcPts val="0"/>
                        </a:spcBef>
                        <a:spcAft>
                          <a:spcPts val="0"/>
                        </a:spcAft>
                      </a:pPr>
                      <a:r>
                        <a:rPr lang="en-US" sz="1000">
                          <a:effectLst/>
                        </a:rPr>
                        <a:t>Introduces </a:t>
                      </a:r>
                    </a:p>
                    <a:p>
                      <a:pPr marL="0" marR="0">
                        <a:lnSpc>
                          <a:spcPct val="115000"/>
                        </a:lnSpc>
                        <a:spcBef>
                          <a:spcPts val="0"/>
                        </a:spcBef>
                        <a:spcAft>
                          <a:spcPts val="1000"/>
                        </a:spcAft>
                      </a:pPr>
                      <a:r>
                        <a:rPr lang="en-US" sz="1000">
                          <a:effectLst/>
                        </a:rPr>
                        <a:t>Facilitates </a:t>
                      </a:r>
                      <a:endParaRPr lang="en-US" sz="900">
                        <a:effectLst/>
                        <a:latin typeface="Segoe UI"/>
                        <a:ea typeface="Calibri"/>
                        <a:cs typeface="Times New Roman"/>
                      </a:endParaRPr>
                    </a:p>
                  </a:txBody>
                  <a:tcPr marL="56672" marR="56672" marT="0" marB="0"/>
                </a:tc>
                <a:tc>
                  <a:txBody>
                    <a:bodyPr/>
                    <a:lstStyle/>
                    <a:p>
                      <a:pPr marL="0" marR="0">
                        <a:spcBef>
                          <a:spcPts val="0"/>
                        </a:spcBef>
                        <a:spcAft>
                          <a:spcPts val="0"/>
                        </a:spcAft>
                      </a:pPr>
                      <a:r>
                        <a:rPr lang="en-US" sz="1000">
                          <a:effectLst/>
                        </a:rPr>
                        <a:t>Listens </a:t>
                      </a:r>
                    </a:p>
                    <a:p>
                      <a:pPr marL="0" marR="0">
                        <a:lnSpc>
                          <a:spcPct val="115000"/>
                        </a:lnSpc>
                        <a:spcBef>
                          <a:spcPts val="0"/>
                        </a:spcBef>
                        <a:spcAft>
                          <a:spcPts val="1000"/>
                        </a:spcAft>
                      </a:pPr>
                      <a:r>
                        <a:rPr lang="en-US" sz="1000">
                          <a:effectLst/>
                        </a:rPr>
                        <a:t> </a:t>
                      </a:r>
                      <a:endParaRPr lang="en-US" sz="900">
                        <a:effectLst/>
                        <a:latin typeface="Segoe UI"/>
                        <a:ea typeface="Calibri"/>
                        <a:cs typeface="Times New Roman"/>
                      </a:endParaRPr>
                    </a:p>
                  </a:txBody>
                  <a:tcPr marL="56672" marR="56672" marT="0" marB="0"/>
                </a:tc>
                <a:tc>
                  <a:txBody>
                    <a:bodyPr/>
                    <a:lstStyle/>
                    <a:p>
                      <a:pPr marL="0" marR="0">
                        <a:spcBef>
                          <a:spcPts val="0"/>
                        </a:spcBef>
                        <a:spcAft>
                          <a:spcPts val="0"/>
                        </a:spcAft>
                      </a:pPr>
                      <a:r>
                        <a:rPr lang="en-US" sz="1000">
                          <a:effectLst/>
                        </a:rPr>
                        <a:t>Knowledge </a:t>
                      </a:r>
                    </a:p>
                    <a:p>
                      <a:pPr marL="0" marR="0">
                        <a:lnSpc>
                          <a:spcPct val="115000"/>
                        </a:lnSpc>
                        <a:spcBef>
                          <a:spcPts val="0"/>
                        </a:spcBef>
                        <a:spcAft>
                          <a:spcPts val="1000"/>
                        </a:spcAft>
                      </a:pPr>
                      <a:r>
                        <a:rPr lang="en-US" sz="1000">
                          <a:effectLst/>
                        </a:rPr>
                        <a:t>Intrapersonal </a:t>
                      </a:r>
                      <a:endParaRPr lang="en-US" sz="900">
                        <a:effectLst/>
                        <a:latin typeface="Segoe UI"/>
                        <a:ea typeface="Calibri"/>
                        <a:cs typeface="Times New Roman"/>
                      </a:endParaRPr>
                    </a:p>
                  </a:txBody>
                  <a:tcPr marL="56672" marR="56672" marT="0" marB="0"/>
                </a:tc>
                <a:tc rowSpan="5">
                  <a:txBody>
                    <a:bodyPr/>
                    <a:lstStyle/>
                    <a:p>
                      <a:pPr marL="0" marR="0">
                        <a:lnSpc>
                          <a:spcPct val="115000"/>
                        </a:lnSpc>
                        <a:spcBef>
                          <a:spcPts val="0"/>
                        </a:spcBef>
                        <a:spcAft>
                          <a:spcPts val="0"/>
                        </a:spcAft>
                      </a:pPr>
                      <a:r>
                        <a:rPr lang="en-US" sz="1200" dirty="0">
                          <a:effectLst/>
                          <a:latin typeface="Times New Roman"/>
                          <a:ea typeface="Calibri"/>
                          <a:cs typeface="Mangal"/>
                        </a:rPr>
                        <a:t>CO3, CO5</a:t>
                      </a:r>
                      <a:endParaRPr lang="en-US" sz="1100" dirty="0">
                        <a:effectLst/>
                        <a:latin typeface="Calibri"/>
                        <a:ea typeface="Calibri"/>
                        <a:cs typeface="Mangal"/>
                      </a:endParaRPr>
                    </a:p>
                  </a:txBody>
                  <a:tcPr marL="68580" marR="68580" marT="0" marB="0"/>
                </a:tc>
                <a:tc rowSpan="5">
                  <a:txBody>
                    <a:bodyPr/>
                    <a:lstStyle/>
                    <a:p>
                      <a:pPr marL="0" marR="0">
                        <a:lnSpc>
                          <a:spcPct val="115000"/>
                        </a:lnSpc>
                        <a:spcBef>
                          <a:spcPts val="0"/>
                        </a:spcBef>
                        <a:spcAft>
                          <a:spcPts val="0"/>
                        </a:spcAft>
                      </a:pPr>
                      <a:r>
                        <a:rPr lang="en-US" sz="1200" dirty="0">
                          <a:effectLst/>
                          <a:latin typeface="Times New Roman"/>
                          <a:ea typeface="Calibri"/>
                          <a:cs typeface="Mangal"/>
                        </a:rPr>
                        <a:t>POa1,</a:t>
                      </a:r>
                      <a:endParaRPr lang="en-US" sz="1100" dirty="0">
                        <a:effectLst/>
                        <a:latin typeface="Calibri"/>
                        <a:ea typeface="Calibri"/>
                        <a:cs typeface="Mangal"/>
                      </a:endParaRPr>
                    </a:p>
                    <a:p>
                      <a:pPr marL="0" marR="0">
                        <a:lnSpc>
                          <a:spcPct val="115000"/>
                        </a:lnSpc>
                        <a:spcBef>
                          <a:spcPts val="0"/>
                        </a:spcBef>
                        <a:spcAft>
                          <a:spcPts val="0"/>
                        </a:spcAft>
                      </a:pPr>
                      <a:r>
                        <a:rPr lang="en-US" sz="1200" dirty="0">
                          <a:effectLst/>
                          <a:latin typeface="Times New Roman"/>
                          <a:ea typeface="Calibri"/>
                          <a:cs typeface="Mangal"/>
                        </a:rPr>
                        <a:t>POb2,</a:t>
                      </a:r>
                      <a:endParaRPr lang="en-US" sz="1100" dirty="0">
                        <a:effectLst/>
                        <a:latin typeface="Calibri"/>
                        <a:ea typeface="Calibri"/>
                        <a:cs typeface="Mangal"/>
                      </a:endParaRPr>
                    </a:p>
                    <a:p>
                      <a:pPr marL="0" marR="0">
                        <a:lnSpc>
                          <a:spcPct val="115000"/>
                        </a:lnSpc>
                        <a:spcBef>
                          <a:spcPts val="0"/>
                        </a:spcBef>
                        <a:spcAft>
                          <a:spcPts val="0"/>
                        </a:spcAft>
                      </a:pPr>
                      <a:r>
                        <a:rPr lang="en-US" sz="1200" dirty="0">
                          <a:effectLst/>
                          <a:latin typeface="Times New Roman"/>
                          <a:ea typeface="Calibri"/>
                          <a:cs typeface="Mangal"/>
                        </a:rPr>
                        <a:t>POc1, Pod2, POg1, POl2</a:t>
                      </a:r>
                      <a:endParaRPr lang="en-US" sz="1100" dirty="0">
                        <a:effectLst/>
                        <a:latin typeface="Calibri"/>
                        <a:ea typeface="Calibri"/>
                        <a:cs typeface="Mangal"/>
                      </a:endParaRPr>
                    </a:p>
                  </a:txBody>
                  <a:tcPr marL="68580" marR="68580" marT="0" marB="0"/>
                </a:tc>
                <a:extLst>
                  <a:ext uri="{0D108BD9-81ED-4DB2-BD59-A6C34878D82A}">
                    <a16:rowId xmlns:a16="http://schemas.microsoft.com/office/drawing/2014/main" val="10001"/>
                  </a:ext>
                </a:extLst>
              </a:tr>
              <a:tr h="1284915">
                <a:tc>
                  <a:txBody>
                    <a:bodyPr/>
                    <a:lstStyle/>
                    <a:p>
                      <a:pPr marL="0" marR="0">
                        <a:lnSpc>
                          <a:spcPct val="115000"/>
                        </a:lnSpc>
                        <a:spcBef>
                          <a:spcPts val="0"/>
                        </a:spcBef>
                        <a:spcAft>
                          <a:spcPts val="1000"/>
                        </a:spcAft>
                      </a:pPr>
                      <a:r>
                        <a:rPr lang="en-US" sz="1000">
                          <a:effectLst/>
                        </a:rPr>
                        <a:t>10</a:t>
                      </a:r>
                      <a:endParaRPr lang="en-US" sz="900">
                        <a:effectLst/>
                        <a:latin typeface="Segoe UI"/>
                        <a:ea typeface="Calibri"/>
                        <a:cs typeface="Times New Roman"/>
                      </a:endParaRPr>
                    </a:p>
                  </a:txBody>
                  <a:tcPr marL="56672" marR="56672" marT="0" marB="0"/>
                </a:tc>
                <a:tc>
                  <a:txBody>
                    <a:bodyPr/>
                    <a:lstStyle/>
                    <a:p>
                      <a:pPr marL="0" marR="0">
                        <a:lnSpc>
                          <a:spcPct val="115000"/>
                        </a:lnSpc>
                        <a:spcBef>
                          <a:spcPts val="0"/>
                        </a:spcBef>
                        <a:spcAft>
                          <a:spcPts val="0"/>
                        </a:spcAft>
                      </a:pPr>
                      <a:r>
                        <a:rPr lang="en-US" sz="1000">
                          <a:effectLst/>
                        </a:rPr>
                        <a:t>The Classes NP : Problems. </a:t>
                      </a:r>
                      <a:endParaRPr lang="en-US" sz="900">
                        <a:effectLst/>
                      </a:endParaRPr>
                    </a:p>
                    <a:p>
                      <a:pPr marL="0" marR="0">
                        <a:lnSpc>
                          <a:spcPct val="115000"/>
                        </a:lnSpc>
                        <a:spcBef>
                          <a:spcPts val="0"/>
                        </a:spcBef>
                        <a:spcAft>
                          <a:spcPts val="1000"/>
                        </a:spcAft>
                      </a:pPr>
                      <a:r>
                        <a:rPr lang="en-US" sz="1000">
                          <a:effectLst/>
                        </a:rPr>
                        <a:t> </a:t>
                      </a:r>
                      <a:endParaRPr lang="en-US" sz="900">
                        <a:effectLst/>
                        <a:latin typeface="Segoe UI"/>
                        <a:ea typeface="Calibri"/>
                        <a:cs typeface="Times New Roman"/>
                      </a:endParaRPr>
                    </a:p>
                  </a:txBody>
                  <a:tcPr marL="56672" marR="56672" marT="0" marB="0"/>
                </a:tc>
                <a:tc>
                  <a:txBody>
                    <a:bodyPr/>
                    <a:lstStyle/>
                    <a:p>
                      <a:pPr marL="0" marR="0">
                        <a:lnSpc>
                          <a:spcPct val="115000"/>
                        </a:lnSpc>
                        <a:spcBef>
                          <a:spcPts val="0"/>
                        </a:spcBef>
                        <a:spcAft>
                          <a:spcPts val="1000"/>
                        </a:spcAft>
                      </a:pPr>
                      <a:r>
                        <a:rPr lang="en-US" sz="1000">
                          <a:effectLst/>
                        </a:rPr>
                        <a:t>Presentation </a:t>
                      </a:r>
                      <a:endParaRPr lang="en-US" sz="900">
                        <a:effectLst/>
                      </a:endParaRPr>
                    </a:p>
                    <a:p>
                      <a:pPr marL="0" marR="0">
                        <a:lnSpc>
                          <a:spcPct val="115000"/>
                        </a:lnSpc>
                        <a:spcBef>
                          <a:spcPts val="0"/>
                        </a:spcBef>
                        <a:spcAft>
                          <a:spcPts val="1000"/>
                        </a:spcAft>
                      </a:pPr>
                      <a:r>
                        <a:rPr lang="en-US" sz="1000">
                          <a:effectLst/>
                        </a:rPr>
                        <a:t>And Blackboared</a:t>
                      </a:r>
                      <a:endParaRPr lang="en-US" sz="900">
                        <a:effectLst/>
                        <a:latin typeface="Segoe UI"/>
                        <a:ea typeface="Calibri"/>
                        <a:cs typeface="Times New Roman"/>
                      </a:endParaRPr>
                    </a:p>
                  </a:txBody>
                  <a:tcPr marL="56672" marR="56672" marT="0" marB="0"/>
                </a:tc>
                <a:tc>
                  <a:txBody>
                    <a:bodyPr/>
                    <a:lstStyle/>
                    <a:p>
                      <a:pPr marL="0" marR="0">
                        <a:spcBef>
                          <a:spcPts val="0"/>
                        </a:spcBef>
                        <a:spcAft>
                          <a:spcPts val="0"/>
                        </a:spcAft>
                      </a:pPr>
                      <a:r>
                        <a:rPr lang="en-US" sz="1000">
                          <a:effectLst/>
                        </a:rPr>
                        <a:t>Introduces </a:t>
                      </a:r>
                    </a:p>
                    <a:p>
                      <a:pPr marL="0" marR="0">
                        <a:lnSpc>
                          <a:spcPct val="115000"/>
                        </a:lnSpc>
                        <a:spcBef>
                          <a:spcPts val="0"/>
                        </a:spcBef>
                        <a:spcAft>
                          <a:spcPts val="1000"/>
                        </a:spcAft>
                      </a:pPr>
                      <a:r>
                        <a:rPr lang="en-US" sz="1000">
                          <a:effectLst/>
                        </a:rPr>
                        <a:t>Facilitates</a:t>
                      </a:r>
                      <a:endParaRPr lang="en-US" sz="900">
                        <a:effectLst/>
                        <a:latin typeface="Segoe UI"/>
                        <a:ea typeface="Calibri"/>
                        <a:cs typeface="Times New Roman"/>
                      </a:endParaRPr>
                    </a:p>
                  </a:txBody>
                  <a:tcPr marL="56672" marR="56672" marT="0" marB="0"/>
                </a:tc>
                <a:tc>
                  <a:txBody>
                    <a:bodyPr/>
                    <a:lstStyle/>
                    <a:p>
                      <a:pPr marL="0" marR="0">
                        <a:spcBef>
                          <a:spcPts val="0"/>
                        </a:spcBef>
                        <a:spcAft>
                          <a:spcPts val="0"/>
                        </a:spcAft>
                      </a:pPr>
                      <a:r>
                        <a:rPr lang="en-US" sz="1000">
                          <a:effectLst/>
                        </a:rPr>
                        <a:t>Listens </a:t>
                      </a:r>
                    </a:p>
                    <a:p>
                      <a:pPr marL="0" marR="0">
                        <a:spcBef>
                          <a:spcPts val="0"/>
                        </a:spcBef>
                        <a:spcAft>
                          <a:spcPts val="0"/>
                        </a:spcAft>
                      </a:pPr>
                      <a:r>
                        <a:rPr lang="en-US" sz="1000">
                          <a:effectLst/>
                        </a:rPr>
                        <a:t>Participate </a:t>
                      </a:r>
                    </a:p>
                    <a:p>
                      <a:pPr marL="0" marR="0">
                        <a:spcBef>
                          <a:spcPts val="0"/>
                        </a:spcBef>
                        <a:spcAft>
                          <a:spcPts val="0"/>
                        </a:spcAft>
                      </a:pPr>
                      <a:r>
                        <a:rPr lang="en-US" sz="1000">
                          <a:effectLst/>
                        </a:rPr>
                        <a:t>Discuss </a:t>
                      </a:r>
                      <a:endParaRPr lang="en-US" sz="1000">
                        <a:solidFill>
                          <a:srgbClr val="000000"/>
                        </a:solidFill>
                        <a:effectLst/>
                        <a:latin typeface="Times New Roman"/>
                        <a:ea typeface="Calibri"/>
                      </a:endParaRPr>
                    </a:p>
                  </a:txBody>
                  <a:tcPr marL="56672" marR="56672" marT="0" marB="0"/>
                </a:tc>
                <a:tc>
                  <a:txBody>
                    <a:bodyPr/>
                    <a:lstStyle/>
                    <a:p>
                      <a:pPr marL="0" marR="0">
                        <a:spcBef>
                          <a:spcPts val="0"/>
                        </a:spcBef>
                        <a:spcAft>
                          <a:spcPts val="0"/>
                        </a:spcAft>
                      </a:pPr>
                      <a:r>
                        <a:rPr lang="en-US" sz="1000">
                          <a:effectLst/>
                        </a:rPr>
                        <a:t>Comprehension </a:t>
                      </a:r>
                    </a:p>
                    <a:p>
                      <a:pPr marL="0" marR="0">
                        <a:lnSpc>
                          <a:spcPct val="115000"/>
                        </a:lnSpc>
                        <a:spcBef>
                          <a:spcPts val="0"/>
                        </a:spcBef>
                        <a:spcAft>
                          <a:spcPts val="1000"/>
                        </a:spcAft>
                      </a:pPr>
                      <a:r>
                        <a:rPr lang="en-US" sz="1000">
                          <a:effectLst/>
                        </a:rPr>
                        <a:t>Application </a:t>
                      </a:r>
                      <a:endParaRPr lang="en-US" sz="900">
                        <a:effectLst/>
                        <a:latin typeface="Segoe UI"/>
                        <a:ea typeface="Calibri"/>
                        <a:cs typeface="Times New Roman"/>
                      </a:endParaRPr>
                    </a:p>
                  </a:txBody>
                  <a:tcPr marL="56672" marR="56672"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792342">
                <a:tc>
                  <a:txBody>
                    <a:bodyPr/>
                    <a:lstStyle/>
                    <a:p>
                      <a:pPr marL="0" marR="0">
                        <a:lnSpc>
                          <a:spcPct val="115000"/>
                        </a:lnSpc>
                        <a:spcBef>
                          <a:spcPts val="0"/>
                        </a:spcBef>
                        <a:spcAft>
                          <a:spcPts val="1000"/>
                        </a:spcAft>
                      </a:pPr>
                      <a:r>
                        <a:rPr lang="en-US" sz="1000">
                          <a:effectLst/>
                        </a:rPr>
                        <a:t>20</a:t>
                      </a:r>
                      <a:endParaRPr lang="en-US" sz="900">
                        <a:effectLst/>
                        <a:latin typeface="Segoe UI"/>
                        <a:ea typeface="Calibri"/>
                        <a:cs typeface="Times New Roman"/>
                      </a:endParaRPr>
                    </a:p>
                  </a:txBody>
                  <a:tcPr marL="56672" marR="56672" marT="0" marB="0"/>
                </a:tc>
                <a:tc>
                  <a:txBody>
                    <a:bodyPr/>
                    <a:lstStyle/>
                    <a:p>
                      <a:pPr marL="0" marR="0">
                        <a:lnSpc>
                          <a:spcPct val="115000"/>
                        </a:lnSpc>
                        <a:spcBef>
                          <a:spcPts val="0"/>
                        </a:spcBef>
                        <a:spcAft>
                          <a:spcPts val="0"/>
                        </a:spcAft>
                      </a:pPr>
                      <a:r>
                        <a:rPr lang="en-US" sz="1000">
                          <a:effectLst/>
                        </a:rPr>
                        <a:t>Solvable in Polynomial</a:t>
                      </a:r>
                      <a:endParaRPr lang="en-US" sz="900">
                        <a:effectLst/>
                      </a:endParaRPr>
                    </a:p>
                    <a:p>
                      <a:pPr marL="0" marR="0">
                        <a:lnSpc>
                          <a:spcPct val="115000"/>
                        </a:lnSpc>
                        <a:spcBef>
                          <a:spcPts val="0"/>
                        </a:spcBef>
                        <a:spcAft>
                          <a:spcPts val="1000"/>
                        </a:spcAft>
                      </a:pPr>
                      <a:r>
                        <a:rPr lang="en-US" sz="1000">
                          <a:effectLst/>
                        </a:rPr>
                        <a:t>Time,</a:t>
                      </a:r>
                      <a:endParaRPr lang="en-US" sz="900">
                        <a:effectLst/>
                        <a:latin typeface="Segoe UI"/>
                        <a:ea typeface="Calibri"/>
                        <a:cs typeface="Times New Roman"/>
                      </a:endParaRPr>
                    </a:p>
                  </a:txBody>
                  <a:tcPr marL="56672" marR="56672" marT="0" marB="0"/>
                </a:tc>
                <a:tc>
                  <a:txBody>
                    <a:bodyPr/>
                    <a:lstStyle/>
                    <a:p>
                      <a:pPr marL="0" marR="0">
                        <a:lnSpc>
                          <a:spcPct val="115000"/>
                        </a:lnSpc>
                        <a:spcBef>
                          <a:spcPts val="0"/>
                        </a:spcBef>
                        <a:spcAft>
                          <a:spcPts val="1000"/>
                        </a:spcAft>
                      </a:pPr>
                      <a:r>
                        <a:rPr lang="en-US" sz="1000">
                          <a:effectLst/>
                        </a:rPr>
                        <a:t>Blackboared</a:t>
                      </a:r>
                      <a:endParaRPr lang="en-US" sz="900">
                        <a:effectLst/>
                        <a:latin typeface="Segoe UI"/>
                        <a:ea typeface="Calibri"/>
                        <a:cs typeface="Times New Roman"/>
                      </a:endParaRPr>
                    </a:p>
                  </a:txBody>
                  <a:tcPr marL="56672" marR="56672" marT="0" marB="0"/>
                </a:tc>
                <a:tc>
                  <a:txBody>
                    <a:bodyPr/>
                    <a:lstStyle/>
                    <a:p>
                      <a:pPr marL="0" marR="0">
                        <a:spcBef>
                          <a:spcPts val="0"/>
                        </a:spcBef>
                        <a:spcAft>
                          <a:spcPts val="0"/>
                        </a:spcAft>
                      </a:pPr>
                      <a:r>
                        <a:rPr lang="en-US" sz="1000">
                          <a:effectLst/>
                        </a:rPr>
                        <a:t>Explain </a:t>
                      </a:r>
                    </a:p>
                    <a:p>
                      <a:pPr marL="0" marR="0">
                        <a:lnSpc>
                          <a:spcPct val="115000"/>
                        </a:lnSpc>
                        <a:spcBef>
                          <a:spcPts val="0"/>
                        </a:spcBef>
                        <a:spcAft>
                          <a:spcPts val="1000"/>
                        </a:spcAft>
                      </a:pPr>
                      <a:r>
                        <a:rPr lang="en-US" sz="1000">
                          <a:effectLst/>
                        </a:rPr>
                        <a:t>Facilitates </a:t>
                      </a:r>
                      <a:endParaRPr lang="en-US" sz="900">
                        <a:effectLst/>
                        <a:latin typeface="Segoe UI"/>
                        <a:ea typeface="Calibri"/>
                        <a:cs typeface="Times New Roman"/>
                      </a:endParaRPr>
                    </a:p>
                  </a:txBody>
                  <a:tcPr marL="56672" marR="56672" marT="0" marB="0"/>
                </a:tc>
                <a:tc>
                  <a:txBody>
                    <a:bodyPr/>
                    <a:lstStyle/>
                    <a:p>
                      <a:pPr marL="0" marR="0">
                        <a:spcBef>
                          <a:spcPts val="0"/>
                        </a:spcBef>
                        <a:spcAft>
                          <a:spcPts val="0"/>
                        </a:spcAft>
                      </a:pPr>
                      <a:r>
                        <a:rPr lang="en-US" sz="1000">
                          <a:effectLst/>
                        </a:rPr>
                        <a:t>Listens </a:t>
                      </a:r>
                    </a:p>
                    <a:p>
                      <a:pPr marL="0" marR="0">
                        <a:spcBef>
                          <a:spcPts val="0"/>
                        </a:spcBef>
                        <a:spcAft>
                          <a:spcPts val="0"/>
                        </a:spcAft>
                      </a:pPr>
                      <a:r>
                        <a:rPr lang="en-US" sz="1000">
                          <a:effectLst/>
                        </a:rPr>
                        <a:t>Participate </a:t>
                      </a:r>
                    </a:p>
                    <a:p>
                      <a:pPr marL="0" marR="0">
                        <a:spcBef>
                          <a:spcPts val="0"/>
                        </a:spcBef>
                        <a:spcAft>
                          <a:spcPts val="0"/>
                        </a:spcAft>
                      </a:pPr>
                      <a:r>
                        <a:rPr lang="en-US" sz="1000">
                          <a:effectLst/>
                        </a:rPr>
                        <a:t>Discuss </a:t>
                      </a:r>
                      <a:endParaRPr lang="en-US" sz="1000">
                        <a:solidFill>
                          <a:srgbClr val="000000"/>
                        </a:solidFill>
                        <a:effectLst/>
                        <a:latin typeface="Times New Roman"/>
                        <a:ea typeface="Calibri"/>
                      </a:endParaRPr>
                    </a:p>
                  </a:txBody>
                  <a:tcPr marL="56672" marR="56672" marT="0" marB="0"/>
                </a:tc>
                <a:tc>
                  <a:txBody>
                    <a:bodyPr/>
                    <a:lstStyle/>
                    <a:p>
                      <a:pPr marL="0" marR="0">
                        <a:spcBef>
                          <a:spcPts val="0"/>
                        </a:spcBef>
                        <a:spcAft>
                          <a:spcPts val="0"/>
                        </a:spcAft>
                      </a:pPr>
                      <a:r>
                        <a:rPr lang="en-US" sz="1000">
                          <a:effectLst/>
                        </a:rPr>
                        <a:t>Knowledge </a:t>
                      </a:r>
                    </a:p>
                    <a:p>
                      <a:pPr marL="0" marR="0">
                        <a:lnSpc>
                          <a:spcPct val="115000"/>
                        </a:lnSpc>
                        <a:spcBef>
                          <a:spcPts val="0"/>
                        </a:spcBef>
                        <a:spcAft>
                          <a:spcPts val="1000"/>
                        </a:spcAft>
                      </a:pPr>
                      <a:r>
                        <a:rPr lang="en-US" sz="1000">
                          <a:effectLst/>
                        </a:rPr>
                        <a:t> </a:t>
                      </a:r>
                      <a:endParaRPr lang="en-US" sz="900">
                        <a:effectLst/>
                        <a:latin typeface="Segoe UI"/>
                        <a:ea typeface="Calibri"/>
                        <a:cs typeface="Times New Roman"/>
                      </a:endParaRPr>
                    </a:p>
                  </a:txBody>
                  <a:tcPr marL="56672" marR="56672"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3"/>
                  </a:ext>
                </a:extLst>
              </a:tr>
              <a:tr h="832619">
                <a:tc>
                  <a:txBody>
                    <a:bodyPr/>
                    <a:lstStyle/>
                    <a:p>
                      <a:pPr marL="0" marR="0">
                        <a:lnSpc>
                          <a:spcPct val="115000"/>
                        </a:lnSpc>
                        <a:spcBef>
                          <a:spcPts val="0"/>
                        </a:spcBef>
                        <a:spcAft>
                          <a:spcPts val="1000"/>
                        </a:spcAft>
                      </a:pPr>
                      <a:r>
                        <a:rPr lang="en-US" sz="1000">
                          <a:effectLst/>
                        </a:rPr>
                        <a:t>15</a:t>
                      </a:r>
                      <a:endParaRPr lang="en-US" sz="900">
                        <a:effectLst/>
                        <a:latin typeface="Segoe UI"/>
                        <a:ea typeface="Calibri"/>
                        <a:cs typeface="Times New Roman"/>
                      </a:endParaRPr>
                    </a:p>
                  </a:txBody>
                  <a:tcPr marL="56672" marR="56672" marT="0" marB="0"/>
                </a:tc>
                <a:tc>
                  <a:txBody>
                    <a:bodyPr/>
                    <a:lstStyle/>
                    <a:p>
                      <a:pPr marL="0" marR="0">
                        <a:lnSpc>
                          <a:spcPct val="115000"/>
                        </a:lnSpc>
                        <a:spcBef>
                          <a:spcPts val="0"/>
                        </a:spcBef>
                        <a:spcAft>
                          <a:spcPts val="1000"/>
                        </a:spcAft>
                      </a:pPr>
                      <a:r>
                        <a:rPr lang="en-US" sz="1000">
                          <a:effectLst/>
                        </a:rPr>
                        <a:t>An Example: Kruskal's Algorithm</a:t>
                      </a:r>
                      <a:endParaRPr lang="en-US" sz="900">
                        <a:effectLst/>
                        <a:latin typeface="Segoe UI"/>
                        <a:ea typeface="Calibri"/>
                        <a:cs typeface="Times New Roman"/>
                      </a:endParaRPr>
                    </a:p>
                  </a:txBody>
                  <a:tcPr marL="56672" marR="56672" marT="0" marB="0"/>
                </a:tc>
                <a:tc>
                  <a:txBody>
                    <a:bodyPr/>
                    <a:lstStyle/>
                    <a:p>
                      <a:pPr marL="0" marR="0">
                        <a:spcBef>
                          <a:spcPts val="0"/>
                        </a:spcBef>
                        <a:spcAft>
                          <a:spcPts val="0"/>
                        </a:spcAft>
                      </a:pPr>
                      <a:r>
                        <a:rPr lang="en-US" sz="1000">
                          <a:effectLst/>
                        </a:rPr>
                        <a:t>Brain storming </a:t>
                      </a:r>
                    </a:p>
                    <a:p>
                      <a:pPr marL="0" marR="0">
                        <a:lnSpc>
                          <a:spcPct val="115000"/>
                        </a:lnSpc>
                        <a:spcBef>
                          <a:spcPts val="0"/>
                        </a:spcBef>
                        <a:spcAft>
                          <a:spcPts val="1000"/>
                        </a:spcAft>
                      </a:pPr>
                      <a:r>
                        <a:rPr lang="en-US" sz="1000">
                          <a:effectLst/>
                        </a:rPr>
                        <a:t> </a:t>
                      </a:r>
                      <a:endParaRPr lang="en-US" sz="900">
                        <a:effectLst/>
                        <a:latin typeface="Segoe UI"/>
                        <a:ea typeface="Calibri"/>
                        <a:cs typeface="Times New Roman"/>
                      </a:endParaRPr>
                    </a:p>
                  </a:txBody>
                  <a:tcPr marL="56672" marR="56672" marT="0" marB="0"/>
                </a:tc>
                <a:tc>
                  <a:txBody>
                    <a:bodyPr/>
                    <a:lstStyle/>
                    <a:p>
                      <a:pPr marL="0" marR="0">
                        <a:spcBef>
                          <a:spcPts val="0"/>
                        </a:spcBef>
                        <a:spcAft>
                          <a:spcPts val="0"/>
                        </a:spcAft>
                      </a:pPr>
                      <a:r>
                        <a:rPr lang="en-US" sz="1000">
                          <a:effectLst/>
                        </a:rPr>
                        <a:t>Introduces </a:t>
                      </a:r>
                    </a:p>
                    <a:p>
                      <a:pPr marL="0" marR="0">
                        <a:lnSpc>
                          <a:spcPct val="115000"/>
                        </a:lnSpc>
                        <a:spcBef>
                          <a:spcPts val="0"/>
                        </a:spcBef>
                        <a:spcAft>
                          <a:spcPts val="1000"/>
                        </a:spcAft>
                      </a:pPr>
                      <a:r>
                        <a:rPr lang="en-US" sz="1000">
                          <a:effectLst/>
                        </a:rPr>
                        <a:t>Facilitates</a:t>
                      </a:r>
                      <a:endParaRPr lang="en-US" sz="900">
                        <a:effectLst/>
                        <a:latin typeface="Segoe UI"/>
                        <a:ea typeface="Calibri"/>
                        <a:cs typeface="Times New Roman"/>
                      </a:endParaRPr>
                    </a:p>
                  </a:txBody>
                  <a:tcPr marL="56672" marR="56672" marT="0" marB="0"/>
                </a:tc>
                <a:tc>
                  <a:txBody>
                    <a:bodyPr/>
                    <a:lstStyle/>
                    <a:p>
                      <a:pPr marL="0" marR="0">
                        <a:spcBef>
                          <a:spcPts val="0"/>
                        </a:spcBef>
                        <a:spcAft>
                          <a:spcPts val="0"/>
                        </a:spcAft>
                      </a:pPr>
                      <a:r>
                        <a:rPr lang="en-US" sz="1000">
                          <a:effectLst/>
                        </a:rPr>
                        <a:t>Listens </a:t>
                      </a:r>
                    </a:p>
                    <a:p>
                      <a:pPr marL="0" marR="0">
                        <a:spcBef>
                          <a:spcPts val="0"/>
                        </a:spcBef>
                        <a:spcAft>
                          <a:spcPts val="0"/>
                        </a:spcAft>
                      </a:pPr>
                      <a:r>
                        <a:rPr lang="en-US" sz="1000">
                          <a:effectLst/>
                        </a:rPr>
                        <a:t>Participate </a:t>
                      </a:r>
                    </a:p>
                    <a:p>
                      <a:pPr marL="0" marR="0">
                        <a:spcBef>
                          <a:spcPts val="0"/>
                        </a:spcBef>
                        <a:spcAft>
                          <a:spcPts val="0"/>
                        </a:spcAft>
                      </a:pPr>
                      <a:r>
                        <a:rPr lang="en-US" sz="1000">
                          <a:effectLst/>
                        </a:rPr>
                        <a:t>Discuss </a:t>
                      </a:r>
                      <a:endParaRPr lang="en-US" sz="1000">
                        <a:solidFill>
                          <a:srgbClr val="000000"/>
                        </a:solidFill>
                        <a:effectLst/>
                        <a:latin typeface="Times New Roman"/>
                        <a:ea typeface="Calibri"/>
                      </a:endParaRPr>
                    </a:p>
                  </a:txBody>
                  <a:tcPr marL="56672" marR="56672" marT="0" marB="0"/>
                </a:tc>
                <a:tc>
                  <a:txBody>
                    <a:bodyPr/>
                    <a:lstStyle/>
                    <a:p>
                      <a:pPr marL="0" marR="0">
                        <a:spcBef>
                          <a:spcPts val="0"/>
                        </a:spcBef>
                        <a:spcAft>
                          <a:spcPts val="0"/>
                        </a:spcAft>
                      </a:pPr>
                      <a:r>
                        <a:rPr lang="en-US" sz="1000">
                          <a:effectLst/>
                        </a:rPr>
                        <a:t>Knowledge </a:t>
                      </a:r>
                    </a:p>
                    <a:p>
                      <a:pPr marL="0" marR="0">
                        <a:lnSpc>
                          <a:spcPct val="115000"/>
                        </a:lnSpc>
                        <a:spcBef>
                          <a:spcPts val="0"/>
                        </a:spcBef>
                        <a:spcAft>
                          <a:spcPts val="1000"/>
                        </a:spcAft>
                      </a:pPr>
                      <a:r>
                        <a:rPr lang="en-US" sz="1000">
                          <a:effectLst/>
                        </a:rPr>
                        <a:t>Comprehension </a:t>
                      </a:r>
                      <a:endParaRPr lang="en-US" sz="900">
                        <a:effectLst/>
                        <a:latin typeface="Segoe UI"/>
                        <a:ea typeface="Calibri"/>
                        <a:cs typeface="Times New Roman"/>
                      </a:endParaRPr>
                    </a:p>
                  </a:txBody>
                  <a:tcPr marL="56672" marR="56672"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594257">
                <a:tc>
                  <a:txBody>
                    <a:bodyPr/>
                    <a:lstStyle/>
                    <a:p>
                      <a:pPr marL="0" marR="0">
                        <a:lnSpc>
                          <a:spcPct val="115000"/>
                        </a:lnSpc>
                        <a:spcBef>
                          <a:spcPts val="0"/>
                        </a:spcBef>
                        <a:spcAft>
                          <a:spcPts val="1000"/>
                        </a:spcAft>
                      </a:pPr>
                      <a:r>
                        <a:rPr lang="en-US" sz="1000">
                          <a:effectLst/>
                        </a:rPr>
                        <a:t>5</a:t>
                      </a:r>
                      <a:endParaRPr lang="en-US" sz="900">
                        <a:effectLst/>
                        <a:latin typeface="Segoe UI"/>
                        <a:ea typeface="Calibri"/>
                        <a:cs typeface="Times New Roman"/>
                      </a:endParaRPr>
                    </a:p>
                  </a:txBody>
                  <a:tcPr marL="56672" marR="56672" marT="0" marB="0"/>
                </a:tc>
                <a:tc>
                  <a:txBody>
                    <a:bodyPr/>
                    <a:lstStyle/>
                    <a:p>
                      <a:pPr marL="0" marR="0">
                        <a:spcBef>
                          <a:spcPts val="0"/>
                        </a:spcBef>
                        <a:spcAft>
                          <a:spcPts val="0"/>
                        </a:spcAft>
                      </a:pPr>
                      <a:r>
                        <a:rPr lang="en-US" sz="1000">
                          <a:effectLst/>
                        </a:rPr>
                        <a:t>Revision </a:t>
                      </a:r>
                      <a:endParaRPr lang="en-US" sz="1000">
                        <a:solidFill>
                          <a:srgbClr val="000000"/>
                        </a:solidFill>
                        <a:effectLst/>
                        <a:latin typeface="Times New Roman"/>
                        <a:ea typeface="Calibri"/>
                      </a:endParaRPr>
                    </a:p>
                  </a:txBody>
                  <a:tcPr marL="56672" marR="56672" marT="0" marB="0"/>
                </a:tc>
                <a:tc>
                  <a:txBody>
                    <a:bodyPr/>
                    <a:lstStyle/>
                    <a:p>
                      <a:pPr marL="0" marR="0">
                        <a:spcBef>
                          <a:spcPts val="0"/>
                        </a:spcBef>
                        <a:spcAft>
                          <a:spcPts val="0"/>
                        </a:spcAft>
                      </a:pPr>
                      <a:r>
                        <a:rPr lang="en-US" sz="1000">
                          <a:effectLst/>
                        </a:rPr>
                        <a:t>Key Words </a:t>
                      </a:r>
                      <a:endParaRPr lang="en-US" sz="1000">
                        <a:solidFill>
                          <a:srgbClr val="000000"/>
                        </a:solidFill>
                        <a:effectLst/>
                        <a:latin typeface="Times New Roman"/>
                        <a:ea typeface="Calibri"/>
                      </a:endParaRPr>
                    </a:p>
                  </a:txBody>
                  <a:tcPr marL="56672" marR="56672" marT="0" marB="0"/>
                </a:tc>
                <a:tc>
                  <a:txBody>
                    <a:bodyPr/>
                    <a:lstStyle/>
                    <a:p>
                      <a:pPr marL="0" marR="0">
                        <a:spcBef>
                          <a:spcPts val="0"/>
                        </a:spcBef>
                        <a:spcAft>
                          <a:spcPts val="0"/>
                        </a:spcAft>
                      </a:pPr>
                      <a:r>
                        <a:rPr lang="en-US" sz="1000">
                          <a:effectLst/>
                        </a:rPr>
                        <a:t>List </a:t>
                      </a:r>
                    </a:p>
                    <a:p>
                      <a:pPr marL="0" marR="0">
                        <a:spcBef>
                          <a:spcPts val="0"/>
                        </a:spcBef>
                        <a:spcAft>
                          <a:spcPts val="0"/>
                        </a:spcAft>
                      </a:pPr>
                      <a:r>
                        <a:rPr lang="en-US" sz="1000">
                          <a:effectLst/>
                        </a:rPr>
                        <a:t>Facilitates </a:t>
                      </a:r>
                      <a:endParaRPr lang="en-US" sz="1000">
                        <a:solidFill>
                          <a:srgbClr val="000000"/>
                        </a:solidFill>
                        <a:effectLst/>
                        <a:latin typeface="Times New Roman"/>
                        <a:ea typeface="Calibri"/>
                      </a:endParaRPr>
                    </a:p>
                  </a:txBody>
                  <a:tcPr marL="56672" marR="56672" marT="0" marB="0"/>
                </a:tc>
                <a:tc>
                  <a:txBody>
                    <a:bodyPr/>
                    <a:lstStyle/>
                    <a:p>
                      <a:pPr marL="0" marR="0">
                        <a:spcBef>
                          <a:spcPts val="0"/>
                        </a:spcBef>
                        <a:spcAft>
                          <a:spcPts val="0"/>
                        </a:spcAft>
                      </a:pPr>
                      <a:r>
                        <a:rPr lang="en-US" sz="1000">
                          <a:effectLst/>
                        </a:rPr>
                        <a:t>Identifies </a:t>
                      </a:r>
                      <a:endParaRPr lang="en-US" sz="1000">
                        <a:solidFill>
                          <a:srgbClr val="000000"/>
                        </a:solidFill>
                        <a:effectLst/>
                        <a:latin typeface="Times New Roman"/>
                        <a:ea typeface="Calibri"/>
                      </a:endParaRPr>
                    </a:p>
                  </a:txBody>
                  <a:tcPr marL="56672" marR="56672" marT="0" marB="0"/>
                </a:tc>
                <a:tc>
                  <a:txBody>
                    <a:bodyPr/>
                    <a:lstStyle/>
                    <a:p>
                      <a:pPr marL="0" marR="0">
                        <a:spcBef>
                          <a:spcPts val="0"/>
                        </a:spcBef>
                        <a:spcAft>
                          <a:spcPts val="0"/>
                        </a:spcAft>
                      </a:pPr>
                      <a:r>
                        <a:rPr lang="en-US" sz="1000" dirty="0">
                          <a:effectLst/>
                        </a:rPr>
                        <a:t>Knowledge </a:t>
                      </a:r>
                    </a:p>
                    <a:p>
                      <a:pPr marL="0" marR="0">
                        <a:spcBef>
                          <a:spcPts val="0"/>
                        </a:spcBef>
                        <a:spcAft>
                          <a:spcPts val="0"/>
                        </a:spcAft>
                      </a:pPr>
                      <a:r>
                        <a:rPr lang="en-US" sz="1000" dirty="0">
                          <a:effectLst/>
                        </a:rPr>
                        <a:t>Comprehension </a:t>
                      </a:r>
                      <a:endParaRPr lang="en-US" sz="1000" dirty="0">
                        <a:solidFill>
                          <a:srgbClr val="000000"/>
                        </a:solidFill>
                        <a:effectLst/>
                        <a:latin typeface="Times New Roman"/>
                        <a:ea typeface="Calibri"/>
                      </a:endParaRPr>
                    </a:p>
                  </a:txBody>
                  <a:tcPr marL="56672" marR="56672"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53535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533400"/>
            <a:ext cx="6512511" cy="1143000"/>
          </a:xfrm>
        </p:spPr>
        <p:txBody>
          <a:bodyPr>
            <a:normAutofit fontScale="90000"/>
          </a:bodyPr>
          <a:lstStyle/>
          <a:p>
            <a:r>
              <a:rPr lang="en-GB" b="1" cap="all" dirty="0"/>
              <a:t>6.1	Introduction </a:t>
            </a:r>
            <a:br>
              <a:rPr lang="en-US" b="1" cap="all" dirty="0"/>
            </a:br>
            <a:endParaRPr lang="en-US" dirty="0"/>
          </a:p>
        </p:txBody>
      </p:sp>
      <p:sp>
        <p:nvSpPr>
          <p:cNvPr id="3" name="Content Placeholder 2"/>
          <p:cNvSpPr>
            <a:spLocks noGrp="1"/>
          </p:cNvSpPr>
          <p:nvPr>
            <p:ph sz="quarter" idx="13"/>
          </p:nvPr>
        </p:nvSpPr>
        <p:spPr>
          <a:xfrm>
            <a:off x="990600" y="1905000"/>
            <a:ext cx="7620000" cy="3474720"/>
          </a:xfrm>
        </p:spPr>
        <p:txBody>
          <a:bodyPr>
            <a:normAutofit fontScale="77500" lnSpcReduction="20000"/>
          </a:bodyPr>
          <a:lstStyle/>
          <a:p>
            <a:pPr algn="just"/>
            <a:r>
              <a:rPr lang="en-US" dirty="0"/>
              <a:t>To focus on the problems which are decidable and also see out of that problems which are computed by Turing machines</a:t>
            </a:r>
          </a:p>
          <a:p>
            <a:pPr algn="just"/>
            <a:r>
              <a:rPr lang="en-US" dirty="0"/>
              <a:t>To solve the problems in polynomial time on a computer as well as Tuning machine we will use the method of Tractable and Intractable</a:t>
            </a:r>
          </a:p>
          <a:p>
            <a:pPr algn="just"/>
            <a:r>
              <a:rPr lang="en-US" dirty="0"/>
              <a:t>E.g. Consider a problem, whether a Boolean expression can be satisfied, that means if there are some truth values True and False for some task are true to its attributes. Here the role of intractable problems occurs that Lu or PCP played for undecidable problems that means here we will begin with Cook's theorem which states that the satiesfiability of Boolean formulas can not be decided in polynomial time, then we show the reduction of the problem to many other sub problems which shows intractable in nature.</a:t>
            </a:r>
          </a:p>
          <a:p>
            <a:endParaRPr lang="en-US" dirty="0"/>
          </a:p>
          <a:p>
            <a:endParaRPr lang="en-US" dirty="0"/>
          </a:p>
        </p:txBody>
      </p:sp>
    </p:spTree>
    <p:extLst>
      <p:ext uri="{BB962C8B-B14F-4D97-AF65-F5344CB8AC3E}">
        <p14:creationId xmlns:p14="http://schemas.microsoft.com/office/powerpoint/2010/main" val="3595019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001000" cy="1143000"/>
          </a:xfrm>
        </p:spPr>
        <p:txBody>
          <a:bodyPr>
            <a:normAutofit fontScale="90000"/>
          </a:bodyPr>
          <a:lstStyle/>
          <a:p>
            <a:r>
              <a:rPr lang="en-GB" b="1" cap="all" dirty="0"/>
              <a:t>6.2 The classes P and NP</a:t>
            </a:r>
            <a:br>
              <a:rPr lang="en-US" b="1" cap="all" dirty="0"/>
            </a:br>
            <a:endParaRPr lang="en-US" dirty="0"/>
          </a:p>
        </p:txBody>
      </p:sp>
      <p:sp>
        <p:nvSpPr>
          <p:cNvPr id="3" name="Content Placeholder 2"/>
          <p:cNvSpPr>
            <a:spLocks noGrp="1"/>
          </p:cNvSpPr>
          <p:nvPr>
            <p:ph sz="quarter" idx="13"/>
          </p:nvPr>
        </p:nvSpPr>
        <p:spPr>
          <a:xfrm>
            <a:off x="1371600" y="1600200"/>
            <a:ext cx="6400800" cy="2286000"/>
          </a:xfrm>
        </p:spPr>
        <p:txBody>
          <a:bodyPr>
            <a:normAutofit/>
          </a:bodyPr>
          <a:lstStyle/>
          <a:p>
            <a:r>
              <a:rPr lang="en-US" b="1" dirty="0"/>
              <a:t>6.2.1  Problem Solvable in </a:t>
            </a:r>
            <a:r>
              <a:rPr lang="en-US" b="1" dirty="0" err="1"/>
              <a:t>Polynmial</a:t>
            </a:r>
            <a:r>
              <a:rPr lang="en-US" b="1" dirty="0"/>
              <a:t> Time</a:t>
            </a:r>
          </a:p>
          <a:p>
            <a:pPr lvl="1"/>
            <a:r>
              <a:rPr lang="en-US" dirty="0"/>
              <a:t>A Turing machine M </a:t>
            </a:r>
          </a:p>
          <a:p>
            <a:pPr lvl="1"/>
            <a:r>
              <a:rPr lang="en-US" dirty="0"/>
              <a:t>Time complexity T (n)</a:t>
            </a:r>
          </a:p>
          <a:p>
            <a:pPr lvl="1"/>
            <a:r>
              <a:rPr lang="en-US" dirty="0"/>
              <a:t>We can apply this definition to any function T(n)</a:t>
            </a:r>
          </a:p>
          <a:p>
            <a:pPr lvl="2"/>
            <a:r>
              <a:rPr lang="en-US" dirty="0"/>
              <a:t>T(n) = 50 n</a:t>
            </a:r>
            <a:r>
              <a:rPr lang="en-US" baseline="30000" dirty="0"/>
              <a:t>2</a:t>
            </a:r>
            <a:r>
              <a:rPr lang="en-US" dirty="0"/>
              <a:t> or T(n) = 3</a:t>
            </a:r>
            <a:r>
              <a:rPr lang="en-US" baseline="30000" dirty="0"/>
              <a:t>n</a:t>
            </a:r>
            <a:r>
              <a:rPr lang="en-US" dirty="0"/>
              <a:t> + 5n</a:t>
            </a:r>
            <a:r>
              <a:rPr lang="en-US" baseline="30000" dirty="0"/>
              <a:t>4</a:t>
            </a:r>
            <a:endParaRPr lang="en-US" dirty="0"/>
          </a:p>
          <a:p>
            <a:pPr marL="114300" indent="0">
              <a:buNone/>
            </a:pPr>
            <a:endParaRPr lang="en-US" b="1" dirty="0"/>
          </a:p>
          <a:p>
            <a:pPr marL="114300" indent="0">
              <a:buNone/>
            </a:pPr>
            <a:endParaRPr lang="en-US" baseline="30000" dirty="0"/>
          </a:p>
          <a:p>
            <a:pPr lvl="2"/>
            <a:endParaRPr lang="en-US" baseline="30000" dirty="0"/>
          </a:p>
        </p:txBody>
      </p:sp>
    </p:spTree>
    <p:extLst>
      <p:ext uri="{BB962C8B-B14F-4D97-AF65-F5344CB8AC3E}">
        <p14:creationId xmlns:p14="http://schemas.microsoft.com/office/powerpoint/2010/main" val="995871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915400" cy="1143000"/>
          </a:xfrm>
        </p:spPr>
        <p:txBody>
          <a:bodyPr>
            <a:normAutofit fontScale="90000"/>
          </a:bodyPr>
          <a:lstStyle/>
          <a:p>
            <a:r>
              <a:rPr lang="en-US" b="1" dirty="0"/>
              <a:t>6.2.2  An example : </a:t>
            </a:r>
            <a:r>
              <a:rPr lang="en-US" b="1" dirty="0" err="1"/>
              <a:t>Kruskal's</a:t>
            </a:r>
            <a:r>
              <a:rPr lang="en-US" b="1" dirty="0"/>
              <a:t> Algorithm</a:t>
            </a:r>
            <a:br>
              <a:rPr lang="en-US" b="1" dirty="0"/>
            </a:br>
            <a:endParaRPr lang="en-US" dirty="0"/>
          </a:p>
        </p:txBody>
      </p:sp>
      <p:sp>
        <p:nvSpPr>
          <p:cNvPr id="3" name="Content Placeholder 2"/>
          <p:cNvSpPr>
            <a:spLocks noGrp="1"/>
          </p:cNvSpPr>
          <p:nvPr>
            <p:ph sz="quarter" idx="13"/>
          </p:nvPr>
        </p:nvSpPr>
        <p:spPr>
          <a:xfrm>
            <a:off x="1143000" y="1857093"/>
            <a:ext cx="7162800" cy="3474720"/>
          </a:xfrm>
        </p:spPr>
        <p:txBody>
          <a:bodyPr/>
          <a:lstStyle/>
          <a:p>
            <a:pPr marL="342900" lvl="1" indent="-342900">
              <a:buFont typeface="Arial" pitchFamily="34" charset="0"/>
              <a:buChar char="•"/>
            </a:pPr>
            <a:r>
              <a:rPr lang="en-US" dirty="0"/>
              <a:t>Here we consider one problem from data structures and algorithm based on minimum weight spanning tree (MWST) for a graph.</a:t>
            </a:r>
          </a:p>
          <a:p>
            <a:pPr marL="742950" lvl="2" indent="-342900"/>
            <a:endParaRPr lang="en-US" dirty="0"/>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200400"/>
            <a:ext cx="30480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139829" y="5345668"/>
            <a:ext cx="864339" cy="369332"/>
          </a:xfrm>
          <a:prstGeom prst="rect">
            <a:avLst/>
          </a:prstGeom>
        </p:spPr>
        <p:txBody>
          <a:bodyPr wrap="none">
            <a:spAutoFit/>
          </a:bodyPr>
          <a:lstStyle/>
          <a:p>
            <a:r>
              <a:rPr lang="en-US" b="1" dirty="0"/>
              <a:t>Fig. 6.1</a:t>
            </a:r>
            <a:endParaRPr lang="en-US" dirty="0"/>
          </a:p>
        </p:txBody>
      </p:sp>
    </p:spTree>
    <p:extLst>
      <p:ext uri="{BB962C8B-B14F-4D97-AF65-F5344CB8AC3E}">
        <p14:creationId xmlns:p14="http://schemas.microsoft.com/office/powerpoint/2010/main" val="2204072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r>
              <a:rPr lang="en-US" b="1" dirty="0"/>
              <a:t>Algorithm / Outline of </a:t>
            </a:r>
            <a:r>
              <a:rPr lang="en-US" b="1" dirty="0" err="1"/>
              <a:t>Kruskal's</a:t>
            </a:r>
            <a:r>
              <a:rPr lang="en-US" b="1" dirty="0"/>
              <a:t> Algorithm</a:t>
            </a:r>
            <a:br>
              <a:rPr lang="en-US" dirty="0"/>
            </a:br>
            <a:endParaRPr lang="en-US" dirty="0"/>
          </a:p>
        </p:txBody>
      </p:sp>
      <p:sp>
        <p:nvSpPr>
          <p:cNvPr id="3" name="Content Placeholder 2"/>
          <p:cNvSpPr>
            <a:spLocks noGrp="1"/>
          </p:cNvSpPr>
          <p:nvPr>
            <p:ph sz="quarter" idx="13"/>
          </p:nvPr>
        </p:nvSpPr>
        <p:spPr>
          <a:xfrm>
            <a:off x="1143000" y="2133600"/>
            <a:ext cx="7391400" cy="3474720"/>
          </a:xfrm>
        </p:spPr>
        <p:txBody>
          <a:bodyPr>
            <a:normAutofit fontScale="70000" lnSpcReduction="20000"/>
          </a:bodyPr>
          <a:lstStyle/>
          <a:p>
            <a:pPr marL="514350" indent="-514350">
              <a:buAutoNum type="arabicPeriod"/>
            </a:pPr>
            <a:r>
              <a:rPr lang="en-US" dirty="0"/>
              <a:t>Establish a connection between each node and select Initially no edges are selected, so every node is then in a connected component.</a:t>
            </a:r>
          </a:p>
          <a:p>
            <a:pPr marL="0" indent="0">
              <a:buNone/>
            </a:pPr>
            <a:endParaRPr lang="en-US" dirty="0"/>
          </a:p>
          <a:p>
            <a:pPr marL="0" indent="0">
              <a:buNone/>
            </a:pPr>
            <a:r>
              <a:rPr lang="en-US" dirty="0"/>
              <a:t>2. Consider the lowest weight edge. If this edge connects two nodes that are currently in different connected components then follow the following procedure</a:t>
            </a:r>
          </a:p>
          <a:p>
            <a:pPr marL="0" indent="0">
              <a:buNone/>
            </a:pPr>
            <a:r>
              <a:rPr lang="en-US" dirty="0"/>
              <a:t>	(i)Select that edge for the spanning tree and </a:t>
            </a:r>
          </a:p>
          <a:p>
            <a:pPr marL="0" indent="0">
              <a:buNone/>
            </a:pPr>
            <a:r>
              <a:rPr lang="en-US" dirty="0"/>
              <a:t>	(ii)Merge the two connected components involved.</a:t>
            </a:r>
          </a:p>
          <a:p>
            <a:pPr marL="0" indent="0">
              <a:buNone/>
            </a:pPr>
            <a:r>
              <a:rPr lang="en-US" dirty="0"/>
              <a:t>Otherwise, if the selected edge connects two nodes of the same component then the concern edge is not belong to the spanning tree :</a:t>
            </a:r>
          </a:p>
          <a:p>
            <a:pPr marL="0" indent="0">
              <a:buNone/>
            </a:pPr>
            <a:endParaRPr lang="en-US" dirty="0"/>
          </a:p>
          <a:p>
            <a:pPr marL="0" indent="0">
              <a:buNone/>
            </a:pPr>
            <a:r>
              <a:rPr lang="en-US" dirty="0"/>
              <a:t>3.Continue the process for all edges which have been considered.</a:t>
            </a:r>
          </a:p>
          <a:p>
            <a:pPr marL="0" indent="0">
              <a:buNone/>
            </a:pPr>
            <a:r>
              <a:rPr lang="en-US" dirty="0"/>
              <a:t>Following e.g. shows the sequence in which the edges are added to the spanning tree.</a:t>
            </a:r>
          </a:p>
          <a:p>
            <a:pPr marL="0" indent="0">
              <a:buNone/>
            </a:pPr>
            <a:endParaRPr lang="en-US" dirty="0"/>
          </a:p>
        </p:txBody>
      </p:sp>
    </p:spTree>
    <p:extLst>
      <p:ext uri="{BB962C8B-B14F-4D97-AF65-F5344CB8AC3E}">
        <p14:creationId xmlns:p14="http://schemas.microsoft.com/office/powerpoint/2010/main" val="777603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lstStyle/>
          <a:p>
            <a:pPr marL="0" indent="0">
              <a:buNone/>
            </a:pPr>
            <a:r>
              <a:rPr lang="en-US" sz="1800" dirty="0"/>
              <a:t>(a) Given graph G.</a:t>
            </a:r>
          </a:p>
          <a:p>
            <a:pPr marL="0" indent="0">
              <a:buNone/>
            </a:pP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8109" y="2286000"/>
            <a:ext cx="2486025"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09600" y="3796148"/>
            <a:ext cx="4572000" cy="369332"/>
          </a:xfrm>
          <a:prstGeom prst="rect">
            <a:avLst/>
          </a:prstGeom>
        </p:spPr>
        <p:txBody>
          <a:bodyPr>
            <a:spAutoFit/>
          </a:bodyPr>
          <a:lstStyle/>
          <a:p>
            <a:r>
              <a:rPr lang="en-US" dirty="0"/>
              <a:t>(b) For spanning trees edge (N</a:t>
            </a:r>
            <a:r>
              <a:rPr lang="en-US" baseline="-25000" dirty="0"/>
              <a:t>1</a:t>
            </a:r>
            <a:r>
              <a:rPr lang="en-US" dirty="0"/>
              <a:t>, N</a:t>
            </a:r>
            <a:r>
              <a:rPr lang="en-US" baseline="-25000" dirty="0"/>
              <a:t>2</a:t>
            </a:r>
            <a:r>
              <a:rPr lang="en-US" dirty="0"/>
              <a:t>) is added</a:t>
            </a:r>
          </a:p>
        </p:txBody>
      </p:sp>
      <p:pic>
        <p:nvPicPr>
          <p:cNvPr id="3075" name="Picture 3" descr="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8109" y="4495800"/>
            <a:ext cx="2476500"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9946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lstStyle/>
          <a:p>
            <a:pPr marL="514350" indent="-514350">
              <a:buAutoNum type="alphaLcParenBoth" startAt="3"/>
            </a:pPr>
            <a:r>
              <a:rPr lang="en-US" sz="1800" dirty="0"/>
              <a:t>Edge (N</a:t>
            </a:r>
            <a:r>
              <a:rPr lang="en-US" sz="1800" baseline="-25000" dirty="0"/>
              <a:t>3</a:t>
            </a:r>
            <a:r>
              <a:rPr lang="en-US" sz="1800" dirty="0"/>
              <a:t>, N</a:t>
            </a:r>
            <a:r>
              <a:rPr lang="en-US" sz="1800" baseline="-25000" dirty="0"/>
              <a:t>4</a:t>
            </a:r>
            <a:r>
              <a:rPr lang="en-US" sz="1800" dirty="0"/>
              <a:t>) a is added</a:t>
            </a:r>
          </a:p>
          <a:p>
            <a:pPr marL="0" indent="0">
              <a:buNone/>
            </a:pPr>
            <a:endParaRPr lang="en-US" dirty="0"/>
          </a:p>
          <a:p>
            <a:pPr marL="0" indent="0">
              <a:buNone/>
            </a:pPr>
            <a:endParaRPr lang="en-US" dirty="0"/>
          </a:p>
          <a:p>
            <a:pPr marL="0" indent="0">
              <a:buNone/>
            </a:pPr>
            <a:endParaRPr lang="en-US" dirty="0"/>
          </a:p>
          <a:p>
            <a:pPr marL="0" indent="0">
              <a:buNone/>
            </a:pPr>
            <a:endParaRPr lang="en-US" sz="1800" dirty="0"/>
          </a:p>
          <a:p>
            <a:pPr marL="0" indent="0">
              <a:buNone/>
            </a:pPr>
            <a:endParaRPr lang="en-US" sz="1800" dirty="0"/>
          </a:p>
          <a:p>
            <a:pPr marL="0" indent="0">
              <a:buNone/>
            </a:pPr>
            <a:r>
              <a:rPr lang="en-US" sz="1800" dirty="0"/>
              <a:t>(d)	Add edge (N</a:t>
            </a:r>
            <a:r>
              <a:rPr lang="en-US" sz="1800" baseline="-25000" dirty="0"/>
              <a:t>1</a:t>
            </a:r>
            <a:r>
              <a:rPr lang="en-US" sz="1800" dirty="0"/>
              <a:t>, N</a:t>
            </a:r>
            <a:r>
              <a:rPr lang="en-US" sz="1800" baseline="-25000" dirty="0"/>
              <a:t>7</a:t>
            </a:r>
            <a:r>
              <a:rPr lang="en-US" sz="1800" dirty="0"/>
              <a:t>) is added</a:t>
            </a:r>
          </a:p>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1" y="1295400"/>
            <a:ext cx="295708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5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03431" y="3886201"/>
            <a:ext cx="2486025" cy="1530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7465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lstStyle/>
          <a:p>
            <a:pPr marL="0" indent="0">
              <a:buNone/>
            </a:pPr>
            <a:r>
              <a:rPr lang="en-US" sz="1800" dirty="0"/>
              <a:t>(e)	Add edge (N</a:t>
            </a:r>
            <a:r>
              <a:rPr lang="en-US" sz="1800" baseline="-25000" dirty="0"/>
              <a:t>8</a:t>
            </a:r>
            <a:r>
              <a:rPr lang="en-US" sz="1800" dirty="0"/>
              <a:t>, N</a:t>
            </a:r>
            <a:r>
              <a:rPr lang="en-US" sz="1800" baseline="-25000" dirty="0"/>
              <a:t>5</a:t>
            </a:r>
            <a:r>
              <a:rPr lang="en-US" sz="1800" dirty="0"/>
              <a:t>)</a:t>
            </a:r>
          </a:p>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600200"/>
            <a:ext cx="249555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85800" y="3763879"/>
            <a:ext cx="2757165" cy="369332"/>
          </a:xfrm>
          <a:prstGeom prst="rect">
            <a:avLst/>
          </a:prstGeom>
        </p:spPr>
        <p:txBody>
          <a:bodyPr wrap="none">
            <a:spAutoFit/>
          </a:bodyPr>
          <a:lstStyle/>
          <a:p>
            <a:r>
              <a:rPr lang="en-US" dirty="0"/>
              <a:t>(f)	Add edge (N</a:t>
            </a:r>
            <a:r>
              <a:rPr lang="en-US" baseline="-25000" dirty="0"/>
              <a:t>7</a:t>
            </a:r>
            <a:r>
              <a:rPr lang="en-US" dirty="0"/>
              <a:t>, N</a:t>
            </a:r>
            <a:r>
              <a:rPr lang="en-US" baseline="-25000" dirty="0"/>
              <a:t>5</a:t>
            </a:r>
            <a:r>
              <a:rPr lang="en-US" dirty="0"/>
              <a:t>)</a:t>
            </a:r>
          </a:p>
        </p:txBody>
      </p:sp>
      <p:pic>
        <p:nvPicPr>
          <p:cNvPr id="5123" name="Picture 3" descr="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43250" y="4572000"/>
            <a:ext cx="280035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699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3124200" y="2514600"/>
            <a:ext cx="2485714" cy="127619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066800" y="1524000"/>
            <a:ext cx="2757165" cy="369332"/>
          </a:xfrm>
          <a:prstGeom prst="rect">
            <a:avLst/>
          </a:prstGeom>
        </p:spPr>
        <p:txBody>
          <a:bodyPr wrap="none">
            <a:spAutoFit/>
          </a:bodyPr>
          <a:lstStyle/>
          <a:p>
            <a:r>
              <a:rPr lang="en-US" dirty="0"/>
              <a:t> (g)	Add edge (N</a:t>
            </a:r>
            <a:r>
              <a:rPr lang="en-US" baseline="-25000" dirty="0"/>
              <a:t>4</a:t>
            </a:r>
            <a:r>
              <a:rPr lang="en-US" dirty="0"/>
              <a:t>, N</a:t>
            </a:r>
            <a:r>
              <a:rPr lang="en-US" baseline="-25000" dirty="0"/>
              <a:t>5</a:t>
            </a:r>
            <a:r>
              <a:rPr lang="en-US" dirty="0"/>
              <a:t>)</a:t>
            </a:r>
          </a:p>
        </p:txBody>
      </p:sp>
    </p:spTree>
    <p:extLst>
      <p:ext uri="{BB962C8B-B14F-4D97-AF65-F5344CB8AC3E}">
        <p14:creationId xmlns:p14="http://schemas.microsoft.com/office/powerpoint/2010/main" val="3400643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3289" y="1676400"/>
            <a:ext cx="6512511" cy="3838768"/>
          </a:xfrm>
        </p:spPr>
        <p:txBody>
          <a:bodyPr/>
          <a:lstStyle/>
          <a:p>
            <a:endParaRPr lang="en-US" dirty="0"/>
          </a:p>
        </p:txBody>
      </p:sp>
      <p:sp>
        <p:nvSpPr>
          <p:cNvPr id="3" name="Content Placeholder 2"/>
          <p:cNvSpPr>
            <a:spLocks noGrp="1"/>
          </p:cNvSpPr>
          <p:nvPr>
            <p:ph sz="quarter" idx="13"/>
          </p:nvPr>
        </p:nvSpPr>
        <p:spPr>
          <a:xfrm>
            <a:off x="1143000" y="731520"/>
            <a:ext cx="6400800" cy="563880"/>
          </a:xfrm>
        </p:spPr>
        <p:txBody>
          <a:bodyPr/>
          <a:lstStyle/>
          <a:p>
            <a:r>
              <a:rPr lang="en-US" dirty="0"/>
              <a:t>Session 2</a:t>
            </a:r>
          </a:p>
        </p:txBody>
      </p:sp>
      <p:graphicFrame>
        <p:nvGraphicFramePr>
          <p:cNvPr id="4" name="Table 3"/>
          <p:cNvGraphicFramePr>
            <a:graphicFrameLocks noGrp="1"/>
          </p:cNvGraphicFramePr>
          <p:nvPr>
            <p:extLst>
              <p:ext uri="{D42A27DB-BD31-4B8C-83A1-F6EECF244321}">
                <p14:modId xmlns:p14="http://schemas.microsoft.com/office/powerpoint/2010/main" val="3295295227"/>
              </p:ext>
            </p:extLst>
          </p:nvPr>
        </p:nvGraphicFramePr>
        <p:xfrm>
          <a:off x="1143000" y="801355"/>
          <a:ext cx="6629401" cy="4837445"/>
        </p:xfrm>
        <a:graphic>
          <a:graphicData uri="http://schemas.openxmlformats.org/drawingml/2006/table">
            <a:tbl>
              <a:tblPr firstRow="1" firstCol="1" bandRow="1">
                <a:tableStyleId>{5C22544A-7EE6-4342-B048-85BDC9FD1C3A}</a:tableStyleId>
              </a:tblPr>
              <a:tblGrid>
                <a:gridCol w="429070">
                  <a:extLst>
                    <a:ext uri="{9D8B030D-6E8A-4147-A177-3AD203B41FA5}">
                      <a16:colId xmlns:a16="http://schemas.microsoft.com/office/drawing/2014/main" val="20000"/>
                    </a:ext>
                  </a:extLst>
                </a:gridCol>
                <a:gridCol w="952056">
                  <a:extLst>
                    <a:ext uri="{9D8B030D-6E8A-4147-A177-3AD203B41FA5}">
                      <a16:colId xmlns:a16="http://schemas.microsoft.com/office/drawing/2014/main" val="20001"/>
                    </a:ext>
                  </a:extLst>
                </a:gridCol>
                <a:gridCol w="883920">
                  <a:extLst>
                    <a:ext uri="{9D8B030D-6E8A-4147-A177-3AD203B41FA5}">
                      <a16:colId xmlns:a16="http://schemas.microsoft.com/office/drawing/2014/main" val="20002"/>
                    </a:ext>
                  </a:extLst>
                </a:gridCol>
                <a:gridCol w="828675">
                  <a:extLst>
                    <a:ext uri="{9D8B030D-6E8A-4147-A177-3AD203B41FA5}">
                      <a16:colId xmlns:a16="http://schemas.microsoft.com/office/drawing/2014/main" val="20003"/>
                    </a:ext>
                  </a:extLst>
                </a:gridCol>
                <a:gridCol w="863049">
                  <a:extLst>
                    <a:ext uri="{9D8B030D-6E8A-4147-A177-3AD203B41FA5}">
                      <a16:colId xmlns:a16="http://schemas.microsoft.com/office/drawing/2014/main" val="20004"/>
                    </a:ext>
                  </a:extLst>
                </a:gridCol>
                <a:gridCol w="1070526">
                  <a:extLst>
                    <a:ext uri="{9D8B030D-6E8A-4147-A177-3AD203B41FA5}">
                      <a16:colId xmlns:a16="http://schemas.microsoft.com/office/drawing/2014/main" val="20005"/>
                    </a:ext>
                  </a:extLst>
                </a:gridCol>
                <a:gridCol w="718185">
                  <a:extLst>
                    <a:ext uri="{9D8B030D-6E8A-4147-A177-3AD203B41FA5}">
                      <a16:colId xmlns:a16="http://schemas.microsoft.com/office/drawing/2014/main" val="20006"/>
                    </a:ext>
                  </a:extLst>
                </a:gridCol>
                <a:gridCol w="883920">
                  <a:extLst>
                    <a:ext uri="{9D8B030D-6E8A-4147-A177-3AD203B41FA5}">
                      <a16:colId xmlns:a16="http://schemas.microsoft.com/office/drawing/2014/main" val="20007"/>
                    </a:ext>
                  </a:extLst>
                </a:gridCol>
              </a:tblGrid>
              <a:tr h="534101">
                <a:tc>
                  <a:txBody>
                    <a:bodyPr/>
                    <a:lstStyle/>
                    <a:p>
                      <a:pPr marL="0" marR="0">
                        <a:spcBef>
                          <a:spcPts val="0"/>
                        </a:spcBef>
                        <a:spcAft>
                          <a:spcPts val="0"/>
                        </a:spcAft>
                      </a:pPr>
                      <a:r>
                        <a:rPr lang="en-US" sz="900" dirty="0">
                          <a:effectLst/>
                        </a:rPr>
                        <a:t>Time (in min) </a:t>
                      </a:r>
                      <a:endParaRPr lang="en-US" sz="1100" dirty="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Content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Learning Aid/Methodology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Faculty Approach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Typical Student Activity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Skill /Competency Developed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Course </a:t>
                      </a:r>
                      <a:endParaRPr lang="en-US" sz="1100">
                        <a:effectLst/>
                      </a:endParaRPr>
                    </a:p>
                    <a:p>
                      <a:pPr marL="0" marR="0">
                        <a:spcBef>
                          <a:spcPts val="0"/>
                        </a:spcBef>
                        <a:spcAft>
                          <a:spcPts val="0"/>
                        </a:spcAft>
                      </a:pPr>
                      <a:r>
                        <a:rPr lang="en-US" sz="900">
                          <a:effectLst/>
                        </a:rPr>
                        <a:t>Outcomes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Program Outcomes </a:t>
                      </a:r>
                      <a:endParaRPr lang="en-US" sz="1100">
                        <a:effectLst/>
                      </a:endParaRPr>
                    </a:p>
                    <a:p>
                      <a:pPr marL="0" marR="0">
                        <a:spcBef>
                          <a:spcPts val="0"/>
                        </a:spcBef>
                        <a:spcAft>
                          <a:spcPts val="0"/>
                        </a:spcAft>
                      </a:pPr>
                      <a:r>
                        <a:rPr lang="en-US" sz="900">
                          <a:effectLst/>
                        </a:rPr>
                        <a:t> </a:t>
                      </a:r>
                      <a:endParaRPr lang="en-US" sz="1100">
                        <a:solidFill>
                          <a:srgbClr val="000000"/>
                        </a:solidFill>
                        <a:effectLst/>
                        <a:latin typeface="Times New Roman"/>
                        <a:ea typeface="Calibri"/>
                      </a:endParaRPr>
                    </a:p>
                  </a:txBody>
                  <a:tcPr marL="64008" marR="64008" marT="0" marB="0"/>
                </a:tc>
                <a:extLst>
                  <a:ext uri="{0D108BD9-81ED-4DB2-BD59-A6C34878D82A}">
                    <a16:rowId xmlns:a16="http://schemas.microsoft.com/office/drawing/2014/main" val="10000"/>
                  </a:ext>
                </a:extLst>
              </a:tr>
              <a:tr h="1228432">
                <a:tc>
                  <a:txBody>
                    <a:bodyPr/>
                    <a:lstStyle/>
                    <a:p>
                      <a:pPr marL="0" marR="0">
                        <a:lnSpc>
                          <a:spcPct val="115000"/>
                        </a:lnSpc>
                        <a:spcBef>
                          <a:spcPts val="0"/>
                        </a:spcBef>
                        <a:spcAft>
                          <a:spcPts val="1000"/>
                        </a:spcAft>
                      </a:pPr>
                      <a:r>
                        <a:rPr lang="en-US" sz="1100">
                          <a:effectLst/>
                        </a:rPr>
                        <a:t>15</a:t>
                      </a:r>
                      <a:endParaRPr lang="en-US" sz="1000">
                        <a:effectLst/>
                        <a:latin typeface="Segoe UI"/>
                        <a:ea typeface="Calibri"/>
                        <a:cs typeface="Times New Roman"/>
                      </a:endParaRPr>
                    </a:p>
                  </a:txBody>
                  <a:tcPr marL="64008" marR="64008" marT="0" marB="0"/>
                </a:tc>
                <a:tc>
                  <a:txBody>
                    <a:bodyPr/>
                    <a:lstStyle/>
                    <a:p>
                      <a:pPr marL="0" marR="0">
                        <a:lnSpc>
                          <a:spcPct val="115000"/>
                        </a:lnSpc>
                        <a:spcBef>
                          <a:spcPts val="0"/>
                        </a:spcBef>
                        <a:spcAft>
                          <a:spcPts val="0"/>
                        </a:spcAft>
                      </a:pPr>
                      <a:r>
                        <a:rPr lang="en-US" sz="1100">
                          <a:effectLst/>
                        </a:rPr>
                        <a:t>Nondeterministic Polynomial Time. </a:t>
                      </a:r>
                      <a:endParaRPr lang="en-US" sz="1000">
                        <a:effectLst/>
                      </a:endParaRPr>
                    </a:p>
                    <a:p>
                      <a:pPr marL="0" marR="0">
                        <a:lnSpc>
                          <a:spcPct val="115000"/>
                        </a:lnSpc>
                        <a:spcBef>
                          <a:spcPts val="0"/>
                        </a:spcBef>
                        <a:spcAft>
                          <a:spcPts val="1000"/>
                        </a:spcAft>
                      </a:pPr>
                      <a:r>
                        <a:rPr lang="en-US" sz="1100">
                          <a:effectLst/>
                        </a:rPr>
                        <a:t>, </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Presentation</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a:effectLst/>
                        </a:rPr>
                        <a:t>Explain </a:t>
                      </a:r>
                    </a:p>
                    <a:p>
                      <a:pPr marL="0" marR="0">
                        <a:lnSpc>
                          <a:spcPct val="115000"/>
                        </a:lnSpc>
                        <a:spcBef>
                          <a:spcPts val="0"/>
                        </a:spcBef>
                        <a:spcAft>
                          <a:spcPts val="1000"/>
                        </a:spcAft>
                      </a:pPr>
                      <a:r>
                        <a:rPr lang="en-US" sz="1100">
                          <a:effectLst/>
                        </a:rPr>
                        <a:t>Facilitates</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Listens </a:t>
                      </a:r>
                    </a:p>
                    <a:p>
                      <a:pPr marL="0" marR="0">
                        <a:lnSpc>
                          <a:spcPct val="115000"/>
                        </a:lnSpc>
                        <a:spcBef>
                          <a:spcPts val="0"/>
                        </a:spcBef>
                        <a:spcAft>
                          <a:spcPts val="1000"/>
                        </a:spcAft>
                      </a:pPr>
                      <a:r>
                        <a:rPr lang="en-US" sz="1100">
                          <a:effectLst/>
                        </a:rPr>
                        <a:t> </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 </a:t>
                      </a:r>
                    </a:p>
                    <a:p>
                      <a:pPr marL="0" marR="0">
                        <a:spcBef>
                          <a:spcPts val="0"/>
                        </a:spcBef>
                        <a:spcAft>
                          <a:spcPts val="0"/>
                        </a:spcAft>
                      </a:pPr>
                      <a:r>
                        <a:rPr lang="en-US" sz="1100">
                          <a:effectLst/>
                        </a:rPr>
                        <a:t>Comprehension </a:t>
                      </a:r>
                    </a:p>
                    <a:p>
                      <a:pPr marL="0" marR="0">
                        <a:spcBef>
                          <a:spcPts val="0"/>
                        </a:spcBef>
                        <a:spcAft>
                          <a:spcPts val="0"/>
                        </a:spcAft>
                      </a:pPr>
                      <a:r>
                        <a:rPr lang="en-US" sz="1100">
                          <a:effectLst/>
                        </a:rPr>
                        <a:t>Application </a:t>
                      </a:r>
                    </a:p>
                    <a:p>
                      <a:pPr marL="0" marR="0">
                        <a:lnSpc>
                          <a:spcPct val="115000"/>
                        </a:lnSpc>
                        <a:spcBef>
                          <a:spcPts val="0"/>
                        </a:spcBef>
                        <a:spcAft>
                          <a:spcPts val="1000"/>
                        </a:spcAft>
                      </a:pPr>
                      <a:r>
                        <a:rPr lang="en-US" sz="1100">
                          <a:effectLst/>
                        </a:rPr>
                        <a:t> </a:t>
                      </a:r>
                      <a:endParaRPr lang="en-US" sz="1000">
                        <a:effectLst/>
                        <a:latin typeface="Segoe UI"/>
                        <a:ea typeface="Calibri"/>
                        <a:cs typeface="Times New Roman"/>
                      </a:endParaRPr>
                    </a:p>
                  </a:txBody>
                  <a:tcPr marL="64008" marR="64008" marT="0" marB="0"/>
                </a:tc>
                <a:tc rowSpan="4">
                  <a:txBody>
                    <a:bodyPr/>
                    <a:lstStyle/>
                    <a:p>
                      <a:pPr marL="0" marR="0">
                        <a:lnSpc>
                          <a:spcPct val="115000"/>
                        </a:lnSpc>
                        <a:spcBef>
                          <a:spcPts val="0"/>
                        </a:spcBef>
                        <a:spcAft>
                          <a:spcPts val="0"/>
                        </a:spcAft>
                      </a:pPr>
                      <a:r>
                        <a:rPr lang="en-US" sz="1200" dirty="0">
                          <a:effectLst/>
                          <a:latin typeface="Times New Roman"/>
                          <a:ea typeface="Calibri"/>
                          <a:cs typeface="Mangal"/>
                        </a:rPr>
                        <a:t>CO3, CO5</a:t>
                      </a:r>
                      <a:endParaRPr lang="en-US" sz="1100" dirty="0">
                        <a:effectLst/>
                        <a:latin typeface="Calibri"/>
                        <a:ea typeface="Calibri"/>
                        <a:cs typeface="Mangal"/>
                      </a:endParaRPr>
                    </a:p>
                  </a:txBody>
                  <a:tcPr marL="68580" marR="68580" marT="0" marB="0"/>
                </a:tc>
                <a:tc rowSpan="4">
                  <a:txBody>
                    <a:bodyPr/>
                    <a:lstStyle/>
                    <a:p>
                      <a:pPr marL="0" marR="0">
                        <a:lnSpc>
                          <a:spcPct val="115000"/>
                        </a:lnSpc>
                        <a:spcBef>
                          <a:spcPts val="0"/>
                        </a:spcBef>
                        <a:spcAft>
                          <a:spcPts val="0"/>
                        </a:spcAft>
                      </a:pPr>
                      <a:r>
                        <a:rPr lang="en-US" sz="1200" dirty="0">
                          <a:effectLst/>
                          <a:latin typeface="Times New Roman"/>
                          <a:ea typeface="Calibri"/>
                          <a:cs typeface="Mangal"/>
                        </a:rPr>
                        <a:t>POa1,</a:t>
                      </a:r>
                      <a:endParaRPr lang="en-US" sz="1100" dirty="0">
                        <a:effectLst/>
                        <a:latin typeface="Calibri"/>
                        <a:ea typeface="Calibri"/>
                        <a:cs typeface="Mangal"/>
                      </a:endParaRPr>
                    </a:p>
                    <a:p>
                      <a:pPr marL="0" marR="0">
                        <a:lnSpc>
                          <a:spcPct val="115000"/>
                        </a:lnSpc>
                        <a:spcBef>
                          <a:spcPts val="0"/>
                        </a:spcBef>
                        <a:spcAft>
                          <a:spcPts val="0"/>
                        </a:spcAft>
                      </a:pPr>
                      <a:r>
                        <a:rPr lang="en-US" sz="1200" dirty="0">
                          <a:effectLst/>
                          <a:latin typeface="Times New Roman"/>
                          <a:ea typeface="Calibri"/>
                          <a:cs typeface="Mangal"/>
                        </a:rPr>
                        <a:t>POb2,</a:t>
                      </a:r>
                      <a:endParaRPr lang="en-US" sz="1100" dirty="0">
                        <a:effectLst/>
                        <a:latin typeface="Calibri"/>
                        <a:ea typeface="Calibri"/>
                        <a:cs typeface="Mangal"/>
                      </a:endParaRPr>
                    </a:p>
                    <a:p>
                      <a:pPr marL="0" marR="0">
                        <a:lnSpc>
                          <a:spcPct val="115000"/>
                        </a:lnSpc>
                        <a:spcBef>
                          <a:spcPts val="0"/>
                        </a:spcBef>
                        <a:spcAft>
                          <a:spcPts val="0"/>
                        </a:spcAft>
                      </a:pPr>
                      <a:r>
                        <a:rPr lang="en-US" sz="1200" dirty="0">
                          <a:effectLst/>
                          <a:latin typeface="Times New Roman"/>
                          <a:ea typeface="Calibri"/>
                          <a:cs typeface="Mangal"/>
                        </a:rPr>
                        <a:t>POc1, Pod2, POg1, POl2</a:t>
                      </a:r>
                      <a:endParaRPr lang="en-US" sz="1100" dirty="0">
                        <a:effectLst/>
                        <a:latin typeface="Calibri"/>
                        <a:ea typeface="Calibri"/>
                        <a:cs typeface="Mangal"/>
                      </a:endParaRPr>
                    </a:p>
                  </a:txBody>
                  <a:tcPr marL="68580" marR="68580" marT="0" marB="0"/>
                </a:tc>
                <a:extLst>
                  <a:ext uri="{0D108BD9-81ED-4DB2-BD59-A6C34878D82A}">
                    <a16:rowId xmlns:a16="http://schemas.microsoft.com/office/drawing/2014/main" val="10001"/>
                  </a:ext>
                </a:extLst>
              </a:tr>
              <a:tr h="1345188">
                <a:tc>
                  <a:txBody>
                    <a:bodyPr/>
                    <a:lstStyle/>
                    <a:p>
                      <a:pPr marL="0" marR="0">
                        <a:lnSpc>
                          <a:spcPct val="115000"/>
                        </a:lnSpc>
                        <a:spcBef>
                          <a:spcPts val="0"/>
                        </a:spcBef>
                        <a:spcAft>
                          <a:spcPts val="1000"/>
                        </a:spcAft>
                      </a:pPr>
                      <a:r>
                        <a:rPr lang="en-US" sz="1100">
                          <a:effectLst/>
                        </a:rPr>
                        <a:t>20</a:t>
                      </a:r>
                      <a:endParaRPr lang="en-US" sz="1000">
                        <a:effectLst/>
                        <a:latin typeface="Segoe UI"/>
                        <a:ea typeface="Calibri"/>
                        <a:cs typeface="Times New Roman"/>
                      </a:endParaRPr>
                    </a:p>
                  </a:txBody>
                  <a:tcPr marL="64008" marR="64008" marT="0" marB="0"/>
                </a:tc>
                <a:tc>
                  <a:txBody>
                    <a:bodyPr/>
                    <a:lstStyle/>
                    <a:p>
                      <a:pPr marL="0" marR="0">
                        <a:lnSpc>
                          <a:spcPct val="115000"/>
                        </a:lnSpc>
                        <a:spcBef>
                          <a:spcPts val="0"/>
                        </a:spcBef>
                        <a:spcAft>
                          <a:spcPts val="0"/>
                        </a:spcAft>
                      </a:pPr>
                      <a:r>
                        <a:rPr lang="en-US" sz="1100">
                          <a:effectLst/>
                        </a:rPr>
                        <a:t>An NP</a:t>
                      </a:r>
                      <a:endParaRPr lang="en-US" sz="1000">
                        <a:effectLst/>
                      </a:endParaRPr>
                    </a:p>
                    <a:p>
                      <a:pPr marL="0" marR="0">
                        <a:lnSpc>
                          <a:spcPct val="115000"/>
                        </a:lnSpc>
                        <a:spcBef>
                          <a:spcPts val="0"/>
                        </a:spcBef>
                        <a:spcAft>
                          <a:spcPts val="1000"/>
                        </a:spcAft>
                      </a:pPr>
                      <a:r>
                        <a:rPr lang="en-US" sz="1100">
                          <a:effectLst/>
                        </a:rPr>
                        <a:t>Example: </a:t>
                      </a:r>
                      <a:endParaRPr lang="en-US" sz="1000">
                        <a:effectLst/>
                        <a:latin typeface="Segoe UI"/>
                        <a:ea typeface="Calibri"/>
                        <a:cs typeface="Times New Roman"/>
                      </a:endParaRPr>
                    </a:p>
                  </a:txBody>
                  <a:tcPr marL="64008" marR="64008" marT="0" marB="0"/>
                </a:tc>
                <a:tc>
                  <a:txBody>
                    <a:bodyPr/>
                    <a:lstStyle/>
                    <a:p>
                      <a:pPr marL="0" marR="0">
                        <a:lnSpc>
                          <a:spcPct val="115000"/>
                        </a:lnSpc>
                        <a:spcBef>
                          <a:spcPts val="0"/>
                        </a:spcBef>
                        <a:spcAft>
                          <a:spcPts val="1000"/>
                        </a:spcAft>
                      </a:pPr>
                      <a:r>
                        <a:rPr lang="en-US" sz="1100">
                          <a:effectLst/>
                        </a:rPr>
                        <a:t>Presentation </a:t>
                      </a:r>
                      <a:endParaRPr lang="en-US" sz="1000">
                        <a:effectLst/>
                      </a:endParaRPr>
                    </a:p>
                    <a:p>
                      <a:pPr marL="0" marR="0">
                        <a:lnSpc>
                          <a:spcPct val="115000"/>
                        </a:lnSpc>
                        <a:spcBef>
                          <a:spcPts val="0"/>
                        </a:spcBef>
                        <a:spcAft>
                          <a:spcPts val="1000"/>
                        </a:spcAft>
                      </a:pPr>
                      <a:r>
                        <a:rPr lang="en-US" sz="1100">
                          <a:effectLst/>
                        </a:rPr>
                        <a:t>And Blackboared</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Introduces </a:t>
                      </a:r>
                    </a:p>
                    <a:p>
                      <a:pPr marL="0" marR="0">
                        <a:lnSpc>
                          <a:spcPct val="115000"/>
                        </a:lnSpc>
                        <a:spcBef>
                          <a:spcPts val="0"/>
                        </a:spcBef>
                        <a:spcAft>
                          <a:spcPts val="1000"/>
                        </a:spcAft>
                      </a:pPr>
                      <a:r>
                        <a:rPr lang="en-US" sz="1100">
                          <a:effectLst/>
                        </a:rPr>
                        <a:t>Facilitates</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Listens </a:t>
                      </a:r>
                    </a:p>
                    <a:p>
                      <a:pPr marL="0" marR="0">
                        <a:spcBef>
                          <a:spcPts val="0"/>
                        </a:spcBef>
                        <a:spcAft>
                          <a:spcPts val="0"/>
                        </a:spcAft>
                      </a:pPr>
                      <a:r>
                        <a:rPr lang="en-US" sz="1100">
                          <a:effectLst/>
                        </a:rPr>
                        <a:t>Participate </a:t>
                      </a:r>
                    </a:p>
                    <a:p>
                      <a:pPr marL="0" marR="0">
                        <a:spcBef>
                          <a:spcPts val="0"/>
                        </a:spcBef>
                        <a:spcAft>
                          <a:spcPts val="0"/>
                        </a:spcAft>
                      </a:pPr>
                      <a:r>
                        <a:rPr lang="en-US" sz="1100">
                          <a:effectLst/>
                        </a:rPr>
                        <a:t>Discuss </a:t>
                      </a:r>
                      <a:endParaRPr lang="en-US" sz="1100">
                        <a:solidFill>
                          <a:srgbClr val="000000"/>
                        </a:solidFill>
                        <a:effectLst/>
                        <a:latin typeface="Times New Roman"/>
                        <a:ea typeface="Calibri"/>
                      </a:endParaRPr>
                    </a:p>
                  </a:txBody>
                  <a:tcPr marL="64008" marR="64008" marT="0" marB="0"/>
                </a:tc>
                <a:tc>
                  <a:txBody>
                    <a:bodyPr/>
                    <a:lstStyle/>
                    <a:p>
                      <a:pPr marL="0" marR="0">
                        <a:lnSpc>
                          <a:spcPct val="115000"/>
                        </a:lnSpc>
                        <a:spcBef>
                          <a:spcPts val="0"/>
                        </a:spcBef>
                        <a:spcAft>
                          <a:spcPts val="1000"/>
                        </a:spcAft>
                      </a:pPr>
                      <a:r>
                        <a:rPr lang="en-US" sz="1100">
                          <a:effectLst/>
                        </a:rPr>
                        <a:t> Knowledge</a:t>
                      </a:r>
                      <a:endParaRPr lang="en-US" sz="1000">
                        <a:effectLst/>
                        <a:latin typeface="Segoe UI"/>
                        <a:ea typeface="Calibri"/>
                        <a:cs typeface="Times New Roman"/>
                      </a:endParaRPr>
                    </a:p>
                  </a:txBody>
                  <a:tcPr marL="64008" marR="64008"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1100248">
                <a:tc>
                  <a:txBody>
                    <a:bodyPr/>
                    <a:lstStyle/>
                    <a:p>
                      <a:pPr marL="0" marR="0">
                        <a:lnSpc>
                          <a:spcPct val="115000"/>
                        </a:lnSpc>
                        <a:spcBef>
                          <a:spcPts val="0"/>
                        </a:spcBef>
                        <a:spcAft>
                          <a:spcPts val="1000"/>
                        </a:spcAft>
                      </a:pPr>
                      <a:r>
                        <a:rPr lang="en-US" sz="1100">
                          <a:effectLst/>
                        </a:rPr>
                        <a:t>20</a:t>
                      </a:r>
                      <a:endParaRPr lang="en-US" sz="1000">
                        <a:effectLst/>
                        <a:latin typeface="Segoe UI"/>
                        <a:ea typeface="Calibri"/>
                        <a:cs typeface="Times New Roman"/>
                      </a:endParaRPr>
                    </a:p>
                  </a:txBody>
                  <a:tcPr marL="64008" marR="64008" marT="0" marB="0"/>
                </a:tc>
                <a:tc>
                  <a:txBody>
                    <a:bodyPr/>
                    <a:lstStyle/>
                    <a:p>
                      <a:pPr marL="0" marR="0">
                        <a:lnSpc>
                          <a:spcPct val="115000"/>
                        </a:lnSpc>
                        <a:spcBef>
                          <a:spcPts val="0"/>
                        </a:spcBef>
                        <a:spcAft>
                          <a:spcPts val="1000"/>
                        </a:spcAft>
                      </a:pPr>
                      <a:r>
                        <a:rPr lang="en-US" sz="1100">
                          <a:effectLst/>
                        </a:rPr>
                        <a:t>The Traveling Salesman Problem</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Session interspersed with discussion </a:t>
                      </a:r>
                    </a:p>
                    <a:p>
                      <a:pPr marL="0" marR="0">
                        <a:lnSpc>
                          <a:spcPct val="115000"/>
                        </a:lnSpc>
                        <a:spcBef>
                          <a:spcPts val="0"/>
                        </a:spcBef>
                        <a:spcAft>
                          <a:spcPts val="1000"/>
                        </a:spcAft>
                      </a:pPr>
                      <a:r>
                        <a:rPr lang="en-US" sz="1100">
                          <a:effectLst/>
                        </a:rPr>
                        <a:t> </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 Introduces </a:t>
                      </a:r>
                    </a:p>
                    <a:p>
                      <a:pPr marL="0" marR="0">
                        <a:lnSpc>
                          <a:spcPct val="115000"/>
                        </a:lnSpc>
                        <a:spcBef>
                          <a:spcPts val="0"/>
                        </a:spcBef>
                        <a:spcAft>
                          <a:spcPts val="1000"/>
                        </a:spcAft>
                      </a:pPr>
                      <a:r>
                        <a:rPr lang="en-US" sz="1100">
                          <a:effectLst/>
                        </a:rPr>
                        <a:t>Facilitates</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Listens </a:t>
                      </a:r>
                    </a:p>
                    <a:p>
                      <a:pPr marL="0" marR="0">
                        <a:spcBef>
                          <a:spcPts val="0"/>
                        </a:spcBef>
                        <a:spcAft>
                          <a:spcPts val="0"/>
                        </a:spcAft>
                      </a:pPr>
                      <a:r>
                        <a:rPr lang="en-US" sz="1100">
                          <a:effectLst/>
                        </a:rPr>
                        <a:t>Participate </a:t>
                      </a:r>
                    </a:p>
                    <a:p>
                      <a:pPr marL="0" marR="0">
                        <a:spcBef>
                          <a:spcPts val="0"/>
                        </a:spcBef>
                        <a:spcAft>
                          <a:spcPts val="0"/>
                        </a:spcAft>
                      </a:pPr>
                      <a:r>
                        <a:rPr lang="en-US" sz="1100">
                          <a:effectLst/>
                        </a:rPr>
                        <a:t>Discuss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a:effectLst/>
                        </a:rPr>
                        <a:t> </a:t>
                      </a:r>
                    </a:p>
                    <a:p>
                      <a:pPr marL="0" marR="0">
                        <a:lnSpc>
                          <a:spcPct val="115000"/>
                        </a:lnSpc>
                        <a:spcBef>
                          <a:spcPts val="0"/>
                        </a:spcBef>
                        <a:spcAft>
                          <a:spcPts val="1000"/>
                        </a:spcAft>
                      </a:pPr>
                      <a:r>
                        <a:rPr lang="en-US" sz="1100">
                          <a:effectLst/>
                        </a:rPr>
                        <a:t>Knowledge</a:t>
                      </a:r>
                      <a:endParaRPr lang="en-US" sz="1000">
                        <a:effectLst/>
                        <a:latin typeface="Segoe UI"/>
                        <a:ea typeface="Calibri"/>
                        <a:cs typeface="Times New Roman"/>
                      </a:endParaRPr>
                    </a:p>
                  </a:txBody>
                  <a:tcPr marL="64008" marR="64008"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3"/>
                  </a:ext>
                </a:extLst>
              </a:tr>
              <a:tr h="629476">
                <a:tc>
                  <a:txBody>
                    <a:bodyPr/>
                    <a:lstStyle/>
                    <a:p>
                      <a:pPr marL="0" marR="0">
                        <a:lnSpc>
                          <a:spcPct val="115000"/>
                        </a:lnSpc>
                        <a:spcBef>
                          <a:spcPts val="0"/>
                        </a:spcBef>
                        <a:spcAft>
                          <a:spcPts val="1000"/>
                        </a:spcAft>
                      </a:pPr>
                      <a:r>
                        <a:rPr lang="en-US" sz="1100">
                          <a:effectLst/>
                        </a:rPr>
                        <a:t>5</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Revision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a:effectLst/>
                        </a:rPr>
                        <a:t>Key Words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a:effectLst/>
                        </a:rPr>
                        <a:t>List </a:t>
                      </a:r>
                    </a:p>
                    <a:p>
                      <a:pPr marL="0" marR="0">
                        <a:spcBef>
                          <a:spcPts val="0"/>
                        </a:spcBef>
                        <a:spcAft>
                          <a:spcPts val="0"/>
                        </a:spcAft>
                      </a:pPr>
                      <a:r>
                        <a:rPr lang="en-US" sz="1100">
                          <a:effectLst/>
                        </a:rPr>
                        <a:t>Facilitates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a:effectLst/>
                        </a:rPr>
                        <a:t>Identifies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dirty="0">
                          <a:effectLst/>
                        </a:rPr>
                        <a:t>Knowledge </a:t>
                      </a:r>
                    </a:p>
                    <a:p>
                      <a:pPr marL="0" marR="0">
                        <a:spcBef>
                          <a:spcPts val="0"/>
                        </a:spcBef>
                        <a:spcAft>
                          <a:spcPts val="0"/>
                        </a:spcAft>
                      </a:pPr>
                      <a:r>
                        <a:rPr lang="en-US" sz="1100" dirty="0">
                          <a:effectLst/>
                        </a:rPr>
                        <a:t>Comprehension </a:t>
                      </a:r>
                      <a:endParaRPr lang="en-US" sz="1100" dirty="0">
                        <a:solidFill>
                          <a:srgbClr val="000000"/>
                        </a:solidFill>
                        <a:effectLst/>
                        <a:latin typeface="Times New Roman"/>
                        <a:ea typeface="Calibri"/>
                      </a:endParaRPr>
                    </a:p>
                  </a:txBody>
                  <a:tcPr marL="64008" marR="64008"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21032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
            <a:ext cx="6512511" cy="1143000"/>
          </a:xfrm>
        </p:spPr>
        <p:txBody>
          <a:bodyPr>
            <a:normAutofit/>
          </a:bodyPr>
          <a:lstStyle/>
          <a:p>
            <a:r>
              <a:rPr lang="en-GB" sz="3200" b="1" cap="all" dirty="0"/>
              <a:t>6.3	Non-deterministic Polynomial Time </a:t>
            </a:r>
            <a:endParaRPr lang="en-US" sz="3200" b="1" cap="all" dirty="0"/>
          </a:p>
        </p:txBody>
      </p:sp>
      <p:sp>
        <p:nvSpPr>
          <p:cNvPr id="3" name="Content Placeholder 2"/>
          <p:cNvSpPr>
            <a:spLocks noGrp="1"/>
          </p:cNvSpPr>
          <p:nvPr>
            <p:ph sz="quarter" idx="13"/>
          </p:nvPr>
        </p:nvSpPr>
        <p:spPr>
          <a:xfrm>
            <a:off x="457200" y="1773555"/>
            <a:ext cx="7848600" cy="3474720"/>
          </a:xfrm>
        </p:spPr>
        <p:txBody>
          <a:bodyPr>
            <a:normAutofit lnSpcReduction="10000"/>
          </a:bodyPr>
          <a:lstStyle/>
          <a:p>
            <a:pPr marL="0" indent="0">
              <a:buNone/>
            </a:pPr>
            <a:r>
              <a:rPr lang="en-US" sz="2400" b="1" dirty="0"/>
              <a:t>6.3.1 An NP example : The Travelling Salesman Problem</a:t>
            </a:r>
          </a:p>
          <a:p>
            <a:pPr lvl="1"/>
            <a:r>
              <a:rPr lang="en-US" sz="1900" dirty="0"/>
              <a:t>Traveling Salesman Problem (TSP) which show the power of NP as compare to P</a:t>
            </a:r>
          </a:p>
          <a:p>
            <a:pPr lvl="1"/>
            <a:r>
              <a:rPr lang="en-US" sz="1900" dirty="0"/>
              <a:t>The graph has a "Hamilton Circuit" of total weight at most W.</a:t>
            </a:r>
          </a:p>
          <a:p>
            <a:pPr lvl="1"/>
            <a:r>
              <a:rPr lang="en-US" sz="1900" dirty="0"/>
              <a:t>A Hamilton circuit is a set of edges that connect the nodes into a single cycle, with each node appearing exactly once.</a:t>
            </a:r>
          </a:p>
          <a:p>
            <a:pPr lvl="1"/>
            <a:r>
              <a:rPr lang="en-US" sz="1900" dirty="0"/>
              <a:t>e.g. The graph in Fig. 6.1 has only one Hamilton circuit (1, 2, 4, 5, 3) with weight 62.	Therefore the answer is "yes" if W is 62 or more otherwise it is "no".</a:t>
            </a:r>
          </a:p>
          <a:p>
            <a:pPr lvl="1"/>
            <a:endParaRPr lang="en-US" dirty="0"/>
          </a:p>
          <a:p>
            <a:pPr lvl="1"/>
            <a:endParaRPr lang="en-US" dirty="0"/>
          </a:p>
          <a:p>
            <a:pPr lvl="1"/>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4800600"/>
            <a:ext cx="2514600" cy="180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2694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3289" y="1219200"/>
            <a:ext cx="6512511" cy="4295968"/>
          </a:xfrm>
        </p:spPr>
        <p:txBody>
          <a:bodyPr/>
          <a:lstStyle/>
          <a:p>
            <a:endParaRPr lang="en-US" dirty="0"/>
          </a:p>
        </p:txBody>
      </p:sp>
      <p:sp>
        <p:nvSpPr>
          <p:cNvPr id="3" name="Content Placeholder 2"/>
          <p:cNvSpPr>
            <a:spLocks noGrp="1"/>
          </p:cNvSpPr>
          <p:nvPr>
            <p:ph sz="quarter" idx="13"/>
          </p:nvPr>
        </p:nvSpPr>
        <p:spPr>
          <a:xfrm>
            <a:off x="1143000" y="731520"/>
            <a:ext cx="6400800" cy="563880"/>
          </a:xfrm>
        </p:spPr>
        <p:txBody>
          <a:bodyPr/>
          <a:lstStyle/>
          <a:p>
            <a:r>
              <a:rPr lang="en-US" dirty="0"/>
              <a:t>Session 3</a:t>
            </a:r>
          </a:p>
        </p:txBody>
      </p:sp>
      <p:graphicFrame>
        <p:nvGraphicFramePr>
          <p:cNvPr id="4" name="Table 3"/>
          <p:cNvGraphicFramePr>
            <a:graphicFrameLocks noGrp="1"/>
          </p:cNvGraphicFramePr>
          <p:nvPr>
            <p:extLst>
              <p:ext uri="{D42A27DB-BD31-4B8C-83A1-F6EECF244321}">
                <p14:modId xmlns:p14="http://schemas.microsoft.com/office/powerpoint/2010/main" val="3045449775"/>
              </p:ext>
            </p:extLst>
          </p:nvPr>
        </p:nvGraphicFramePr>
        <p:xfrm>
          <a:off x="1143000" y="1295400"/>
          <a:ext cx="6400800" cy="4404493"/>
        </p:xfrm>
        <a:graphic>
          <a:graphicData uri="http://schemas.openxmlformats.org/drawingml/2006/table">
            <a:tbl>
              <a:tblPr firstRow="1" firstCol="1" bandRow="1">
                <a:tableStyleId>{5C22544A-7EE6-4342-B048-85BDC9FD1C3A}</a:tableStyleId>
              </a:tblPr>
              <a:tblGrid>
                <a:gridCol w="414274">
                  <a:extLst>
                    <a:ext uri="{9D8B030D-6E8A-4147-A177-3AD203B41FA5}">
                      <a16:colId xmlns:a16="http://schemas.microsoft.com/office/drawing/2014/main" val="20000"/>
                    </a:ext>
                  </a:extLst>
                </a:gridCol>
                <a:gridCol w="919226">
                  <a:extLst>
                    <a:ext uri="{9D8B030D-6E8A-4147-A177-3AD203B41FA5}">
                      <a16:colId xmlns:a16="http://schemas.microsoft.com/office/drawing/2014/main" val="20001"/>
                    </a:ext>
                  </a:extLst>
                </a:gridCol>
                <a:gridCol w="853440">
                  <a:extLst>
                    <a:ext uri="{9D8B030D-6E8A-4147-A177-3AD203B41FA5}">
                      <a16:colId xmlns:a16="http://schemas.microsoft.com/office/drawing/2014/main" val="20002"/>
                    </a:ext>
                  </a:extLst>
                </a:gridCol>
                <a:gridCol w="800100">
                  <a:extLst>
                    <a:ext uri="{9D8B030D-6E8A-4147-A177-3AD203B41FA5}">
                      <a16:colId xmlns:a16="http://schemas.microsoft.com/office/drawing/2014/main" val="20003"/>
                    </a:ext>
                  </a:extLst>
                </a:gridCol>
                <a:gridCol w="833289">
                  <a:extLst>
                    <a:ext uri="{9D8B030D-6E8A-4147-A177-3AD203B41FA5}">
                      <a16:colId xmlns:a16="http://schemas.microsoft.com/office/drawing/2014/main" val="20004"/>
                    </a:ext>
                  </a:extLst>
                </a:gridCol>
                <a:gridCol w="1033611">
                  <a:extLst>
                    <a:ext uri="{9D8B030D-6E8A-4147-A177-3AD203B41FA5}">
                      <a16:colId xmlns:a16="http://schemas.microsoft.com/office/drawing/2014/main" val="20005"/>
                    </a:ext>
                  </a:extLst>
                </a:gridCol>
                <a:gridCol w="693420">
                  <a:extLst>
                    <a:ext uri="{9D8B030D-6E8A-4147-A177-3AD203B41FA5}">
                      <a16:colId xmlns:a16="http://schemas.microsoft.com/office/drawing/2014/main" val="20006"/>
                    </a:ext>
                  </a:extLst>
                </a:gridCol>
                <a:gridCol w="853440">
                  <a:extLst>
                    <a:ext uri="{9D8B030D-6E8A-4147-A177-3AD203B41FA5}">
                      <a16:colId xmlns:a16="http://schemas.microsoft.com/office/drawing/2014/main" val="20007"/>
                    </a:ext>
                  </a:extLst>
                </a:gridCol>
              </a:tblGrid>
              <a:tr h="578676">
                <a:tc>
                  <a:txBody>
                    <a:bodyPr/>
                    <a:lstStyle/>
                    <a:p>
                      <a:pPr marL="0" marR="0">
                        <a:spcBef>
                          <a:spcPts val="0"/>
                        </a:spcBef>
                        <a:spcAft>
                          <a:spcPts val="0"/>
                        </a:spcAft>
                      </a:pPr>
                      <a:r>
                        <a:rPr lang="en-US" sz="900" dirty="0">
                          <a:effectLst/>
                        </a:rPr>
                        <a:t>Time (in min) </a:t>
                      </a:r>
                      <a:endParaRPr lang="en-US" sz="1100" dirty="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Content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Learning Aid/Methodology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Faculty Approach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Typical Student Activity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Skill /Competency Developed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Course </a:t>
                      </a:r>
                      <a:endParaRPr lang="en-US" sz="1100">
                        <a:effectLst/>
                      </a:endParaRPr>
                    </a:p>
                    <a:p>
                      <a:pPr marL="0" marR="0">
                        <a:spcBef>
                          <a:spcPts val="0"/>
                        </a:spcBef>
                        <a:spcAft>
                          <a:spcPts val="0"/>
                        </a:spcAft>
                      </a:pPr>
                      <a:r>
                        <a:rPr lang="en-US" sz="900">
                          <a:effectLst/>
                        </a:rPr>
                        <a:t>Outcomes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Program Outcomes </a:t>
                      </a:r>
                      <a:endParaRPr lang="en-US" sz="1100">
                        <a:effectLst/>
                      </a:endParaRPr>
                    </a:p>
                    <a:p>
                      <a:pPr marL="0" marR="0">
                        <a:spcBef>
                          <a:spcPts val="0"/>
                        </a:spcBef>
                        <a:spcAft>
                          <a:spcPts val="0"/>
                        </a:spcAft>
                      </a:pPr>
                      <a:r>
                        <a:rPr lang="en-US" sz="900">
                          <a:effectLst/>
                        </a:rPr>
                        <a:t> </a:t>
                      </a:r>
                      <a:endParaRPr lang="en-US" sz="1100">
                        <a:solidFill>
                          <a:srgbClr val="000000"/>
                        </a:solidFill>
                        <a:effectLst/>
                        <a:latin typeface="Times New Roman"/>
                        <a:ea typeface="Calibri"/>
                      </a:endParaRPr>
                    </a:p>
                  </a:txBody>
                  <a:tcPr marL="64008" marR="64008" marT="0" marB="0"/>
                </a:tc>
                <a:extLst>
                  <a:ext uri="{0D108BD9-81ED-4DB2-BD59-A6C34878D82A}">
                    <a16:rowId xmlns:a16="http://schemas.microsoft.com/office/drawing/2014/main" val="10000"/>
                  </a:ext>
                </a:extLst>
              </a:tr>
              <a:tr h="1597143">
                <a:tc>
                  <a:txBody>
                    <a:bodyPr/>
                    <a:lstStyle/>
                    <a:p>
                      <a:pPr marL="0" marR="0">
                        <a:lnSpc>
                          <a:spcPct val="115000"/>
                        </a:lnSpc>
                        <a:spcBef>
                          <a:spcPts val="0"/>
                        </a:spcBef>
                        <a:spcAft>
                          <a:spcPts val="1000"/>
                        </a:spcAft>
                      </a:pPr>
                      <a:r>
                        <a:rPr lang="en-US" sz="1100">
                          <a:effectLst/>
                        </a:rPr>
                        <a:t>20</a:t>
                      </a:r>
                      <a:endParaRPr lang="en-US" sz="1000">
                        <a:effectLst/>
                        <a:latin typeface="Segoe UI"/>
                        <a:ea typeface="Calibri"/>
                        <a:cs typeface="Times New Roman"/>
                      </a:endParaRPr>
                    </a:p>
                  </a:txBody>
                  <a:tcPr marL="64008" marR="64008" marT="0" marB="0"/>
                </a:tc>
                <a:tc>
                  <a:txBody>
                    <a:bodyPr/>
                    <a:lstStyle/>
                    <a:p>
                      <a:pPr marL="0" marR="0">
                        <a:lnSpc>
                          <a:spcPct val="115000"/>
                        </a:lnSpc>
                        <a:spcBef>
                          <a:spcPts val="0"/>
                        </a:spcBef>
                        <a:spcAft>
                          <a:spcPts val="0"/>
                        </a:spcAft>
                      </a:pPr>
                      <a:r>
                        <a:rPr lang="en-US" sz="1100">
                          <a:effectLst/>
                        </a:rPr>
                        <a:t>.Polynomial-Time Reductions NP-</a:t>
                      </a:r>
                      <a:endParaRPr lang="en-US" sz="1000">
                        <a:effectLst/>
                      </a:endParaRPr>
                    </a:p>
                    <a:p>
                      <a:pPr marL="0" marR="0">
                        <a:lnSpc>
                          <a:spcPct val="115000"/>
                        </a:lnSpc>
                        <a:spcBef>
                          <a:spcPts val="0"/>
                        </a:spcBef>
                        <a:spcAft>
                          <a:spcPts val="1000"/>
                        </a:spcAft>
                      </a:pPr>
                      <a:r>
                        <a:rPr lang="en-US" sz="1100">
                          <a:effectLst/>
                        </a:rPr>
                        <a:t>Complete Problems </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Presentation</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a:effectLst/>
                        </a:rPr>
                        <a:t>Explain </a:t>
                      </a:r>
                    </a:p>
                    <a:p>
                      <a:pPr marL="0" marR="0">
                        <a:lnSpc>
                          <a:spcPct val="115000"/>
                        </a:lnSpc>
                        <a:spcBef>
                          <a:spcPts val="0"/>
                        </a:spcBef>
                        <a:spcAft>
                          <a:spcPts val="1000"/>
                        </a:spcAft>
                      </a:pPr>
                      <a:r>
                        <a:rPr lang="en-US" sz="1100">
                          <a:effectLst/>
                        </a:rPr>
                        <a:t>Facilitates</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Listens </a:t>
                      </a:r>
                    </a:p>
                    <a:p>
                      <a:pPr marL="0" marR="0">
                        <a:lnSpc>
                          <a:spcPct val="115000"/>
                        </a:lnSpc>
                        <a:spcBef>
                          <a:spcPts val="0"/>
                        </a:spcBef>
                        <a:spcAft>
                          <a:spcPts val="1000"/>
                        </a:spcAft>
                      </a:pPr>
                      <a:r>
                        <a:rPr lang="en-US" sz="1100">
                          <a:effectLst/>
                        </a:rPr>
                        <a:t> </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 </a:t>
                      </a:r>
                    </a:p>
                    <a:p>
                      <a:pPr marL="0" marR="0">
                        <a:spcBef>
                          <a:spcPts val="0"/>
                        </a:spcBef>
                        <a:spcAft>
                          <a:spcPts val="0"/>
                        </a:spcAft>
                      </a:pPr>
                      <a:r>
                        <a:rPr lang="en-US" sz="1100">
                          <a:effectLst/>
                        </a:rPr>
                        <a:t>Comprehension </a:t>
                      </a:r>
                    </a:p>
                    <a:p>
                      <a:pPr marL="0" marR="0">
                        <a:spcBef>
                          <a:spcPts val="0"/>
                        </a:spcBef>
                        <a:spcAft>
                          <a:spcPts val="0"/>
                        </a:spcAft>
                      </a:pPr>
                      <a:r>
                        <a:rPr lang="en-US" sz="1100">
                          <a:effectLst/>
                        </a:rPr>
                        <a:t>Application </a:t>
                      </a:r>
                    </a:p>
                    <a:p>
                      <a:pPr marL="0" marR="0">
                        <a:lnSpc>
                          <a:spcPct val="115000"/>
                        </a:lnSpc>
                        <a:spcBef>
                          <a:spcPts val="0"/>
                        </a:spcBef>
                        <a:spcAft>
                          <a:spcPts val="1000"/>
                        </a:spcAft>
                      </a:pPr>
                      <a:r>
                        <a:rPr lang="en-US" sz="1100">
                          <a:effectLst/>
                        </a:rPr>
                        <a:t> </a:t>
                      </a:r>
                      <a:endParaRPr lang="en-US" sz="1000">
                        <a:effectLst/>
                        <a:latin typeface="Segoe UI"/>
                        <a:ea typeface="Calibri"/>
                        <a:cs typeface="Times New Roman"/>
                      </a:endParaRPr>
                    </a:p>
                  </a:txBody>
                  <a:tcPr marL="64008" marR="64008" marT="0" marB="0"/>
                </a:tc>
                <a:tc rowSpan="3">
                  <a:txBody>
                    <a:bodyPr/>
                    <a:lstStyle/>
                    <a:p>
                      <a:pPr marL="0" marR="0">
                        <a:lnSpc>
                          <a:spcPct val="115000"/>
                        </a:lnSpc>
                        <a:spcBef>
                          <a:spcPts val="0"/>
                        </a:spcBef>
                        <a:spcAft>
                          <a:spcPts val="0"/>
                        </a:spcAft>
                      </a:pPr>
                      <a:r>
                        <a:rPr lang="en-US" sz="1200" dirty="0">
                          <a:effectLst/>
                          <a:latin typeface="Times New Roman"/>
                          <a:ea typeface="Calibri"/>
                          <a:cs typeface="Mangal"/>
                        </a:rPr>
                        <a:t>CO3, CO5</a:t>
                      </a:r>
                      <a:endParaRPr lang="en-US" sz="1100" dirty="0">
                        <a:effectLst/>
                        <a:latin typeface="Calibri"/>
                        <a:ea typeface="Calibri"/>
                        <a:cs typeface="Mangal"/>
                      </a:endParaRPr>
                    </a:p>
                  </a:txBody>
                  <a:tcPr marL="68580" marR="68580" marT="0" marB="0"/>
                </a:tc>
                <a:tc rowSpan="3">
                  <a:txBody>
                    <a:bodyPr/>
                    <a:lstStyle/>
                    <a:p>
                      <a:pPr marL="0" marR="0">
                        <a:lnSpc>
                          <a:spcPct val="115000"/>
                        </a:lnSpc>
                        <a:spcBef>
                          <a:spcPts val="0"/>
                        </a:spcBef>
                        <a:spcAft>
                          <a:spcPts val="0"/>
                        </a:spcAft>
                      </a:pPr>
                      <a:r>
                        <a:rPr lang="en-US" sz="1200" dirty="0">
                          <a:effectLst/>
                          <a:latin typeface="Times New Roman"/>
                          <a:ea typeface="Calibri"/>
                          <a:cs typeface="Mangal"/>
                        </a:rPr>
                        <a:t>POa1,</a:t>
                      </a:r>
                      <a:endParaRPr lang="en-US" sz="1100" dirty="0">
                        <a:effectLst/>
                        <a:latin typeface="Calibri"/>
                        <a:ea typeface="Calibri"/>
                        <a:cs typeface="Mangal"/>
                      </a:endParaRPr>
                    </a:p>
                    <a:p>
                      <a:pPr marL="0" marR="0">
                        <a:lnSpc>
                          <a:spcPct val="115000"/>
                        </a:lnSpc>
                        <a:spcBef>
                          <a:spcPts val="0"/>
                        </a:spcBef>
                        <a:spcAft>
                          <a:spcPts val="0"/>
                        </a:spcAft>
                      </a:pPr>
                      <a:r>
                        <a:rPr lang="en-US" sz="1200" dirty="0">
                          <a:effectLst/>
                          <a:latin typeface="Times New Roman"/>
                          <a:ea typeface="Calibri"/>
                          <a:cs typeface="Mangal"/>
                        </a:rPr>
                        <a:t>POb2,</a:t>
                      </a:r>
                      <a:endParaRPr lang="en-US" sz="1100" dirty="0">
                        <a:effectLst/>
                        <a:latin typeface="Calibri"/>
                        <a:ea typeface="Calibri"/>
                        <a:cs typeface="Mangal"/>
                      </a:endParaRPr>
                    </a:p>
                    <a:p>
                      <a:pPr marL="0" marR="0">
                        <a:lnSpc>
                          <a:spcPct val="115000"/>
                        </a:lnSpc>
                        <a:spcBef>
                          <a:spcPts val="0"/>
                        </a:spcBef>
                        <a:spcAft>
                          <a:spcPts val="0"/>
                        </a:spcAft>
                      </a:pPr>
                      <a:r>
                        <a:rPr lang="en-US" sz="1200" dirty="0">
                          <a:effectLst/>
                          <a:latin typeface="Times New Roman"/>
                          <a:ea typeface="Calibri"/>
                          <a:cs typeface="Mangal"/>
                        </a:rPr>
                        <a:t>POc1, Pod2, POg1, POl2</a:t>
                      </a:r>
                      <a:endParaRPr lang="en-US" sz="1100" dirty="0">
                        <a:effectLst/>
                        <a:latin typeface="Calibri"/>
                        <a:ea typeface="Calibri"/>
                        <a:cs typeface="Mangal"/>
                      </a:endParaRPr>
                    </a:p>
                  </a:txBody>
                  <a:tcPr marL="68580" marR="68580" marT="0" marB="0"/>
                </a:tc>
                <a:extLst>
                  <a:ext uri="{0D108BD9-81ED-4DB2-BD59-A6C34878D82A}">
                    <a16:rowId xmlns:a16="http://schemas.microsoft.com/office/drawing/2014/main" val="10001"/>
                  </a:ext>
                </a:extLst>
              </a:tr>
              <a:tr h="1546665">
                <a:tc>
                  <a:txBody>
                    <a:bodyPr/>
                    <a:lstStyle/>
                    <a:p>
                      <a:pPr marL="0" marR="0">
                        <a:lnSpc>
                          <a:spcPct val="115000"/>
                        </a:lnSpc>
                        <a:spcBef>
                          <a:spcPts val="0"/>
                        </a:spcBef>
                        <a:spcAft>
                          <a:spcPts val="1000"/>
                        </a:spcAft>
                      </a:pPr>
                      <a:r>
                        <a:rPr lang="en-US" sz="1100">
                          <a:effectLst/>
                        </a:rPr>
                        <a:t>35</a:t>
                      </a:r>
                      <a:endParaRPr lang="en-US" sz="1000">
                        <a:effectLst/>
                        <a:latin typeface="Segoe UI"/>
                        <a:ea typeface="Calibri"/>
                        <a:cs typeface="Times New Roman"/>
                      </a:endParaRPr>
                    </a:p>
                  </a:txBody>
                  <a:tcPr marL="64008" marR="64008" marT="0" marB="0"/>
                </a:tc>
                <a:tc>
                  <a:txBody>
                    <a:bodyPr/>
                    <a:lstStyle/>
                    <a:p>
                      <a:pPr marL="0" marR="0">
                        <a:lnSpc>
                          <a:spcPct val="115000"/>
                        </a:lnSpc>
                        <a:spcBef>
                          <a:spcPts val="0"/>
                        </a:spcBef>
                        <a:spcAft>
                          <a:spcPts val="1000"/>
                        </a:spcAft>
                      </a:pPr>
                      <a:r>
                        <a:rPr lang="en-US" sz="1100">
                          <a:effectLst/>
                        </a:rPr>
                        <a:t> An NP-Complete Problem: The Satisfiability Problem,,</a:t>
                      </a:r>
                      <a:endParaRPr lang="en-US" sz="1000">
                        <a:effectLst/>
                        <a:latin typeface="Segoe UI"/>
                        <a:ea typeface="Calibri"/>
                        <a:cs typeface="Times New Roman"/>
                      </a:endParaRPr>
                    </a:p>
                  </a:txBody>
                  <a:tcPr marL="64008" marR="64008" marT="0" marB="0"/>
                </a:tc>
                <a:tc>
                  <a:txBody>
                    <a:bodyPr/>
                    <a:lstStyle/>
                    <a:p>
                      <a:pPr marL="0" marR="0">
                        <a:lnSpc>
                          <a:spcPct val="115000"/>
                        </a:lnSpc>
                        <a:spcBef>
                          <a:spcPts val="0"/>
                        </a:spcBef>
                        <a:spcAft>
                          <a:spcPts val="1000"/>
                        </a:spcAft>
                      </a:pPr>
                      <a:r>
                        <a:rPr lang="en-US" sz="1100">
                          <a:effectLst/>
                        </a:rPr>
                        <a:t>Presentation </a:t>
                      </a:r>
                      <a:endParaRPr lang="en-US" sz="1000">
                        <a:effectLst/>
                      </a:endParaRPr>
                    </a:p>
                    <a:p>
                      <a:pPr marL="0" marR="0">
                        <a:lnSpc>
                          <a:spcPct val="115000"/>
                        </a:lnSpc>
                        <a:spcBef>
                          <a:spcPts val="0"/>
                        </a:spcBef>
                        <a:spcAft>
                          <a:spcPts val="1000"/>
                        </a:spcAft>
                      </a:pPr>
                      <a:r>
                        <a:rPr lang="en-US" sz="1100">
                          <a:effectLst/>
                        </a:rPr>
                        <a:t>And Black board</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Introduces </a:t>
                      </a:r>
                    </a:p>
                    <a:p>
                      <a:pPr marL="0" marR="0">
                        <a:lnSpc>
                          <a:spcPct val="115000"/>
                        </a:lnSpc>
                        <a:spcBef>
                          <a:spcPts val="0"/>
                        </a:spcBef>
                        <a:spcAft>
                          <a:spcPts val="1000"/>
                        </a:spcAft>
                      </a:pPr>
                      <a:r>
                        <a:rPr lang="en-US" sz="1100">
                          <a:effectLst/>
                        </a:rPr>
                        <a:t>Facilitates</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Listens </a:t>
                      </a:r>
                    </a:p>
                    <a:p>
                      <a:pPr marL="0" marR="0">
                        <a:spcBef>
                          <a:spcPts val="0"/>
                        </a:spcBef>
                        <a:spcAft>
                          <a:spcPts val="0"/>
                        </a:spcAft>
                      </a:pPr>
                      <a:r>
                        <a:rPr lang="en-US" sz="1100">
                          <a:effectLst/>
                        </a:rPr>
                        <a:t>Participate </a:t>
                      </a:r>
                    </a:p>
                    <a:p>
                      <a:pPr marL="0" marR="0">
                        <a:spcBef>
                          <a:spcPts val="0"/>
                        </a:spcBef>
                        <a:spcAft>
                          <a:spcPts val="0"/>
                        </a:spcAft>
                      </a:pPr>
                      <a:r>
                        <a:rPr lang="en-US" sz="1100">
                          <a:effectLst/>
                        </a:rPr>
                        <a:t>Discuss </a:t>
                      </a:r>
                      <a:endParaRPr lang="en-US" sz="1100">
                        <a:solidFill>
                          <a:srgbClr val="000000"/>
                        </a:solidFill>
                        <a:effectLst/>
                        <a:latin typeface="Times New Roman"/>
                        <a:ea typeface="Calibri"/>
                      </a:endParaRPr>
                    </a:p>
                  </a:txBody>
                  <a:tcPr marL="64008" marR="64008" marT="0" marB="0"/>
                </a:tc>
                <a:tc>
                  <a:txBody>
                    <a:bodyPr/>
                    <a:lstStyle/>
                    <a:p>
                      <a:pPr marL="0" marR="0">
                        <a:lnSpc>
                          <a:spcPct val="115000"/>
                        </a:lnSpc>
                        <a:spcBef>
                          <a:spcPts val="0"/>
                        </a:spcBef>
                        <a:spcAft>
                          <a:spcPts val="1000"/>
                        </a:spcAft>
                      </a:pPr>
                      <a:r>
                        <a:rPr lang="en-US" sz="1100">
                          <a:effectLst/>
                        </a:rPr>
                        <a:t> Knowledge</a:t>
                      </a:r>
                      <a:endParaRPr lang="en-US" sz="1000">
                        <a:effectLst/>
                        <a:latin typeface="Segoe UI"/>
                        <a:ea typeface="Calibri"/>
                        <a:cs typeface="Times New Roman"/>
                      </a:endParaRPr>
                    </a:p>
                  </a:txBody>
                  <a:tcPr marL="64008" marR="64008"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682009">
                <a:tc>
                  <a:txBody>
                    <a:bodyPr/>
                    <a:lstStyle/>
                    <a:p>
                      <a:pPr marL="0" marR="0">
                        <a:lnSpc>
                          <a:spcPct val="115000"/>
                        </a:lnSpc>
                        <a:spcBef>
                          <a:spcPts val="0"/>
                        </a:spcBef>
                        <a:spcAft>
                          <a:spcPts val="1000"/>
                        </a:spcAft>
                      </a:pPr>
                      <a:r>
                        <a:rPr lang="en-US" sz="1100">
                          <a:effectLst/>
                        </a:rPr>
                        <a:t>5</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Revision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a:effectLst/>
                        </a:rPr>
                        <a:t>Key Words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a:effectLst/>
                        </a:rPr>
                        <a:t>List </a:t>
                      </a:r>
                    </a:p>
                    <a:p>
                      <a:pPr marL="0" marR="0">
                        <a:spcBef>
                          <a:spcPts val="0"/>
                        </a:spcBef>
                        <a:spcAft>
                          <a:spcPts val="0"/>
                        </a:spcAft>
                      </a:pPr>
                      <a:r>
                        <a:rPr lang="en-US" sz="1100">
                          <a:effectLst/>
                        </a:rPr>
                        <a:t>Facilitates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dirty="0">
                          <a:effectLst/>
                        </a:rPr>
                        <a:t>Identifies </a:t>
                      </a:r>
                      <a:endParaRPr lang="en-US" sz="1100" dirty="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dirty="0">
                          <a:effectLst/>
                        </a:rPr>
                        <a:t>Knowledge </a:t>
                      </a:r>
                    </a:p>
                    <a:p>
                      <a:pPr marL="0" marR="0">
                        <a:spcBef>
                          <a:spcPts val="0"/>
                        </a:spcBef>
                        <a:spcAft>
                          <a:spcPts val="0"/>
                        </a:spcAft>
                      </a:pPr>
                      <a:r>
                        <a:rPr lang="en-US" sz="1100" dirty="0">
                          <a:effectLst/>
                        </a:rPr>
                        <a:t>Comprehension </a:t>
                      </a:r>
                      <a:endParaRPr lang="en-US" sz="1100" dirty="0">
                        <a:solidFill>
                          <a:srgbClr val="000000"/>
                        </a:solidFill>
                        <a:effectLst/>
                        <a:latin typeface="Times New Roman"/>
                        <a:ea typeface="Calibri"/>
                      </a:endParaRPr>
                    </a:p>
                  </a:txBody>
                  <a:tcPr marL="64008" marR="64008"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287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200" y="685800"/>
            <a:ext cx="6512511" cy="1143000"/>
          </a:xfrm>
        </p:spPr>
        <p:txBody>
          <a:bodyPr>
            <a:normAutofit fontScale="90000"/>
          </a:bodyPr>
          <a:lstStyle/>
          <a:p>
            <a:r>
              <a:rPr lang="en-GB" sz="3600" b="1" cap="all" dirty="0"/>
              <a:t>6.4	Polynomial Time Reductions</a:t>
            </a:r>
            <a:r>
              <a:rPr lang="en-GB" b="1" cap="all" dirty="0"/>
              <a:t> </a:t>
            </a:r>
            <a:br>
              <a:rPr lang="en-US" b="1" cap="all" dirty="0"/>
            </a:br>
            <a:endParaRPr lang="en-US" dirty="0"/>
          </a:p>
        </p:txBody>
      </p:sp>
      <p:sp>
        <p:nvSpPr>
          <p:cNvPr id="3" name="Content Placeholder 2"/>
          <p:cNvSpPr>
            <a:spLocks noGrp="1"/>
          </p:cNvSpPr>
          <p:nvPr>
            <p:ph sz="quarter" idx="13"/>
          </p:nvPr>
        </p:nvSpPr>
        <p:spPr>
          <a:xfrm>
            <a:off x="1295400" y="2082165"/>
            <a:ext cx="6400800" cy="3474720"/>
          </a:xfrm>
        </p:spPr>
        <p:txBody>
          <a:bodyPr/>
          <a:lstStyle/>
          <a:p>
            <a:r>
              <a:rPr lang="en-US" sz="2000" b="1" dirty="0"/>
              <a:t>Definition : </a:t>
            </a:r>
            <a:r>
              <a:rPr lang="en-US" sz="2000" dirty="0"/>
              <a:t>A polynomial time reduction is a polynomial time algorithm which constructs the instance of a problem P</a:t>
            </a:r>
            <a:r>
              <a:rPr lang="en-US" sz="2000" baseline="-25000" dirty="0"/>
              <a:t>2</a:t>
            </a:r>
            <a:r>
              <a:rPr lang="en-US" sz="2000" dirty="0"/>
              <a:t> from the instances of some other problem P</a:t>
            </a:r>
            <a:r>
              <a:rPr lang="en-US" sz="2000" baseline="-25000" dirty="0"/>
              <a:t>1</a:t>
            </a:r>
            <a:r>
              <a:rPr lang="en-US" sz="2000" dirty="0"/>
              <a:t>.</a:t>
            </a:r>
          </a:p>
          <a:p>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8237" y="3496541"/>
            <a:ext cx="3876675" cy="18097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944091" y="5562600"/>
            <a:ext cx="2775312" cy="369332"/>
          </a:xfrm>
          <a:prstGeom prst="rect">
            <a:avLst/>
          </a:prstGeom>
        </p:spPr>
        <p:txBody>
          <a:bodyPr wrap="none">
            <a:spAutoFit/>
          </a:bodyPr>
          <a:lstStyle/>
          <a:p>
            <a:r>
              <a:rPr lang="en-US" b="1" dirty="0"/>
              <a:t>Fig. 6.9 : Reduction Process</a:t>
            </a:r>
            <a:endParaRPr lang="en-US" dirty="0"/>
          </a:p>
        </p:txBody>
      </p:sp>
    </p:spTree>
    <p:extLst>
      <p:ext uri="{BB962C8B-B14F-4D97-AF65-F5344CB8AC3E}">
        <p14:creationId xmlns:p14="http://schemas.microsoft.com/office/powerpoint/2010/main" val="1181258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533400"/>
            <a:ext cx="6512511" cy="1143000"/>
          </a:xfrm>
        </p:spPr>
        <p:txBody>
          <a:bodyPr>
            <a:normAutofit fontScale="90000"/>
          </a:bodyPr>
          <a:lstStyle/>
          <a:p>
            <a:r>
              <a:rPr lang="en-GB" b="1" cap="all" dirty="0"/>
              <a:t>6.5	NP Complete Problems</a:t>
            </a:r>
            <a:br>
              <a:rPr lang="en-US" b="1" cap="all" dirty="0"/>
            </a:br>
            <a:endParaRPr lang="en-US" dirty="0"/>
          </a:p>
        </p:txBody>
      </p:sp>
      <p:sp>
        <p:nvSpPr>
          <p:cNvPr id="3" name="Content Placeholder 2"/>
          <p:cNvSpPr>
            <a:spLocks noGrp="1"/>
          </p:cNvSpPr>
          <p:nvPr>
            <p:ph sz="quarter" idx="13"/>
          </p:nvPr>
        </p:nvSpPr>
        <p:spPr>
          <a:xfrm>
            <a:off x="990600" y="2362200"/>
            <a:ext cx="7543800" cy="3474720"/>
          </a:xfrm>
        </p:spPr>
        <p:txBody>
          <a:bodyPr>
            <a:normAutofit lnSpcReduction="10000"/>
          </a:bodyPr>
          <a:lstStyle/>
          <a:p>
            <a:r>
              <a:rPr lang="en-US" sz="2400" dirty="0"/>
              <a:t>Let L be a language or problem in NP, we say L is NP-complete if the following statements are true about L.</a:t>
            </a:r>
          </a:p>
          <a:p>
            <a:pPr marL="0" indent="0">
              <a:buNone/>
            </a:pPr>
            <a:r>
              <a:rPr lang="en-US" sz="2400" dirty="0"/>
              <a:t>1. L is an NP.</a:t>
            </a:r>
          </a:p>
          <a:p>
            <a:pPr marL="0" indent="0">
              <a:buNone/>
            </a:pPr>
            <a:r>
              <a:rPr lang="en-US" sz="2400" dirty="0"/>
              <a:t>2. For every language L' in NP there is a polynomial-time reduction of L' to L.</a:t>
            </a:r>
          </a:p>
          <a:p>
            <a:pPr marL="0" indent="0">
              <a:buNone/>
            </a:pPr>
            <a:r>
              <a:rPr lang="en-US" sz="2400" dirty="0"/>
              <a:t>	e.g. Travelling salesman problem, it appears that P </a:t>
            </a:r>
            <a:r>
              <a:rPr lang="en-US" sz="2400" dirty="0">
                <a:sym typeface="Symbol"/>
              </a:rPr>
              <a:t></a:t>
            </a:r>
            <a:r>
              <a:rPr lang="en-US" sz="2400" dirty="0"/>
              <a:t> NP, all the NP complete problems are in NP-P.</a:t>
            </a:r>
          </a:p>
          <a:p>
            <a:pPr marL="0" indent="0">
              <a:buNone/>
            </a:pPr>
            <a:endParaRPr lang="en-US" dirty="0"/>
          </a:p>
        </p:txBody>
      </p:sp>
    </p:spTree>
    <p:extLst>
      <p:ext uri="{BB962C8B-B14F-4D97-AF65-F5344CB8AC3E}">
        <p14:creationId xmlns:p14="http://schemas.microsoft.com/office/powerpoint/2010/main" val="220470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457200" y="533400"/>
            <a:ext cx="8229600" cy="5592763"/>
          </a:xfrm>
        </p:spPr>
        <p:txBody>
          <a:bodyPr>
            <a:normAutofit fontScale="92500" lnSpcReduction="20000"/>
          </a:bodyPr>
          <a:lstStyle/>
          <a:p>
            <a:r>
              <a:rPr lang="en-US" sz="2800" b="1" dirty="0"/>
              <a:t>Theorem 1 : </a:t>
            </a:r>
            <a:r>
              <a:rPr lang="en-US" sz="2800" dirty="0"/>
              <a:t>It P</a:t>
            </a:r>
            <a:r>
              <a:rPr lang="en-US" sz="2800" baseline="-25000" dirty="0"/>
              <a:t>1</a:t>
            </a:r>
            <a:r>
              <a:rPr lang="en-US" sz="2800" dirty="0"/>
              <a:t> is NP complete and there is a polynomial time reduction of P</a:t>
            </a:r>
            <a:r>
              <a:rPr lang="en-US" sz="2800" baseline="-25000" dirty="0"/>
              <a:t>1</a:t>
            </a:r>
            <a:r>
              <a:rPr lang="en-US" sz="2800" dirty="0"/>
              <a:t> to P</a:t>
            </a:r>
            <a:r>
              <a:rPr lang="en-US" sz="2800" baseline="-25000" dirty="0"/>
              <a:t>2</a:t>
            </a:r>
            <a:r>
              <a:rPr lang="en-US" sz="2800" dirty="0"/>
              <a:t>, then P</a:t>
            </a:r>
            <a:r>
              <a:rPr lang="en-US" sz="2800" baseline="-25000" dirty="0"/>
              <a:t>2</a:t>
            </a:r>
            <a:r>
              <a:rPr lang="en-US" sz="2800" dirty="0"/>
              <a:t> is NP complete.</a:t>
            </a:r>
          </a:p>
          <a:p>
            <a:pPr lvl="1"/>
            <a:r>
              <a:rPr lang="en-US" sz="2400" b="1" dirty="0"/>
              <a:t>Proof : </a:t>
            </a:r>
            <a:r>
              <a:rPr lang="en-US" sz="2400" dirty="0"/>
              <a:t>Here we have to show that every language L in NP polynomial-time reduces to P</a:t>
            </a:r>
            <a:r>
              <a:rPr lang="en-US" sz="2400" baseline="-25000" dirty="0"/>
              <a:t>2</a:t>
            </a:r>
            <a:r>
              <a:rPr lang="en-US" sz="2400" dirty="0"/>
              <a:t>. In this a polynomial-time reduction of L to P</a:t>
            </a:r>
            <a:r>
              <a:rPr lang="en-US" sz="2400" baseline="-25000" dirty="0"/>
              <a:t>1</a:t>
            </a:r>
            <a:r>
              <a:rPr lang="en-US" sz="2400" dirty="0"/>
              <a:t>, this reduction taken some polynomial time P(n).</a:t>
            </a:r>
          </a:p>
          <a:p>
            <a:pPr lvl="1"/>
            <a:r>
              <a:rPr lang="en-US" sz="2100" dirty="0"/>
              <a:t>Thus the transformation of w to b takes time at most p (n) + q (p (n)).</a:t>
            </a:r>
          </a:p>
          <a:p>
            <a:pPr lvl="1"/>
            <a:r>
              <a:rPr lang="en-US" sz="2100" dirty="0"/>
              <a:t>Hence L is polynomial time reducible to P</a:t>
            </a:r>
            <a:r>
              <a:rPr lang="en-US" sz="2100" baseline="-25000" dirty="0"/>
              <a:t>2</a:t>
            </a:r>
            <a:r>
              <a:rPr lang="en-US" sz="2100" dirty="0"/>
              <a:t> L is any language in NP </a:t>
            </a:r>
            <a:r>
              <a:rPr lang="en-US" sz="2100" dirty="0" err="1"/>
              <a:t>i.e</a:t>
            </a:r>
            <a:r>
              <a:rPr lang="en-US" sz="2100" dirty="0"/>
              <a:t> all of NP polynomial time reduces to P</a:t>
            </a:r>
            <a:r>
              <a:rPr lang="en-US" sz="2100" baseline="-25000" dirty="0"/>
              <a:t>2</a:t>
            </a:r>
            <a:r>
              <a:rPr lang="en-US" sz="2100" dirty="0"/>
              <a:t>.</a:t>
            </a:r>
          </a:p>
          <a:p>
            <a:r>
              <a:rPr lang="en-US" sz="2800" b="1" dirty="0"/>
              <a:t>Theorem 2 : </a:t>
            </a:r>
            <a:r>
              <a:rPr lang="en-US" sz="2800" dirty="0"/>
              <a:t>It some NP-complete problem P is in </a:t>
            </a:r>
            <a:r>
              <a:rPr lang="en-US" sz="2800" dirty="0">
                <a:sym typeface="Symbol"/>
              </a:rPr>
              <a:t></a:t>
            </a:r>
            <a:r>
              <a:rPr lang="en-US" sz="2800" dirty="0"/>
              <a:t> then P = N</a:t>
            </a:r>
            <a:r>
              <a:rPr lang="en-US" sz="2800" dirty="0">
                <a:sym typeface="Symbol"/>
              </a:rPr>
              <a:t></a:t>
            </a:r>
            <a:r>
              <a:rPr lang="en-US" sz="2800" dirty="0"/>
              <a:t>.</a:t>
            </a:r>
          </a:p>
          <a:p>
            <a:pPr lvl="1"/>
            <a:r>
              <a:rPr lang="en-US" sz="2400" b="1" dirty="0"/>
              <a:t>Proof : </a:t>
            </a:r>
            <a:r>
              <a:rPr lang="en-US" sz="2400" dirty="0"/>
              <a:t>Suppose </a:t>
            </a:r>
            <a:r>
              <a:rPr lang="en-US" sz="2400" dirty="0">
                <a:sym typeface="Symbol"/>
              </a:rPr>
              <a:t></a:t>
            </a:r>
            <a:r>
              <a:rPr lang="en-US" sz="2400" dirty="0"/>
              <a:t> is both NP complete and in </a:t>
            </a:r>
            <a:r>
              <a:rPr lang="en-US" sz="2400" dirty="0">
                <a:sym typeface="Symbol"/>
              </a:rPr>
              <a:t></a:t>
            </a:r>
            <a:r>
              <a:rPr lang="en-US" sz="2400" dirty="0"/>
              <a:t>. Then all languages L in NP reduce in polynomial time to P.</a:t>
            </a:r>
          </a:p>
          <a:p>
            <a:pPr lvl="1"/>
            <a:r>
              <a:rPr lang="en-US" sz="2800" dirty="0"/>
              <a:t>If p is in </a:t>
            </a:r>
            <a:r>
              <a:rPr lang="en-US" sz="2800" dirty="0">
                <a:sym typeface="Symbol"/>
              </a:rPr>
              <a:t></a:t>
            </a:r>
            <a:r>
              <a:rPr lang="en-US" sz="2800" dirty="0"/>
              <a:t> the L is in </a:t>
            </a:r>
            <a:r>
              <a:rPr lang="en-US" sz="2800" dirty="0">
                <a:sym typeface="Symbol"/>
              </a:rPr>
              <a:t></a:t>
            </a:r>
            <a:r>
              <a:rPr lang="en-US" sz="2800" dirty="0"/>
              <a:t>.</a:t>
            </a:r>
          </a:p>
          <a:p>
            <a:pPr marL="0" indent="0">
              <a:buNone/>
            </a:pPr>
            <a:endParaRPr lang="en-US" sz="2800" dirty="0"/>
          </a:p>
          <a:p>
            <a:endParaRPr lang="en-US" sz="2800" dirty="0"/>
          </a:p>
        </p:txBody>
      </p:sp>
    </p:spTree>
    <p:extLst>
      <p:ext uri="{BB962C8B-B14F-4D97-AF65-F5344CB8AC3E}">
        <p14:creationId xmlns:p14="http://schemas.microsoft.com/office/powerpoint/2010/main" val="3998197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04800"/>
            <a:ext cx="6512511" cy="1143000"/>
          </a:xfrm>
        </p:spPr>
        <p:txBody>
          <a:bodyPr>
            <a:normAutofit fontScale="90000"/>
          </a:bodyPr>
          <a:lstStyle/>
          <a:p>
            <a:r>
              <a:rPr lang="en-GB" b="1" cap="all" dirty="0"/>
              <a:t>6.6	An NP complete problem </a:t>
            </a:r>
            <a:br>
              <a:rPr lang="en-US" b="1" cap="all" dirty="0"/>
            </a:br>
            <a:endParaRPr lang="en-US" dirty="0"/>
          </a:p>
        </p:txBody>
      </p:sp>
      <p:sp>
        <p:nvSpPr>
          <p:cNvPr id="3" name="Content Placeholder 2"/>
          <p:cNvSpPr>
            <a:spLocks noGrp="1"/>
          </p:cNvSpPr>
          <p:nvPr>
            <p:ph sz="quarter" idx="13"/>
          </p:nvPr>
        </p:nvSpPr>
        <p:spPr>
          <a:xfrm>
            <a:off x="304800" y="1676400"/>
            <a:ext cx="8534400" cy="4906963"/>
          </a:xfrm>
        </p:spPr>
        <p:txBody>
          <a:bodyPr>
            <a:normAutofit/>
          </a:bodyPr>
          <a:lstStyle/>
          <a:p>
            <a:r>
              <a:rPr lang="en-US" sz="3000" b="1" dirty="0"/>
              <a:t>6.6.1 The Satisfiability Problem</a:t>
            </a:r>
          </a:p>
          <a:p>
            <a:pPr lvl="1"/>
            <a:r>
              <a:rPr lang="en-US" dirty="0"/>
              <a:t>The Boolean expressions are built form</a:t>
            </a:r>
          </a:p>
          <a:p>
            <a:pPr marL="0" indent="0">
              <a:buNone/>
            </a:pPr>
            <a:r>
              <a:rPr lang="en-US" dirty="0"/>
              <a:t>	1.Unary operator </a:t>
            </a:r>
            <a:r>
              <a:rPr lang="en-US" dirty="0">
                <a:sym typeface="Symbol"/>
              </a:rPr>
              <a:t></a:t>
            </a:r>
            <a:r>
              <a:rPr lang="en-US" dirty="0"/>
              <a:t> </a:t>
            </a:r>
            <a:r>
              <a:rPr lang="en-US" dirty="0">
                <a:sym typeface="Symbol"/>
              </a:rPr>
              <a:t></a:t>
            </a:r>
            <a:r>
              <a:rPr lang="en-US" dirty="0"/>
              <a:t> logical negation</a:t>
            </a:r>
          </a:p>
          <a:p>
            <a:pPr marL="0" indent="0">
              <a:buNone/>
            </a:pPr>
            <a:r>
              <a:rPr lang="en-US" dirty="0"/>
              <a:t>	2.Parentheses </a:t>
            </a:r>
            <a:r>
              <a:rPr lang="en-US" dirty="0">
                <a:sym typeface="Symbol"/>
              </a:rPr>
              <a:t></a:t>
            </a:r>
            <a:r>
              <a:rPr lang="en-US" dirty="0"/>
              <a:t> to group operators and operands. Also to give the precedence of 	operators like. </a:t>
            </a:r>
            <a:r>
              <a:rPr lang="en-US" dirty="0">
                <a:sym typeface="Symbol"/>
              </a:rPr>
              <a:t></a:t>
            </a:r>
            <a:r>
              <a:rPr lang="en-US" dirty="0"/>
              <a:t> </a:t>
            </a:r>
            <a:r>
              <a:rPr lang="en-US" dirty="0">
                <a:sym typeface="Symbol"/>
              </a:rPr>
              <a:t></a:t>
            </a:r>
            <a:r>
              <a:rPr lang="en-US" dirty="0"/>
              <a:t> highest, then ^ and finally </a:t>
            </a:r>
            <a:r>
              <a:rPr lang="en-US" dirty="0">
                <a:sym typeface="Symbol"/>
              </a:rPr>
              <a:t></a:t>
            </a:r>
            <a:r>
              <a:rPr lang="en-US" dirty="0"/>
              <a:t>.</a:t>
            </a:r>
          </a:p>
          <a:p>
            <a:pPr marL="0" indent="0">
              <a:buNone/>
            </a:pPr>
            <a:r>
              <a:rPr lang="en-US" dirty="0"/>
              <a:t>	3.Boolean variable </a:t>
            </a:r>
            <a:r>
              <a:rPr lang="en-US" dirty="0">
                <a:sym typeface="Symbol"/>
              </a:rPr>
              <a:t></a:t>
            </a:r>
            <a:r>
              <a:rPr lang="en-US" dirty="0"/>
              <a:t> values like 0 or 1 and false or true.</a:t>
            </a:r>
          </a:p>
          <a:p>
            <a:pPr marL="0" indent="0">
              <a:buNone/>
            </a:pPr>
            <a:r>
              <a:rPr lang="en-US" dirty="0"/>
              <a:t>	4.Binary operators </a:t>
            </a:r>
            <a:r>
              <a:rPr lang="en-US" dirty="0">
                <a:sym typeface="Symbol"/>
              </a:rPr>
              <a:t></a:t>
            </a:r>
            <a:r>
              <a:rPr lang="en-US" dirty="0"/>
              <a:t> ^ (AND) and </a:t>
            </a:r>
            <a:r>
              <a:rPr lang="en-US" dirty="0">
                <a:sym typeface="Symbol"/>
              </a:rPr>
              <a:t></a:t>
            </a:r>
            <a:r>
              <a:rPr lang="en-US" dirty="0"/>
              <a:t> (OR).</a:t>
            </a:r>
          </a:p>
          <a:p>
            <a:pPr lvl="1"/>
            <a:endParaRPr lang="en-US" b="1" dirty="0"/>
          </a:p>
          <a:p>
            <a:endParaRPr lang="en-US" dirty="0"/>
          </a:p>
        </p:txBody>
      </p:sp>
    </p:spTree>
    <p:extLst>
      <p:ext uri="{BB962C8B-B14F-4D97-AF65-F5344CB8AC3E}">
        <p14:creationId xmlns:p14="http://schemas.microsoft.com/office/powerpoint/2010/main" val="1478544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1066800" y="914400"/>
            <a:ext cx="7086600" cy="4876800"/>
          </a:xfrm>
        </p:spPr>
        <p:txBody>
          <a:bodyPr>
            <a:normAutofit fontScale="92500"/>
          </a:bodyPr>
          <a:lstStyle/>
          <a:p>
            <a:r>
              <a:rPr lang="en-US" b="1" dirty="0"/>
              <a:t>Example :</a:t>
            </a:r>
          </a:p>
          <a:p>
            <a:r>
              <a:rPr lang="en-US" dirty="0"/>
              <a:t>Consider an expression a ^ </a:t>
            </a:r>
            <a:r>
              <a:rPr lang="en-US" dirty="0">
                <a:sym typeface="Symbol"/>
              </a:rPr>
              <a:t></a:t>
            </a:r>
            <a:r>
              <a:rPr lang="en-US" dirty="0"/>
              <a:t> (b </a:t>
            </a:r>
            <a:r>
              <a:rPr lang="en-US" dirty="0">
                <a:sym typeface="Symbol"/>
              </a:rPr>
              <a:t></a:t>
            </a:r>
            <a:r>
              <a:rPr lang="en-US" dirty="0"/>
              <a:t> c) and </a:t>
            </a:r>
            <a:r>
              <a:rPr lang="en-US" dirty="0" err="1"/>
              <a:t>subexpression</a:t>
            </a:r>
            <a:r>
              <a:rPr lang="en-US" dirty="0"/>
              <a:t> b </a:t>
            </a:r>
            <a:r>
              <a:rPr lang="en-US" dirty="0">
                <a:sym typeface="Symbol"/>
              </a:rPr>
              <a:t></a:t>
            </a:r>
            <a:r>
              <a:rPr lang="en-US" dirty="0"/>
              <a:t> c is true.</a:t>
            </a:r>
          </a:p>
          <a:p>
            <a:r>
              <a:rPr lang="en-US" dirty="0"/>
              <a:t>As 	b=c  =  True</a:t>
            </a:r>
          </a:p>
          <a:p>
            <a:r>
              <a:rPr lang="en-US" dirty="0"/>
              <a:t>but if </a:t>
            </a:r>
            <a:r>
              <a:rPr lang="en-US" dirty="0" err="1"/>
              <a:t>subexpression</a:t>
            </a:r>
            <a:r>
              <a:rPr lang="en-US" dirty="0"/>
              <a:t> = False, whenever b =  c  =  False.</a:t>
            </a:r>
          </a:p>
          <a:p>
            <a:r>
              <a:rPr lang="en-US" dirty="0"/>
              <a:t>The larger </a:t>
            </a:r>
            <a:r>
              <a:rPr lang="en-US" dirty="0" err="1"/>
              <a:t>subexpression</a:t>
            </a:r>
            <a:r>
              <a:rPr lang="en-US" dirty="0"/>
              <a:t> </a:t>
            </a:r>
            <a:r>
              <a:rPr lang="en-US" dirty="0">
                <a:sym typeface="Symbol"/>
              </a:rPr>
              <a:t></a:t>
            </a:r>
            <a:r>
              <a:rPr lang="en-US" dirty="0"/>
              <a:t> (b </a:t>
            </a:r>
            <a:r>
              <a:rPr lang="en-US" dirty="0">
                <a:sym typeface="Symbol"/>
              </a:rPr>
              <a:t></a:t>
            </a:r>
            <a:r>
              <a:rPr lang="en-US" dirty="0"/>
              <a:t> c) is true exactly when b </a:t>
            </a:r>
            <a:r>
              <a:rPr lang="en-US" dirty="0">
                <a:sym typeface="Symbol"/>
              </a:rPr>
              <a:t></a:t>
            </a:r>
            <a:r>
              <a:rPr lang="en-US" dirty="0"/>
              <a:t> c is false i.e. when both b and c are false.</a:t>
            </a:r>
          </a:p>
          <a:p>
            <a:r>
              <a:rPr lang="en-US" dirty="0"/>
              <a:t>If either b or c or both are true then </a:t>
            </a:r>
            <a:r>
              <a:rPr lang="en-US" dirty="0">
                <a:sym typeface="Symbol"/>
              </a:rPr>
              <a:t></a:t>
            </a:r>
            <a:r>
              <a:rPr lang="en-US" dirty="0"/>
              <a:t> (b </a:t>
            </a:r>
            <a:r>
              <a:rPr lang="en-US" dirty="0">
                <a:sym typeface="Symbol"/>
              </a:rPr>
              <a:t></a:t>
            </a:r>
            <a:r>
              <a:rPr lang="en-US" dirty="0"/>
              <a:t> c) is false.</a:t>
            </a:r>
          </a:p>
          <a:p>
            <a:r>
              <a:rPr lang="en-US" dirty="0"/>
              <a:t>Finally consider a given expression it is the logical AND of two </a:t>
            </a:r>
            <a:r>
              <a:rPr lang="en-US" dirty="0" err="1"/>
              <a:t>subexpressions</a:t>
            </a:r>
            <a:r>
              <a:rPr lang="en-US" dirty="0"/>
              <a:t> it is true, when </a:t>
            </a:r>
            <a:r>
              <a:rPr lang="en-US" dirty="0" err="1"/>
              <a:t>subexpressions</a:t>
            </a:r>
            <a:r>
              <a:rPr lang="en-US" dirty="0"/>
              <a:t> are true.</a:t>
            </a:r>
          </a:p>
          <a:p>
            <a:r>
              <a:rPr lang="en-US" dirty="0"/>
              <a:t>i.e. a ^ </a:t>
            </a:r>
            <a:r>
              <a:rPr lang="en-US" dirty="0">
                <a:sym typeface="Symbol"/>
              </a:rPr>
              <a:t></a:t>
            </a:r>
            <a:r>
              <a:rPr lang="en-US" dirty="0"/>
              <a:t> (b </a:t>
            </a:r>
            <a:r>
              <a:rPr lang="en-US" dirty="0">
                <a:sym typeface="Symbol"/>
              </a:rPr>
              <a:t></a:t>
            </a:r>
            <a:r>
              <a:rPr lang="en-US" dirty="0"/>
              <a:t> c) is true, when a = True, b = c = False.</a:t>
            </a:r>
          </a:p>
          <a:p>
            <a:endParaRPr lang="en-US" dirty="0"/>
          </a:p>
        </p:txBody>
      </p:sp>
    </p:spTree>
    <p:extLst>
      <p:ext uri="{BB962C8B-B14F-4D97-AF65-F5344CB8AC3E}">
        <p14:creationId xmlns:p14="http://schemas.microsoft.com/office/powerpoint/2010/main" val="642895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7848600" cy="1143000"/>
          </a:xfrm>
        </p:spPr>
        <p:txBody>
          <a:bodyPr>
            <a:normAutofit fontScale="90000"/>
          </a:bodyPr>
          <a:lstStyle/>
          <a:p>
            <a:r>
              <a:rPr lang="en-GB" b="1" cap="all" dirty="0"/>
              <a:t>6.7	Representing SAT Instances </a:t>
            </a:r>
            <a:br>
              <a:rPr lang="en-US" b="1" cap="all" dirty="0"/>
            </a:br>
            <a:endParaRPr lang="en-US" dirty="0"/>
          </a:p>
        </p:txBody>
      </p:sp>
      <p:sp>
        <p:nvSpPr>
          <p:cNvPr id="3" name="Content Placeholder 2"/>
          <p:cNvSpPr>
            <a:spLocks noGrp="1"/>
          </p:cNvSpPr>
          <p:nvPr>
            <p:ph sz="quarter" idx="13"/>
          </p:nvPr>
        </p:nvSpPr>
        <p:spPr>
          <a:xfrm>
            <a:off x="1066800" y="2133600"/>
            <a:ext cx="7239000" cy="4572000"/>
          </a:xfrm>
        </p:spPr>
        <p:txBody>
          <a:bodyPr>
            <a:normAutofit fontScale="92500" lnSpcReduction="20000"/>
          </a:bodyPr>
          <a:lstStyle/>
          <a:p>
            <a:pPr marL="0" indent="0">
              <a:buNone/>
            </a:pPr>
            <a:r>
              <a:rPr lang="en-US" dirty="0"/>
              <a:t>1. Symbols </a:t>
            </a:r>
            <a:r>
              <a:rPr lang="en-US" dirty="0">
                <a:sym typeface="Symbol"/>
              </a:rPr>
              <a:t></a:t>
            </a:r>
            <a:r>
              <a:rPr lang="en-US" dirty="0"/>
              <a:t> ^, </a:t>
            </a:r>
            <a:r>
              <a:rPr lang="en-US" dirty="0">
                <a:sym typeface="Symbol"/>
              </a:rPr>
              <a:t></a:t>
            </a:r>
            <a:r>
              <a:rPr lang="en-US" dirty="0"/>
              <a:t>, </a:t>
            </a:r>
            <a:r>
              <a:rPr lang="en-US" dirty="0">
                <a:sym typeface="Symbol"/>
              </a:rPr>
              <a:t></a:t>
            </a:r>
            <a:r>
              <a:rPr lang="en-US" dirty="0"/>
              <a:t> (, and)</a:t>
            </a:r>
          </a:p>
          <a:p>
            <a:pPr marL="0" indent="0">
              <a:buNone/>
            </a:pPr>
            <a:r>
              <a:rPr lang="en-US" dirty="0"/>
              <a:t>2. Variable x</a:t>
            </a:r>
            <a:r>
              <a:rPr lang="en-US" baseline="-25000" dirty="0"/>
              <a:t>i</a:t>
            </a:r>
            <a:r>
              <a:rPr lang="en-US" dirty="0"/>
              <a:t> is represented by x as a symbol followed by 0's and 1's  that represent i in binary. From the above two points we can say the alphabet for the SAT problem / language has only eight symbols.</a:t>
            </a:r>
          </a:p>
          <a:p>
            <a:pPr lvl="1"/>
            <a:r>
              <a:rPr lang="en-US" dirty="0"/>
              <a:t>All instances of SAT are constructed m this fixed, finite alphabet.</a:t>
            </a:r>
          </a:p>
          <a:p>
            <a:r>
              <a:rPr lang="en-US" b="1" dirty="0"/>
              <a:t>Exampled :</a:t>
            </a:r>
            <a:r>
              <a:rPr lang="en-US" dirty="0"/>
              <a:t> </a:t>
            </a:r>
          </a:p>
          <a:p>
            <a:pPr marL="0" indent="0">
              <a:buNone/>
            </a:pPr>
            <a:r>
              <a:rPr lang="en-US" dirty="0"/>
              <a:t>	Consider expression (a ^ </a:t>
            </a:r>
            <a:r>
              <a:rPr lang="en-US" dirty="0">
                <a:sym typeface="Symbol"/>
              </a:rPr>
              <a:t></a:t>
            </a:r>
            <a:r>
              <a:rPr lang="en-US" dirty="0"/>
              <a:t> (b </a:t>
            </a:r>
            <a:r>
              <a:rPr lang="en-US" dirty="0">
                <a:sym typeface="Symbol"/>
              </a:rPr>
              <a:t></a:t>
            </a:r>
            <a:r>
              <a:rPr lang="en-US" dirty="0"/>
              <a:t> c)) will be represented by the string.</a:t>
            </a:r>
          </a:p>
          <a:p>
            <a:pPr marL="0" indent="0">
              <a:buNone/>
            </a:pPr>
            <a:r>
              <a:rPr lang="en-US" dirty="0"/>
              <a:t>	(a ^ </a:t>
            </a:r>
            <a:r>
              <a:rPr lang="en-US" dirty="0">
                <a:sym typeface="Symbol"/>
              </a:rPr>
              <a:t></a:t>
            </a:r>
            <a:r>
              <a:rPr lang="en-US" dirty="0"/>
              <a:t> (b</a:t>
            </a:r>
            <a:r>
              <a:rPr lang="en-US" baseline="-25000" dirty="0"/>
              <a:t>10</a:t>
            </a:r>
            <a:r>
              <a:rPr lang="en-US" dirty="0"/>
              <a:t> </a:t>
            </a:r>
            <a:r>
              <a:rPr lang="en-US" dirty="0">
                <a:sym typeface="Symbol"/>
              </a:rPr>
              <a:t></a:t>
            </a:r>
            <a:r>
              <a:rPr lang="en-US" dirty="0"/>
              <a:t> c</a:t>
            </a:r>
            <a:r>
              <a:rPr lang="en-US" baseline="-25000" dirty="0"/>
              <a:t>11</a:t>
            </a:r>
            <a:r>
              <a:rPr lang="en-US" dirty="0"/>
              <a:t>))</a:t>
            </a:r>
          </a:p>
          <a:p>
            <a:r>
              <a:rPr lang="en-US" dirty="0"/>
              <a:t>An expression whose length is m positions can have a code as long as</a:t>
            </a:r>
          </a:p>
          <a:p>
            <a:pPr marL="0" indent="0">
              <a:buNone/>
            </a:pPr>
            <a:r>
              <a:rPr lang="en-US" dirty="0"/>
              <a:t>	n=o (m log m) symbols</a:t>
            </a:r>
          </a:p>
          <a:p>
            <a:endParaRPr lang="en-US" dirty="0"/>
          </a:p>
        </p:txBody>
      </p:sp>
    </p:spTree>
    <p:extLst>
      <p:ext uri="{BB962C8B-B14F-4D97-AF65-F5344CB8AC3E}">
        <p14:creationId xmlns:p14="http://schemas.microsoft.com/office/powerpoint/2010/main" val="1631601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7467600" cy="1143000"/>
          </a:xfrm>
        </p:spPr>
        <p:txBody>
          <a:bodyPr>
            <a:noAutofit/>
          </a:bodyPr>
          <a:lstStyle/>
          <a:p>
            <a:r>
              <a:rPr lang="en-GB" sz="2400" b="1" cap="all" dirty="0"/>
              <a:t>6.8 NP Completeness of the SAT Problem [Cook's </a:t>
            </a:r>
            <a:br>
              <a:rPr lang="en-GB" sz="2400" b="1" cap="all" dirty="0"/>
            </a:br>
            <a:r>
              <a:rPr lang="en-GB" sz="2400" b="1" cap="all" dirty="0"/>
              <a:t>		Theorem]</a:t>
            </a:r>
            <a:br>
              <a:rPr lang="en-US" sz="2400" b="1" cap="all" dirty="0"/>
            </a:br>
            <a:endParaRPr lang="en-US" sz="2400" dirty="0"/>
          </a:p>
        </p:txBody>
      </p:sp>
      <p:sp>
        <p:nvSpPr>
          <p:cNvPr id="3" name="Content Placeholder 2"/>
          <p:cNvSpPr>
            <a:spLocks noGrp="1"/>
          </p:cNvSpPr>
          <p:nvPr>
            <p:ph sz="quarter" idx="13"/>
          </p:nvPr>
        </p:nvSpPr>
        <p:spPr>
          <a:xfrm>
            <a:off x="990600" y="2133600"/>
            <a:ext cx="7620000" cy="3474720"/>
          </a:xfrm>
        </p:spPr>
        <p:txBody>
          <a:bodyPr>
            <a:normAutofit fontScale="85000" lnSpcReduction="20000"/>
          </a:bodyPr>
          <a:lstStyle/>
          <a:p>
            <a:pPr marL="0" indent="0">
              <a:buNone/>
            </a:pPr>
            <a:r>
              <a:rPr lang="en-US" sz="2400" dirty="0"/>
              <a:t>The process of established a problem as NP-complete is a two step process.</a:t>
            </a:r>
          </a:p>
          <a:p>
            <a:pPr marL="0" indent="0">
              <a:buNone/>
            </a:pPr>
            <a:r>
              <a:rPr lang="en-US" sz="2400" b="1" dirty="0"/>
              <a:t>Step 1 :</a:t>
            </a:r>
            <a:r>
              <a:rPr lang="en-US" sz="2400" dirty="0"/>
              <a:t> Consists of guessing variety of solutions of the instances, one instance at a time, of the problem and then verifying whether the guess is actually a solution or not.</a:t>
            </a:r>
          </a:p>
          <a:p>
            <a:pPr marL="0" indent="0">
              <a:buNone/>
            </a:pPr>
            <a:r>
              <a:rPr lang="en-US" sz="2400" b="1" dirty="0"/>
              <a:t>Step 2 : </a:t>
            </a:r>
            <a:r>
              <a:rPr lang="en-US" sz="2400" dirty="0"/>
              <a:t>Involves designing a polynomial time algorithm which reduces instances of an already known NP-complete problem to instances of the problem which is intended to be shown as NP-complete.</a:t>
            </a:r>
          </a:p>
          <a:p>
            <a:pPr lvl="1"/>
            <a:r>
              <a:rPr lang="en-US" sz="2400" dirty="0"/>
              <a:t>This reduction technique can not be applied unless we already have established at least one problem as NP-complete.</a:t>
            </a:r>
          </a:p>
          <a:p>
            <a:endParaRPr lang="en-US" dirty="0"/>
          </a:p>
        </p:txBody>
      </p:sp>
    </p:spTree>
    <p:extLst>
      <p:ext uri="{BB962C8B-B14F-4D97-AF65-F5344CB8AC3E}">
        <p14:creationId xmlns:p14="http://schemas.microsoft.com/office/powerpoint/2010/main" val="3160834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3289" y="1295400"/>
            <a:ext cx="6512511" cy="4219768"/>
          </a:xfrm>
        </p:spPr>
        <p:txBody>
          <a:bodyPr/>
          <a:lstStyle/>
          <a:p>
            <a:endParaRPr lang="en-US" dirty="0"/>
          </a:p>
        </p:txBody>
      </p:sp>
      <p:sp>
        <p:nvSpPr>
          <p:cNvPr id="3" name="Content Placeholder 2"/>
          <p:cNvSpPr>
            <a:spLocks noGrp="1"/>
          </p:cNvSpPr>
          <p:nvPr>
            <p:ph sz="quarter" idx="13"/>
          </p:nvPr>
        </p:nvSpPr>
        <p:spPr>
          <a:xfrm>
            <a:off x="1143000" y="731520"/>
            <a:ext cx="6400800" cy="640080"/>
          </a:xfrm>
        </p:spPr>
        <p:txBody>
          <a:bodyPr/>
          <a:lstStyle/>
          <a:p>
            <a:r>
              <a:rPr lang="en-US" dirty="0"/>
              <a:t>Session 4</a:t>
            </a:r>
          </a:p>
        </p:txBody>
      </p:sp>
      <p:graphicFrame>
        <p:nvGraphicFramePr>
          <p:cNvPr id="4" name="Table 3"/>
          <p:cNvGraphicFramePr>
            <a:graphicFrameLocks noGrp="1"/>
          </p:cNvGraphicFramePr>
          <p:nvPr>
            <p:extLst>
              <p:ext uri="{D42A27DB-BD31-4B8C-83A1-F6EECF244321}">
                <p14:modId xmlns:p14="http://schemas.microsoft.com/office/powerpoint/2010/main" val="1142429203"/>
              </p:ext>
            </p:extLst>
          </p:nvPr>
        </p:nvGraphicFramePr>
        <p:xfrm>
          <a:off x="1143000" y="1201998"/>
          <a:ext cx="6400800" cy="4741601"/>
        </p:xfrm>
        <a:graphic>
          <a:graphicData uri="http://schemas.openxmlformats.org/drawingml/2006/table">
            <a:tbl>
              <a:tblPr firstRow="1" firstCol="1" bandRow="1">
                <a:tableStyleId>{5C22544A-7EE6-4342-B048-85BDC9FD1C3A}</a:tableStyleId>
              </a:tblPr>
              <a:tblGrid>
                <a:gridCol w="414274">
                  <a:extLst>
                    <a:ext uri="{9D8B030D-6E8A-4147-A177-3AD203B41FA5}">
                      <a16:colId xmlns:a16="http://schemas.microsoft.com/office/drawing/2014/main" val="20000"/>
                    </a:ext>
                  </a:extLst>
                </a:gridCol>
                <a:gridCol w="919226">
                  <a:extLst>
                    <a:ext uri="{9D8B030D-6E8A-4147-A177-3AD203B41FA5}">
                      <a16:colId xmlns:a16="http://schemas.microsoft.com/office/drawing/2014/main" val="20001"/>
                    </a:ext>
                  </a:extLst>
                </a:gridCol>
                <a:gridCol w="853440">
                  <a:extLst>
                    <a:ext uri="{9D8B030D-6E8A-4147-A177-3AD203B41FA5}">
                      <a16:colId xmlns:a16="http://schemas.microsoft.com/office/drawing/2014/main" val="20002"/>
                    </a:ext>
                  </a:extLst>
                </a:gridCol>
                <a:gridCol w="800100">
                  <a:extLst>
                    <a:ext uri="{9D8B030D-6E8A-4147-A177-3AD203B41FA5}">
                      <a16:colId xmlns:a16="http://schemas.microsoft.com/office/drawing/2014/main" val="20003"/>
                    </a:ext>
                  </a:extLst>
                </a:gridCol>
                <a:gridCol w="833289">
                  <a:extLst>
                    <a:ext uri="{9D8B030D-6E8A-4147-A177-3AD203B41FA5}">
                      <a16:colId xmlns:a16="http://schemas.microsoft.com/office/drawing/2014/main" val="20004"/>
                    </a:ext>
                  </a:extLst>
                </a:gridCol>
                <a:gridCol w="1033611">
                  <a:extLst>
                    <a:ext uri="{9D8B030D-6E8A-4147-A177-3AD203B41FA5}">
                      <a16:colId xmlns:a16="http://schemas.microsoft.com/office/drawing/2014/main" val="20005"/>
                    </a:ext>
                  </a:extLst>
                </a:gridCol>
                <a:gridCol w="693420">
                  <a:extLst>
                    <a:ext uri="{9D8B030D-6E8A-4147-A177-3AD203B41FA5}">
                      <a16:colId xmlns:a16="http://schemas.microsoft.com/office/drawing/2014/main" val="20006"/>
                    </a:ext>
                  </a:extLst>
                </a:gridCol>
                <a:gridCol w="853440">
                  <a:extLst>
                    <a:ext uri="{9D8B030D-6E8A-4147-A177-3AD203B41FA5}">
                      <a16:colId xmlns:a16="http://schemas.microsoft.com/office/drawing/2014/main" val="20007"/>
                    </a:ext>
                  </a:extLst>
                </a:gridCol>
              </a:tblGrid>
              <a:tr h="725061">
                <a:tc>
                  <a:txBody>
                    <a:bodyPr/>
                    <a:lstStyle/>
                    <a:p>
                      <a:pPr marL="0" marR="0">
                        <a:spcBef>
                          <a:spcPts val="0"/>
                        </a:spcBef>
                        <a:spcAft>
                          <a:spcPts val="0"/>
                        </a:spcAft>
                      </a:pPr>
                      <a:r>
                        <a:rPr lang="en-US" sz="900" dirty="0">
                          <a:effectLst/>
                        </a:rPr>
                        <a:t>Time (in min) </a:t>
                      </a:r>
                      <a:endParaRPr lang="en-US" sz="1100" dirty="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Content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Learning Aid/Methodology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Faculty Approach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Typical Student Activity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Skill /Competency Developed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Course </a:t>
                      </a:r>
                      <a:endParaRPr lang="en-US" sz="1100">
                        <a:effectLst/>
                      </a:endParaRPr>
                    </a:p>
                    <a:p>
                      <a:pPr marL="0" marR="0">
                        <a:spcBef>
                          <a:spcPts val="0"/>
                        </a:spcBef>
                        <a:spcAft>
                          <a:spcPts val="0"/>
                        </a:spcAft>
                      </a:pPr>
                      <a:r>
                        <a:rPr lang="en-US" sz="900">
                          <a:effectLst/>
                        </a:rPr>
                        <a:t>Outcomes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900">
                          <a:effectLst/>
                        </a:rPr>
                        <a:t>Program Outcomes </a:t>
                      </a:r>
                      <a:endParaRPr lang="en-US" sz="1100">
                        <a:effectLst/>
                      </a:endParaRPr>
                    </a:p>
                    <a:p>
                      <a:pPr marL="0" marR="0">
                        <a:spcBef>
                          <a:spcPts val="0"/>
                        </a:spcBef>
                        <a:spcAft>
                          <a:spcPts val="0"/>
                        </a:spcAft>
                      </a:pPr>
                      <a:r>
                        <a:rPr lang="en-US" sz="900">
                          <a:effectLst/>
                        </a:rPr>
                        <a:t> </a:t>
                      </a:r>
                      <a:endParaRPr lang="en-US" sz="1100">
                        <a:solidFill>
                          <a:srgbClr val="000000"/>
                        </a:solidFill>
                        <a:effectLst/>
                        <a:latin typeface="Times New Roman"/>
                        <a:ea typeface="Calibri"/>
                      </a:endParaRPr>
                    </a:p>
                  </a:txBody>
                  <a:tcPr marL="64008" marR="64008" marT="0" marB="0"/>
                </a:tc>
                <a:extLst>
                  <a:ext uri="{0D108BD9-81ED-4DB2-BD59-A6C34878D82A}">
                    <a16:rowId xmlns:a16="http://schemas.microsoft.com/office/drawing/2014/main" val="10000"/>
                  </a:ext>
                </a:extLst>
              </a:tr>
              <a:tr h="1937922">
                <a:tc>
                  <a:txBody>
                    <a:bodyPr/>
                    <a:lstStyle/>
                    <a:p>
                      <a:pPr marL="0" marR="0">
                        <a:lnSpc>
                          <a:spcPct val="115000"/>
                        </a:lnSpc>
                        <a:spcBef>
                          <a:spcPts val="0"/>
                        </a:spcBef>
                        <a:spcAft>
                          <a:spcPts val="1000"/>
                        </a:spcAft>
                      </a:pPr>
                      <a:r>
                        <a:rPr lang="en-US" sz="1100">
                          <a:effectLst/>
                        </a:rPr>
                        <a:t>25</a:t>
                      </a:r>
                      <a:endParaRPr lang="en-US" sz="1000">
                        <a:effectLst/>
                        <a:latin typeface="Segoe UI"/>
                        <a:ea typeface="Calibri"/>
                        <a:cs typeface="Times New Roman"/>
                      </a:endParaRPr>
                    </a:p>
                  </a:txBody>
                  <a:tcPr marL="64008" marR="64008" marT="0" marB="0"/>
                </a:tc>
                <a:tc>
                  <a:txBody>
                    <a:bodyPr/>
                    <a:lstStyle/>
                    <a:p>
                      <a:pPr marL="0" marR="0">
                        <a:lnSpc>
                          <a:spcPct val="115000"/>
                        </a:lnSpc>
                        <a:spcBef>
                          <a:spcPts val="0"/>
                        </a:spcBef>
                        <a:spcAft>
                          <a:spcPts val="1000"/>
                        </a:spcAft>
                      </a:pPr>
                      <a:r>
                        <a:rPr lang="en-US" sz="1100">
                          <a:effectLst/>
                        </a:rPr>
                        <a:t>Tractable and Intractable Representing SAT Instances</a:t>
                      </a:r>
                      <a:endParaRPr lang="en-US" sz="1000">
                        <a:effectLst/>
                        <a:latin typeface="Segoe UI"/>
                        <a:ea typeface="Calibri"/>
                        <a:cs typeface="Times New Roman"/>
                      </a:endParaRPr>
                    </a:p>
                  </a:txBody>
                  <a:tcPr marL="64008" marR="64008" marT="0" marB="0"/>
                </a:tc>
                <a:tc>
                  <a:txBody>
                    <a:bodyPr/>
                    <a:lstStyle/>
                    <a:p>
                      <a:pPr marL="0" marR="0">
                        <a:lnSpc>
                          <a:spcPct val="115000"/>
                        </a:lnSpc>
                        <a:spcBef>
                          <a:spcPts val="0"/>
                        </a:spcBef>
                        <a:spcAft>
                          <a:spcPts val="1000"/>
                        </a:spcAft>
                      </a:pPr>
                      <a:r>
                        <a:rPr lang="en-US" sz="1100">
                          <a:effectLst/>
                        </a:rPr>
                        <a:t>Presentation </a:t>
                      </a:r>
                      <a:endParaRPr lang="en-US" sz="1000">
                        <a:effectLst/>
                      </a:endParaRPr>
                    </a:p>
                    <a:p>
                      <a:pPr marL="0" marR="0">
                        <a:spcBef>
                          <a:spcPts val="0"/>
                        </a:spcBef>
                        <a:spcAft>
                          <a:spcPts val="0"/>
                        </a:spcAft>
                      </a:pPr>
                      <a:r>
                        <a:rPr lang="en-US" sz="1100">
                          <a:effectLst/>
                        </a:rPr>
                        <a:t>And Black board</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a:effectLst/>
                        </a:rPr>
                        <a:t>Explain </a:t>
                      </a:r>
                    </a:p>
                    <a:p>
                      <a:pPr marL="0" marR="0">
                        <a:lnSpc>
                          <a:spcPct val="115000"/>
                        </a:lnSpc>
                        <a:spcBef>
                          <a:spcPts val="0"/>
                        </a:spcBef>
                        <a:spcAft>
                          <a:spcPts val="1000"/>
                        </a:spcAft>
                      </a:pPr>
                      <a:r>
                        <a:rPr lang="en-US" sz="1100">
                          <a:effectLst/>
                        </a:rPr>
                        <a:t>Facilitates</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Listens </a:t>
                      </a:r>
                    </a:p>
                    <a:p>
                      <a:pPr marL="0" marR="0">
                        <a:spcBef>
                          <a:spcPts val="0"/>
                        </a:spcBef>
                        <a:spcAft>
                          <a:spcPts val="0"/>
                        </a:spcAft>
                      </a:pPr>
                      <a:r>
                        <a:rPr lang="en-US" sz="1100">
                          <a:effectLst/>
                        </a:rPr>
                        <a:t>Participate </a:t>
                      </a:r>
                    </a:p>
                    <a:p>
                      <a:pPr marL="0" marR="0">
                        <a:lnSpc>
                          <a:spcPct val="115000"/>
                        </a:lnSpc>
                        <a:spcBef>
                          <a:spcPts val="0"/>
                        </a:spcBef>
                        <a:spcAft>
                          <a:spcPts val="1000"/>
                        </a:spcAft>
                      </a:pPr>
                      <a:r>
                        <a:rPr lang="en-US" sz="1100">
                          <a:effectLst/>
                        </a:rPr>
                        <a:t>Discuss </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 </a:t>
                      </a:r>
                    </a:p>
                    <a:p>
                      <a:pPr marL="0" marR="0">
                        <a:spcBef>
                          <a:spcPts val="0"/>
                        </a:spcBef>
                        <a:spcAft>
                          <a:spcPts val="0"/>
                        </a:spcAft>
                      </a:pPr>
                      <a:r>
                        <a:rPr lang="en-US" sz="1100">
                          <a:effectLst/>
                        </a:rPr>
                        <a:t>Comprehension </a:t>
                      </a:r>
                    </a:p>
                    <a:p>
                      <a:pPr marL="0" marR="0">
                        <a:spcBef>
                          <a:spcPts val="0"/>
                        </a:spcBef>
                        <a:spcAft>
                          <a:spcPts val="0"/>
                        </a:spcAft>
                      </a:pPr>
                      <a:r>
                        <a:rPr lang="en-US" sz="1100">
                          <a:effectLst/>
                        </a:rPr>
                        <a:t>Application </a:t>
                      </a:r>
                    </a:p>
                    <a:p>
                      <a:pPr marL="0" marR="0">
                        <a:lnSpc>
                          <a:spcPct val="115000"/>
                        </a:lnSpc>
                        <a:spcBef>
                          <a:spcPts val="0"/>
                        </a:spcBef>
                        <a:spcAft>
                          <a:spcPts val="1000"/>
                        </a:spcAft>
                      </a:pPr>
                      <a:r>
                        <a:rPr lang="en-US" sz="1100">
                          <a:effectLst/>
                        </a:rPr>
                        <a:t> </a:t>
                      </a:r>
                      <a:endParaRPr lang="en-US" sz="1000">
                        <a:effectLst/>
                        <a:latin typeface="Segoe UI"/>
                        <a:ea typeface="Calibri"/>
                        <a:cs typeface="Times New Roman"/>
                      </a:endParaRPr>
                    </a:p>
                  </a:txBody>
                  <a:tcPr marL="64008" marR="64008" marT="0" marB="0"/>
                </a:tc>
                <a:tc rowSpan="3">
                  <a:txBody>
                    <a:bodyPr/>
                    <a:lstStyle/>
                    <a:p>
                      <a:pPr marL="0" marR="0">
                        <a:lnSpc>
                          <a:spcPct val="115000"/>
                        </a:lnSpc>
                        <a:spcBef>
                          <a:spcPts val="0"/>
                        </a:spcBef>
                        <a:spcAft>
                          <a:spcPts val="0"/>
                        </a:spcAft>
                      </a:pPr>
                      <a:r>
                        <a:rPr lang="en-US" sz="1200" dirty="0">
                          <a:effectLst/>
                          <a:latin typeface="Times New Roman"/>
                          <a:ea typeface="Calibri"/>
                          <a:cs typeface="Mangal"/>
                        </a:rPr>
                        <a:t>CO3, CO5</a:t>
                      </a:r>
                      <a:endParaRPr lang="en-US" sz="1100" dirty="0">
                        <a:effectLst/>
                        <a:latin typeface="Calibri"/>
                        <a:ea typeface="Calibri"/>
                        <a:cs typeface="Mangal"/>
                      </a:endParaRPr>
                    </a:p>
                  </a:txBody>
                  <a:tcPr marL="68580" marR="68580" marT="0" marB="0"/>
                </a:tc>
                <a:tc rowSpan="3">
                  <a:txBody>
                    <a:bodyPr/>
                    <a:lstStyle/>
                    <a:p>
                      <a:pPr marL="0" marR="0">
                        <a:lnSpc>
                          <a:spcPct val="115000"/>
                        </a:lnSpc>
                        <a:spcBef>
                          <a:spcPts val="0"/>
                        </a:spcBef>
                        <a:spcAft>
                          <a:spcPts val="0"/>
                        </a:spcAft>
                      </a:pPr>
                      <a:r>
                        <a:rPr lang="en-US" sz="1200" dirty="0">
                          <a:effectLst/>
                          <a:latin typeface="Times New Roman"/>
                          <a:ea typeface="Calibri"/>
                          <a:cs typeface="Mangal"/>
                        </a:rPr>
                        <a:t>POa1,</a:t>
                      </a:r>
                      <a:endParaRPr lang="en-US" sz="1100" dirty="0">
                        <a:effectLst/>
                        <a:latin typeface="Calibri"/>
                        <a:ea typeface="Calibri"/>
                        <a:cs typeface="Mangal"/>
                      </a:endParaRPr>
                    </a:p>
                    <a:p>
                      <a:pPr marL="0" marR="0">
                        <a:lnSpc>
                          <a:spcPct val="115000"/>
                        </a:lnSpc>
                        <a:spcBef>
                          <a:spcPts val="0"/>
                        </a:spcBef>
                        <a:spcAft>
                          <a:spcPts val="0"/>
                        </a:spcAft>
                      </a:pPr>
                      <a:r>
                        <a:rPr lang="en-US" sz="1200" dirty="0">
                          <a:effectLst/>
                          <a:latin typeface="Times New Roman"/>
                          <a:ea typeface="Calibri"/>
                          <a:cs typeface="Mangal"/>
                        </a:rPr>
                        <a:t>POb2,</a:t>
                      </a:r>
                      <a:endParaRPr lang="en-US" sz="1100" dirty="0">
                        <a:effectLst/>
                        <a:latin typeface="Calibri"/>
                        <a:ea typeface="Calibri"/>
                        <a:cs typeface="Mangal"/>
                      </a:endParaRPr>
                    </a:p>
                    <a:p>
                      <a:pPr marL="0" marR="0">
                        <a:lnSpc>
                          <a:spcPct val="115000"/>
                        </a:lnSpc>
                        <a:spcBef>
                          <a:spcPts val="0"/>
                        </a:spcBef>
                        <a:spcAft>
                          <a:spcPts val="0"/>
                        </a:spcAft>
                      </a:pPr>
                      <a:r>
                        <a:rPr lang="en-US" sz="1200" dirty="0">
                          <a:effectLst/>
                          <a:latin typeface="Times New Roman"/>
                          <a:ea typeface="Calibri"/>
                          <a:cs typeface="Mangal"/>
                        </a:rPr>
                        <a:t>POc1, Pod2, POg1, POl2</a:t>
                      </a:r>
                      <a:endParaRPr lang="en-US" sz="1100" dirty="0">
                        <a:effectLst/>
                        <a:latin typeface="Calibri"/>
                        <a:ea typeface="Calibri"/>
                        <a:cs typeface="Mangal"/>
                      </a:endParaRPr>
                    </a:p>
                  </a:txBody>
                  <a:tcPr marL="68580" marR="68580" marT="0" marB="0"/>
                </a:tc>
                <a:extLst>
                  <a:ext uri="{0D108BD9-81ED-4DB2-BD59-A6C34878D82A}">
                    <a16:rowId xmlns:a16="http://schemas.microsoft.com/office/drawing/2014/main" val="10001"/>
                  </a:ext>
                </a:extLst>
              </a:tr>
              <a:tr h="1498569">
                <a:tc>
                  <a:txBody>
                    <a:bodyPr/>
                    <a:lstStyle/>
                    <a:p>
                      <a:pPr marL="0" marR="0">
                        <a:lnSpc>
                          <a:spcPct val="115000"/>
                        </a:lnSpc>
                        <a:spcBef>
                          <a:spcPts val="0"/>
                        </a:spcBef>
                        <a:spcAft>
                          <a:spcPts val="1000"/>
                        </a:spcAft>
                      </a:pPr>
                      <a:r>
                        <a:rPr lang="en-US" sz="1100">
                          <a:effectLst/>
                        </a:rPr>
                        <a:t>25</a:t>
                      </a:r>
                      <a:endParaRPr lang="en-US" sz="1000">
                        <a:effectLst/>
                        <a:latin typeface="Segoe UI"/>
                        <a:ea typeface="Calibri"/>
                        <a:cs typeface="Times New Roman"/>
                      </a:endParaRPr>
                    </a:p>
                  </a:txBody>
                  <a:tcPr marL="64008" marR="64008" marT="0" marB="0"/>
                </a:tc>
                <a:tc>
                  <a:txBody>
                    <a:bodyPr/>
                    <a:lstStyle/>
                    <a:p>
                      <a:pPr marL="0" marR="0">
                        <a:lnSpc>
                          <a:spcPct val="115000"/>
                        </a:lnSpc>
                        <a:spcBef>
                          <a:spcPts val="0"/>
                        </a:spcBef>
                        <a:spcAft>
                          <a:spcPts val="1000"/>
                        </a:spcAft>
                      </a:pPr>
                      <a:r>
                        <a:rPr lang="en-US" sz="1100">
                          <a:effectLst/>
                        </a:rPr>
                        <a:t> , NP-Completeness of the SAT Problem</a:t>
                      </a:r>
                      <a:endParaRPr lang="en-US" sz="1000">
                        <a:effectLst/>
                        <a:latin typeface="Segoe UI"/>
                        <a:ea typeface="Calibri"/>
                        <a:cs typeface="Times New Roman"/>
                      </a:endParaRPr>
                    </a:p>
                  </a:txBody>
                  <a:tcPr marL="64008" marR="64008" marT="0" marB="0"/>
                </a:tc>
                <a:tc>
                  <a:txBody>
                    <a:bodyPr/>
                    <a:lstStyle/>
                    <a:p>
                      <a:pPr marL="0" marR="0">
                        <a:lnSpc>
                          <a:spcPct val="115000"/>
                        </a:lnSpc>
                        <a:spcBef>
                          <a:spcPts val="0"/>
                        </a:spcBef>
                        <a:spcAft>
                          <a:spcPts val="1000"/>
                        </a:spcAft>
                      </a:pPr>
                      <a:r>
                        <a:rPr lang="en-US" sz="1100">
                          <a:effectLst/>
                        </a:rPr>
                        <a:t>Presentation </a:t>
                      </a:r>
                      <a:endParaRPr lang="en-US" sz="1000">
                        <a:effectLst/>
                      </a:endParaRPr>
                    </a:p>
                    <a:p>
                      <a:pPr marL="0" marR="0">
                        <a:lnSpc>
                          <a:spcPct val="115000"/>
                        </a:lnSpc>
                        <a:spcBef>
                          <a:spcPts val="0"/>
                        </a:spcBef>
                        <a:spcAft>
                          <a:spcPts val="1000"/>
                        </a:spcAft>
                      </a:pPr>
                      <a:r>
                        <a:rPr lang="en-US" sz="1100">
                          <a:effectLst/>
                        </a:rPr>
                        <a:t>And Black board</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Explain </a:t>
                      </a:r>
                    </a:p>
                    <a:p>
                      <a:pPr marL="0" marR="0">
                        <a:lnSpc>
                          <a:spcPct val="115000"/>
                        </a:lnSpc>
                        <a:spcBef>
                          <a:spcPts val="0"/>
                        </a:spcBef>
                        <a:spcAft>
                          <a:spcPts val="1000"/>
                        </a:spcAft>
                      </a:pPr>
                      <a:r>
                        <a:rPr lang="en-US" sz="1100">
                          <a:effectLst/>
                        </a:rPr>
                        <a:t>Facilitates</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Listens </a:t>
                      </a:r>
                    </a:p>
                    <a:p>
                      <a:pPr marL="0" marR="0">
                        <a:spcBef>
                          <a:spcPts val="0"/>
                        </a:spcBef>
                        <a:spcAft>
                          <a:spcPts val="0"/>
                        </a:spcAft>
                      </a:pPr>
                      <a:r>
                        <a:rPr lang="en-US" sz="1100">
                          <a:effectLst/>
                        </a:rPr>
                        <a:t>Participate </a:t>
                      </a:r>
                    </a:p>
                    <a:p>
                      <a:pPr marL="0" marR="0">
                        <a:spcBef>
                          <a:spcPts val="0"/>
                        </a:spcBef>
                        <a:spcAft>
                          <a:spcPts val="0"/>
                        </a:spcAft>
                      </a:pPr>
                      <a:r>
                        <a:rPr lang="en-US" sz="1100">
                          <a:effectLst/>
                        </a:rPr>
                        <a:t>Discuss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a:effectLst/>
                        </a:rPr>
                        <a:t> Knowledge </a:t>
                      </a:r>
                    </a:p>
                    <a:p>
                      <a:pPr marL="0" marR="0">
                        <a:lnSpc>
                          <a:spcPct val="115000"/>
                        </a:lnSpc>
                        <a:spcBef>
                          <a:spcPts val="0"/>
                        </a:spcBef>
                        <a:spcAft>
                          <a:spcPts val="1000"/>
                        </a:spcAft>
                      </a:pPr>
                      <a:r>
                        <a:rPr lang="en-US" sz="1100">
                          <a:effectLst/>
                        </a:rPr>
                        <a:t>Comprehension</a:t>
                      </a:r>
                      <a:endParaRPr lang="en-US" sz="1000">
                        <a:effectLst/>
                        <a:latin typeface="Segoe UI"/>
                        <a:ea typeface="Calibri"/>
                        <a:cs typeface="Times New Roman"/>
                      </a:endParaRPr>
                    </a:p>
                  </a:txBody>
                  <a:tcPr marL="64008" marR="64008"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580049">
                <a:tc>
                  <a:txBody>
                    <a:bodyPr/>
                    <a:lstStyle/>
                    <a:p>
                      <a:pPr marL="0" marR="0">
                        <a:lnSpc>
                          <a:spcPct val="115000"/>
                        </a:lnSpc>
                        <a:spcBef>
                          <a:spcPts val="0"/>
                        </a:spcBef>
                        <a:spcAft>
                          <a:spcPts val="1000"/>
                        </a:spcAft>
                      </a:pPr>
                      <a:r>
                        <a:rPr lang="en-US" sz="1100">
                          <a:effectLst/>
                        </a:rPr>
                        <a:t>5</a:t>
                      </a:r>
                      <a:endParaRPr lang="en-US" sz="1000">
                        <a:effectLst/>
                        <a:latin typeface="Segoe UI"/>
                        <a:ea typeface="Calibri"/>
                        <a:cs typeface="Times New Roman"/>
                      </a:endParaRPr>
                    </a:p>
                  </a:txBody>
                  <a:tcPr marL="64008" marR="64008" marT="0" marB="0"/>
                </a:tc>
                <a:tc>
                  <a:txBody>
                    <a:bodyPr/>
                    <a:lstStyle/>
                    <a:p>
                      <a:pPr marL="0" marR="0">
                        <a:spcBef>
                          <a:spcPts val="0"/>
                        </a:spcBef>
                        <a:spcAft>
                          <a:spcPts val="0"/>
                        </a:spcAft>
                      </a:pPr>
                      <a:r>
                        <a:rPr lang="en-US" sz="1100">
                          <a:effectLst/>
                        </a:rPr>
                        <a:t>Revision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a:effectLst/>
                        </a:rPr>
                        <a:t>Key Words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a:effectLst/>
                        </a:rPr>
                        <a:t>List </a:t>
                      </a:r>
                    </a:p>
                    <a:p>
                      <a:pPr marL="0" marR="0">
                        <a:spcBef>
                          <a:spcPts val="0"/>
                        </a:spcBef>
                        <a:spcAft>
                          <a:spcPts val="0"/>
                        </a:spcAft>
                      </a:pPr>
                      <a:r>
                        <a:rPr lang="en-US" sz="1100">
                          <a:effectLst/>
                        </a:rPr>
                        <a:t>Facilitates </a:t>
                      </a:r>
                      <a:endParaRPr lang="en-US" sz="110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dirty="0">
                          <a:effectLst/>
                        </a:rPr>
                        <a:t>Identifies </a:t>
                      </a:r>
                      <a:endParaRPr lang="en-US" sz="1100" dirty="0">
                        <a:solidFill>
                          <a:srgbClr val="000000"/>
                        </a:solidFill>
                        <a:effectLst/>
                        <a:latin typeface="Times New Roman"/>
                        <a:ea typeface="Calibri"/>
                      </a:endParaRPr>
                    </a:p>
                  </a:txBody>
                  <a:tcPr marL="64008" marR="64008" marT="0" marB="0"/>
                </a:tc>
                <a:tc>
                  <a:txBody>
                    <a:bodyPr/>
                    <a:lstStyle/>
                    <a:p>
                      <a:pPr marL="0" marR="0">
                        <a:spcBef>
                          <a:spcPts val="0"/>
                        </a:spcBef>
                        <a:spcAft>
                          <a:spcPts val="0"/>
                        </a:spcAft>
                      </a:pPr>
                      <a:r>
                        <a:rPr lang="en-US" sz="1100" dirty="0">
                          <a:effectLst/>
                        </a:rPr>
                        <a:t> Knowledge</a:t>
                      </a:r>
                      <a:endParaRPr lang="en-US" sz="1100" dirty="0">
                        <a:solidFill>
                          <a:srgbClr val="000000"/>
                        </a:solidFill>
                        <a:effectLst/>
                        <a:latin typeface="Times New Roman"/>
                        <a:ea typeface="Calibri"/>
                      </a:endParaRPr>
                    </a:p>
                  </a:txBody>
                  <a:tcPr marL="64008" marR="64008"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61232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GB" sz="3100" b="1" cap="all" dirty="0"/>
              <a:t>6.9	A Restricted Satisfiability Problem</a:t>
            </a:r>
            <a:br>
              <a:rPr lang="en-US" b="1" cap="all" dirty="0"/>
            </a:br>
            <a:endParaRPr lang="en-US" dirty="0"/>
          </a:p>
        </p:txBody>
      </p:sp>
      <p:sp>
        <p:nvSpPr>
          <p:cNvPr id="3" name="Content Placeholder 2"/>
          <p:cNvSpPr>
            <a:spLocks noGrp="1"/>
          </p:cNvSpPr>
          <p:nvPr>
            <p:ph sz="quarter" idx="13"/>
          </p:nvPr>
        </p:nvSpPr>
        <p:spPr>
          <a:xfrm>
            <a:off x="914400" y="1524000"/>
            <a:ext cx="7696200" cy="4038600"/>
          </a:xfrm>
        </p:spPr>
        <p:txBody>
          <a:bodyPr>
            <a:normAutofit lnSpcReduction="10000"/>
          </a:bodyPr>
          <a:lstStyle/>
          <a:p>
            <a:r>
              <a:rPr lang="en-US" sz="2400" b="1" dirty="0"/>
              <a:t>6.9.1 Normal forms for Boolean Expression</a:t>
            </a:r>
          </a:p>
          <a:p>
            <a:pPr marL="0" indent="0">
              <a:buNone/>
            </a:pPr>
            <a:r>
              <a:rPr lang="en-US" sz="2100" b="1" dirty="0"/>
              <a:t>1.	Literal :</a:t>
            </a:r>
            <a:r>
              <a:rPr lang="en-US" sz="2100" dirty="0"/>
              <a:t> A literal is either a attribute (variable), or a negated attribute (variable).</a:t>
            </a:r>
          </a:p>
          <a:p>
            <a:pPr marL="0" indent="0">
              <a:buNone/>
            </a:pPr>
            <a:r>
              <a:rPr lang="en-US" sz="2100" dirty="0"/>
              <a:t>	Example : Attribute (variable) - a, b, c </a:t>
            </a:r>
            <a:r>
              <a:rPr lang="en-US" sz="2100" dirty="0">
                <a:sym typeface="Symbol"/>
              </a:rPr>
              <a:t></a:t>
            </a:r>
            <a:endParaRPr lang="en-US" sz="2100" dirty="0"/>
          </a:p>
          <a:p>
            <a:pPr marL="0" indent="0">
              <a:buNone/>
            </a:pPr>
            <a:r>
              <a:rPr lang="en-US" sz="2100" dirty="0"/>
              <a:t>	Negated attribute - </a:t>
            </a:r>
            <a:r>
              <a:rPr lang="en-US" sz="2100" dirty="0">
                <a:sym typeface="Symbol"/>
              </a:rPr>
              <a:t></a:t>
            </a:r>
            <a:r>
              <a:rPr lang="en-US" sz="2100" dirty="0"/>
              <a:t> a, </a:t>
            </a:r>
            <a:r>
              <a:rPr lang="en-US" sz="2100" dirty="0">
                <a:sym typeface="Symbol"/>
              </a:rPr>
              <a:t></a:t>
            </a:r>
            <a:r>
              <a:rPr lang="en-US" sz="2100" dirty="0"/>
              <a:t> b, </a:t>
            </a:r>
            <a:r>
              <a:rPr lang="en-US" sz="2100" dirty="0">
                <a:sym typeface="Symbol"/>
              </a:rPr>
              <a:t></a:t>
            </a:r>
            <a:r>
              <a:rPr lang="en-US" sz="2100" dirty="0"/>
              <a:t> c, </a:t>
            </a:r>
            <a:r>
              <a:rPr lang="en-US" sz="2100" dirty="0">
                <a:sym typeface="Symbol"/>
              </a:rPr>
              <a:t></a:t>
            </a:r>
            <a:endParaRPr lang="en-US" sz="2100" dirty="0"/>
          </a:p>
          <a:p>
            <a:pPr marL="0" indent="0">
              <a:buNone/>
            </a:pPr>
            <a:r>
              <a:rPr lang="en-US" sz="2100" dirty="0"/>
              <a:t>	To save space we can represent negated 	attributed as follows</a:t>
            </a:r>
          </a:p>
          <a:p>
            <a:pPr marL="0" indent="0">
              <a:buNone/>
            </a:pPr>
            <a:r>
              <a:rPr lang="en-US" sz="2100" dirty="0">
                <a:sym typeface="Symbol"/>
              </a:rPr>
              <a:t>	</a:t>
            </a:r>
            <a:r>
              <a:rPr lang="en-US" sz="2100" dirty="0"/>
              <a:t> a </a:t>
            </a:r>
            <a:r>
              <a:rPr lang="en-US" sz="2100" dirty="0">
                <a:sym typeface="Symbol"/>
              </a:rPr>
              <a:t></a:t>
            </a:r>
            <a:r>
              <a:rPr lang="en-US" sz="2100" dirty="0"/>
              <a:t> , </a:t>
            </a:r>
            <a:r>
              <a:rPr lang="en-US" sz="2100" dirty="0">
                <a:sym typeface="Symbol"/>
              </a:rPr>
              <a:t></a:t>
            </a:r>
            <a:r>
              <a:rPr lang="en-US" sz="2100" dirty="0"/>
              <a:t> b </a:t>
            </a:r>
            <a:r>
              <a:rPr lang="en-US" sz="2100" dirty="0">
                <a:sym typeface="Symbol"/>
              </a:rPr>
              <a:t></a:t>
            </a:r>
            <a:r>
              <a:rPr lang="en-US" sz="2100" dirty="0"/>
              <a:t>  , </a:t>
            </a:r>
            <a:r>
              <a:rPr lang="en-US" sz="2100" dirty="0">
                <a:sym typeface="Symbol"/>
              </a:rPr>
              <a:t></a:t>
            </a:r>
            <a:r>
              <a:rPr lang="en-US" sz="2100" dirty="0"/>
              <a:t> c </a:t>
            </a:r>
            <a:r>
              <a:rPr lang="en-US" sz="2100" dirty="0">
                <a:sym typeface="Symbol"/>
              </a:rPr>
              <a:t></a:t>
            </a:r>
            <a:r>
              <a:rPr lang="en-US" sz="2100" dirty="0"/>
              <a:t> </a:t>
            </a:r>
          </a:p>
          <a:p>
            <a:pPr marL="0" indent="0">
              <a:buNone/>
            </a:pPr>
            <a:r>
              <a:rPr lang="en-US" sz="2100" b="1" dirty="0"/>
              <a:t>2.	Clause :</a:t>
            </a:r>
            <a:r>
              <a:rPr lang="en-US" sz="2100" dirty="0"/>
              <a:t> It is the logical OR of one or more literals.</a:t>
            </a:r>
          </a:p>
          <a:p>
            <a:pPr marL="0" indent="0">
              <a:buNone/>
            </a:pPr>
            <a:r>
              <a:rPr lang="en-US" sz="2100" dirty="0"/>
              <a:t>	Example : a, a </a:t>
            </a:r>
            <a:r>
              <a:rPr lang="en-US" sz="2100" dirty="0">
                <a:sym typeface="Symbol"/>
              </a:rPr>
              <a:t></a:t>
            </a:r>
            <a:r>
              <a:rPr lang="en-US" sz="2100" dirty="0"/>
              <a:t> b, a </a:t>
            </a:r>
            <a:r>
              <a:rPr lang="en-US" sz="2100" dirty="0">
                <a:sym typeface="Symbol"/>
              </a:rPr>
              <a:t></a:t>
            </a:r>
            <a:r>
              <a:rPr lang="en-US" sz="2100" dirty="0"/>
              <a:t>  </a:t>
            </a:r>
            <a:r>
              <a:rPr lang="en-US" sz="2100" dirty="0">
                <a:sym typeface="Symbol"/>
              </a:rPr>
              <a:t></a:t>
            </a:r>
            <a:r>
              <a:rPr lang="en-US" sz="2100" dirty="0"/>
              <a:t> d, </a:t>
            </a:r>
            <a:r>
              <a:rPr lang="en-US" sz="2100" dirty="0">
                <a:sym typeface="Symbol"/>
              </a:rPr>
              <a:t></a:t>
            </a:r>
            <a:r>
              <a:rPr lang="en-US" sz="2100" dirty="0"/>
              <a:t>  </a:t>
            </a:r>
            <a:r>
              <a:rPr lang="en-US" sz="2100" dirty="0">
                <a:sym typeface="Symbol"/>
              </a:rPr>
              <a:t></a:t>
            </a:r>
            <a:r>
              <a:rPr lang="en-US" sz="2100" dirty="0"/>
              <a:t> </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6503402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457200" y="381000"/>
            <a:ext cx="8229600" cy="5745163"/>
          </a:xfrm>
        </p:spPr>
        <p:txBody>
          <a:bodyPr>
            <a:normAutofit lnSpcReduction="10000"/>
          </a:bodyPr>
          <a:lstStyle/>
          <a:p>
            <a:pPr marL="0" indent="0">
              <a:buNone/>
            </a:pPr>
            <a:r>
              <a:rPr lang="en-US" sz="2600" b="1" dirty="0"/>
              <a:t>3. Boolean expression : </a:t>
            </a:r>
            <a:r>
              <a:rPr lang="en-US" sz="2600" dirty="0"/>
              <a:t>It is said to be in conjunctive (logical OR) normal form or CNF, if it is the AND of clauses.</a:t>
            </a:r>
          </a:p>
          <a:p>
            <a:pPr marL="0" indent="0">
              <a:buNone/>
            </a:pPr>
            <a:r>
              <a:rPr lang="en-US" sz="2600" dirty="0"/>
              <a:t>	Following are the some alternative notations for logical operators.</a:t>
            </a:r>
          </a:p>
          <a:p>
            <a:pPr marL="0" indent="0">
              <a:buNone/>
            </a:pPr>
            <a:r>
              <a:rPr lang="en-US" sz="2600" dirty="0"/>
              <a:t>1.	</a:t>
            </a:r>
            <a:r>
              <a:rPr lang="en-US" sz="2600" dirty="0">
                <a:sym typeface="Symbol"/>
              </a:rPr>
              <a:t></a:t>
            </a:r>
            <a:r>
              <a:rPr lang="en-US" sz="2600" dirty="0"/>
              <a:t> (logical OR) </a:t>
            </a:r>
            <a:r>
              <a:rPr lang="en-US" sz="2600" dirty="0">
                <a:sym typeface="Symbol"/>
              </a:rPr>
              <a:t></a:t>
            </a:r>
            <a:r>
              <a:rPr lang="en-US" sz="2600" dirty="0"/>
              <a:t> used for sum (+ operator)</a:t>
            </a:r>
          </a:p>
          <a:p>
            <a:pPr marL="0" indent="0">
              <a:buNone/>
            </a:pPr>
            <a:r>
              <a:rPr lang="en-US" sz="2600" dirty="0"/>
              <a:t>2.	^ (logical AND) </a:t>
            </a:r>
            <a:r>
              <a:rPr lang="en-US" sz="2600" dirty="0">
                <a:sym typeface="Symbol"/>
              </a:rPr>
              <a:t></a:t>
            </a:r>
            <a:r>
              <a:rPr lang="en-US" sz="2600" dirty="0"/>
              <a:t> used fro product (like concatenation)</a:t>
            </a:r>
          </a:p>
          <a:p>
            <a:pPr marL="0" indent="0">
              <a:buNone/>
            </a:pPr>
            <a:r>
              <a:rPr lang="en-US" sz="2600" b="1" dirty="0"/>
              <a:t>Example 1 :</a:t>
            </a:r>
            <a:r>
              <a:rPr lang="en-US" sz="2600" dirty="0"/>
              <a:t>  Convert / write the expression (</a:t>
            </a:r>
            <a:r>
              <a:rPr lang="en-US" sz="2600" dirty="0">
                <a:sym typeface="Symbol"/>
              </a:rPr>
              <a:t></a:t>
            </a:r>
            <a:r>
              <a:rPr lang="en-US" sz="2600" dirty="0"/>
              <a:t> a </a:t>
            </a:r>
            <a:r>
              <a:rPr lang="en-US" sz="2600" dirty="0">
                <a:sym typeface="Symbol"/>
              </a:rPr>
              <a:t></a:t>
            </a:r>
            <a:r>
              <a:rPr lang="en-US" sz="2600" dirty="0"/>
              <a:t> b </a:t>
            </a:r>
            <a:r>
              <a:rPr lang="en-US" sz="2600" dirty="0">
                <a:sym typeface="Symbol"/>
              </a:rPr>
              <a:t></a:t>
            </a:r>
            <a:r>
              <a:rPr lang="en-US" sz="2600" dirty="0"/>
              <a:t> </a:t>
            </a:r>
            <a:r>
              <a:rPr lang="en-US" sz="2600" dirty="0">
                <a:sym typeface="Symbol"/>
              </a:rPr>
              <a:t></a:t>
            </a:r>
            <a:r>
              <a:rPr lang="en-US" sz="2600" dirty="0"/>
              <a:t> c) ^ (</a:t>
            </a:r>
            <a:r>
              <a:rPr lang="en-US" sz="2600" dirty="0">
                <a:sym typeface="Symbol"/>
              </a:rPr>
              <a:t></a:t>
            </a:r>
            <a:r>
              <a:rPr lang="en-US" sz="2600" dirty="0"/>
              <a:t> b </a:t>
            </a:r>
            <a:r>
              <a:rPr lang="en-US" sz="2600" dirty="0">
                <a:sym typeface="Symbol"/>
              </a:rPr>
              <a:t></a:t>
            </a:r>
            <a:r>
              <a:rPr lang="en-US" sz="2600" dirty="0"/>
              <a:t> </a:t>
            </a:r>
            <a:r>
              <a:rPr lang="en-US" sz="2600" dirty="0">
                <a:sym typeface="Symbol"/>
              </a:rPr>
              <a:t></a:t>
            </a:r>
            <a:r>
              <a:rPr lang="en-US" sz="2600" dirty="0"/>
              <a:t> c) into CNF </a:t>
            </a:r>
          </a:p>
          <a:p>
            <a:pPr marL="0" indent="0">
              <a:buNone/>
            </a:pPr>
            <a:r>
              <a:rPr lang="en-US" sz="2600" dirty="0">
                <a:sym typeface="Symbol"/>
              </a:rPr>
              <a:t>	</a:t>
            </a:r>
            <a:r>
              <a:rPr lang="en-US" sz="2600" dirty="0"/>
              <a:t> ( * b * ) ( + ) as it is the product of clauses ( + b + ) and ( + ) but, (b + ) ( + ) is not in CNF as (b + ) is not a clause.</a:t>
            </a:r>
          </a:p>
          <a:p>
            <a:endParaRPr lang="en-US" dirty="0"/>
          </a:p>
        </p:txBody>
      </p:sp>
    </p:spTree>
    <p:extLst>
      <p:ext uri="{BB962C8B-B14F-4D97-AF65-F5344CB8AC3E}">
        <p14:creationId xmlns:p14="http://schemas.microsoft.com/office/powerpoint/2010/main" val="3789854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229600" cy="1143000"/>
          </a:xfrm>
        </p:spPr>
        <p:txBody>
          <a:bodyPr>
            <a:normAutofit fontScale="90000"/>
          </a:bodyPr>
          <a:lstStyle/>
          <a:p>
            <a:r>
              <a:rPr lang="en-US" b="1" dirty="0"/>
              <a:t>6.9.2	  Converting Expression to CNF </a:t>
            </a:r>
            <a:br>
              <a:rPr lang="en-US" b="1" dirty="0"/>
            </a:br>
            <a:endParaRPr lang="en-US" dirty="0"/>
          </a:p>
        </p:txBody>
      </p:sp>
      <p:sp>
        <p:nvSpPr>
          <p:cNvPr id="3" name="Content Placeholder 2"/>
          <p:cNvSpPr>
            <a:spLocks noGrp="1"/>
          </p:cNvSpPr>
          <p:nvPr>
            <p:ph sz="quarter" idx="13"/>
          </p:nvPr>
        </p:nvSpPr>
        <p:spPr>
          <a:xfrm>
            <a:off x="1143000" y="2438400"/>
            <a:ext cx="7467600" cy="3474720"/>
          </a:xfrm>
        </p:spPr>
        <p:txBody>
          <a:bodyPr/>
          <a:lstStyle/>
          <a:p>
            <a:r>
              <a:rPr lang="en-US" dirty="0"/>
              <a:t>Conversion of any expression to CNF results in polynomial time reduction from SAT to CSAT i.e. CSAT is NP-complete.</a:t>
            </a:r>
          </a:p>
          <a:p>
            <a:r>
              <a:rPr lang="en-US" dirty="0"/>
              <a:t>Reduction of SAT to CSAT is the only one way to convert arbitrary Boolean expression to CNF and thus prove CSAT is NP-complete.</a:t>
            </a:r>
          </a:p>
          <a:p>
            <a:endParaRPr lang="en-US" dirty="0"/>
          </a:p>
        </p:txBody>
      </p:sp>
    </p:spTree>
    <p:extLst>
      <p:ext uri="{BB962C8B-B14F-4D97-AF65-F5344CB8AC3E}">
        <p14:creationId xmlns:p14="http://schemas.microsoft.com/office/powerpoint/2010/main" val="488814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3289" y="1447800"/>
            <a:ext cx="6512511" cy="4067368"/>
          </a:xfrm>
        </p:spPr>
        <p:txBody>
          <a:bodyPr/>
          <a:lstStyle/>
          <a:p>
            <a:endParaRPr lang="en-US" dirty="0"/>
          </a:p>
        </p:txBody>
      </p:sp>
      <p:sp>
        <p:nvSpPr>
          <p:cNvPr id="3" name="Content Placeholder 2"/>
          <p:cNvSpPr>
            <a:spLocks noGrp="1"/>
          </p:cNvSpPr>
          <p:nvPr>
            <p:ph sz="quarter" idx="13"/>
          </p:nvPr>
        </p:nvSpPr>
        <p:spPr>
          <a:xfrm>
            <a:off x="1143000" y="731520"/>
            <a:ext cx="6400800" cy="868680"/>
          </a:xfrm>
        </p:spPr>
        <p:txBody>
          <a:bodyPr/>
          <a:lstStyle/>
          <a:p>
            <a:r>
              <a:rPr lang="en-US" dirty="0"/>
              <a:t>Session 5</a:t>
            </a:r>
          </a:p>
        </p:txBody>
      </p:sp>
      <p:graphicFrame>
        <p:nvGraphicFramePr>
          <p:cNvPr id="4" name="Table 3"/>
          <p:cNvGraphicFramePr>
            <a:graphicFrameLocks noGrp="1"/>
          </p:cNvGraphicFramePr>
          <p:nvPr>
            <p:extLst>
              <p:ext uri="{D42A27DB-BD31-4B8C-83A1-F6EECF244321}">
                <p14:modId xmlns:p14="http://schemas.microsoft.com/office/powerpoint/2010/main" val="1974150949"/>
              </p:ext>
            </p:extLst>
          </p:nvPr>
        </p:nvGraphicFramePr>
        <p:xfrm>
          <a:off x="1219200" y="1524000"/>
          <a:ext cx="6325916" cy="4495800"/>
        </p:xfrm>
        <a:graphic>
          <a:graphicData uri="http://schemas.openxmlformats.org/drawingml/2006/table">
            <a:tbl>
              <a:tblPr firstRow="1" firstCol="1" bandRow="1">
                <a:tableStyleId>{5C22544A-7EE6-4342-B048-85BDC9FD1C3A}</a:tableStyleId>
              </a:tblPr>
              <a:tblGrid>
                <a:gridCol w="409427">
                  <a:extLst>
                    <a:ext uri="{9D8B030D-6E8A-4147-A177-3AD203B41FA5}">
                      <a16:colId xmlns:a16="http://schemas.microsoft.com/office/drawing/2014/main" val="20000"/>
                    </a:ext>
                  </a:extLst>
                </a:gridCol>
                <a:gridCol w="908472">
                  <a:extLst>
                    <a:ext uri="{9D8B030D-6E8A-4147-A177-3AD203B41FA5}">
                      <a16:colId xmlns:a16="http://schemas.microsoft.com/office/drawing/2014/main" val="20001"/>
                    </a:ext>
                  </a:extLst>
                </a:gridCol>
                <a:gridCol w="843455">
                  <a:extLst>
                    <a:ext uri="{9D8B030D-6E8A-4147-A177-3AD203B41FA5}">
                      <a16:colId xmlns:a16="http://schemas.microsoft.com/office/drawing/2014/main" val="20002"/>
                    </a:ext>
                  </a:extLst>
                </a:gridCol>
                <a:gridCol w="790740">
                  <a:extLst>
                    <a:ext uri="{9D8B030D-6E8A-4147-A177-3AD203B41FA5}">
                      <a16:colId xmlns:a16="http://schemas.microsoft.com/office/drawing/2014/main" val="20003"/>
                    </a:ext>
                  </a:extLst>
                </a:gridCol>
                <a:gridCol w="823541">
                  <a:extLst>
                    <a:ext uri="{9D8B030D-6E8A-4147-A177-3AD203B41FA5}">
                      <a16:colId xmlns:a16="http://schemas.microsoft.com/office/drawing/2014/main" val="20004"/>
                    </a:ext>
                  </a:extLst>
                </a:gridCol>
                <a:gridCol w="1021518">
                  <a:extLst>
                    <a:ext uri="{9D8B030D-6E8A-4147-A177-3AD203B41FA5}">
                      <a16:colId xmlns:a16="http://schemas.microsoft.com/office/drawing/2014/main" val="20005"/>
                    </a:ext>
                  </a:extLst>
                </a:gridCol>
                <a:gridCol w="685308">
                  <a:extLst>
                    <a:ext uri="{9D8B030D-6E8A-4147-A177-3AD203B41FA5}">
                      <a16:colId xmlns:a16="http://schemas.microsoft.com/office/drawing/2014/main" val="20006"/>
                    </a:ext>
                  </a:extLst>
                </a:gridCol>
                <a:gridCol w="843455">
                  <a:extLst>
                    <a:ext uri="{9D8B030D-6E8A-4147-A177-3AD203B41FA5}">
                      <a16:colId xmlns:a16="http://schemas.microsoft.com/office/drawing/2014/main" val="20007"/>
                    </a:ext>
                  </a:extLst>
                </a:gridCol>
              </a:tblGrid>
              <a:tr h="545607">
                <a:tc>
                  <a:txBody>
                    <a:bodyPr/>
                    <a:lstStyle/>
                    <a:p>
                      <a:pPr marL="0" marR="0">
                        <a:spcBef>
                          <a:spcPts val="0"/>
                        </a:spcBef>
                        <a:spcAft>
                          <a:spcPts val="0"/>
                        </a:spcAft>
                      </a:pPr>
                      <a:r>
                        <a:rPr lang="en-US" sz="900" dirty="0">
                          <a:effectLst/>
                        </a:rPr>
                        <a:t>Time (in min) </a:t>
                      </a:r>
                      <a:endParaRPr lang="en-US" sz="1100" dirty="0">
                        <a:solidFill>
                          <a:srgbClr val="000000"/>
                        </a:solidFill>
                        <a:effectLst/>
                        <a:latin typeface="Times New Roman"/>
                        <a:ea typeface="Calibri"/>
                      </a:endParaRPr>
                    </a:p>
                  </a:txBody>
                  <a:tcPr marL="63259" marR="63259" marT="0" marB="0"/>
                </a:tc>
                <a:tc>
                  <a:txBody>
                    <a:bodyPr/>
                    <a:lstStyle/>
                    <a:p>
                      <a:pPr marL="0" marR="0">
                        <a:spcBef>
                          <a:spcPts val="0"/>
                        </a:spcBef>
                        <a:spcAft>
                          <a:spcPts val="0"/>
                        </a:spcAft>
                      </a:pPr>
                      <a:r>
                        <a:rPr lang="en-US" sz="900">
                          <a:effectLst/>
                        </a:rPr>
                        <a:t>Content </a:t>
                      </a:r>
                      <a:endParaRPr lang="en-US" sz="1100">
                        <a:solidFill>
                          <a:srgbClr val="000000"/>
                        </a:solidFill>
                        <a:effectLst/>
                        <a:latin typeface="Times New Roman"/>
                        <a:ea typeface="Calibri"/>
                      </a:endParaRPr>
                    </a:p>
                  </a:txBody>
                  <a:tcPr marL="63259" marR="63259" marT="0" marB="0"/>
                </a:tc>
                <a:tc>
                  <a:txBody>
                    <a:bodyPr/>
                    <a:lstStyle/>
                    <a:p>
                      <a:pPr marL="0" marR="0">
                        <a:spcBef>
                          <a:spcPts val="0"/>
                        </a:spcBef>
                        <a:spcAft>
                          <a:spcPts val="0"/>
                        </a:spcAft>
                      </a:pPr>
                      <a:r>
                        <a:rPr lang="en-US" sz="900">
                          <a:effectLst/>
                        </a:rPr>
                        <a:t>Learning Aid/Methodology </a:t>
                      </a:r>
                      <a:endParaRPr lang="en-US" sz="1100">
                        <a:solidFill>
                          <a:srgbClr val="000000"/>
                        </a:solidFill>
                        <a:effectLst/>
                        <a:latin typeface="Times New Roman"/>
                        <a:ea typeface="Calibri"/>
                      </a:endParaRPr>
                    </a:p>
                  </a:txBody>
                  <a:tcPr marL="63259" marR="63259" marT="0" marB="0"/>
                </a:tc>
                <a:tc>
                  <a:txBody>
                    <a:bodyPr/>
                    <a:lstStyle/>
                    <a:p>
                      <a:pPr marL="0" marR="0">
                        <a:spcBef>
                          <a:spcPts val="0"/>
                        </a:spcBef>
                        <a:spcAft>
                          <a:spcPts val="0"/>
                        </a:spcAft>
                      </a:pPr>
                      <a:r>
                        <a:rPr lang="en-US" sz="900">
                          <a:effectLst/>
                        </a:rPr>
                        <a:t>Faculty Approach </a:t>
                      </a:r>
                      <a:endParaRPr lang="en-US" sz="1100">
                        <a:solidFill>
                          <a:srgbClr val="000000"/>
                        </a:solidFill>
                        <a:effectLst/>
                        <a:latin typeface="Times New Roman"/>
                        <a:ea typeface="Calibri"/>
                      </a:endParaRPr>
                    </a:p>
                  </a:txBody>
                  <a:tcPr marL="63259" marR="63259" marT="0" marB="0"/>
                </a:tc>
                <a:tc>
                  <a:txBody>
                    <a:bodyPr/>
                    <a:lstStyle/>
                    <a:p>
                      <a:pPr marL="0" marR="0">
                        <a:spcBef>
                          <a:spcPts val="0"/>
                        </a:spcBef>
                        <a:spcAft>
                          <a:spcPts val="0"/>
                        </a:spcAft>
                      </a:pPr>
                      <a:r>
                        <a:rPr lang="en-US" sz="900">
                          <a:effectLst/>
                        </a:rPr>
                        <a:t>Typical Student Activity </a:t>
                      </a:r>
                      <a:endParaRPr lang="en-US" sz="1100">
                        <a:solidFill>
                          <a:srgbClr val="000000"/>
                        </a:solidFill>
                        <a:effectLst/>
                        <a:latin typeface="Times New Roman"/>
                        <a:ea typeface="Calibri"/>
                      </a:endParaRPr>
                    </a:p>
                  </a:txBody>
                  <a:tcPr marL="63259" marR="63259" marT="0" marB="0"/>
                </a:tc>
                <a:tc>
                  <a:txBody>
                    <a:bodyPr/>
                    <a:lstStyle/>
                    <a:p>
                      <a:pPr marL="0" marR="0">
                        <a:spcBef>
                          <a:spcPts val="0"/>
                        </a:spcBef>
                        <a:spcAft>
                          <a:spcPts val="0"/>
                        </a:spcAft>
                      </a:pPr>
                      <a:r>
                        <a:rPr lang="en-US" sz="900">
                          <a:effectLst/>
                        </a:rPr>
                        <a:t>Skill /Competency Developed </a:t>
                      </a:r>
                      <a:endParaRPr lang="en-US" sz="1100">
                        <a:solidFill>
                          <a:srgbClr val="000000"/>
                        </a:solidFill>
                        <a:effectLst/>
                        <a:latin typeface="Times New Roman"/>
                        <a:ea typeface="Calibri"/>
                      </a:endParaRPr>
                    </a:p>
                  </a:txBody>
                  <a:tcPr marL="63259" marR="63259" marT="0" marB="0"/>
                </a:tc>
                <a:tc>
                  <a:txBody>
                    <a:bodyPr/>
                    <a:lstStyle/>
                    <a:p>
                      <a:pPr marL="0" marR="0">
                        <a:spcBef>
                          <a:spcPts val="0"/>
                        </a:spcBef>
                        <a:spcAft>
                          <a:spcPts val="0"/>
                        </a:spcAft>
                      </a:pPr>
                      <a:r>
                        <a:rPr lang="en-US" sz="900">
                          <a:effectLst/>
                        </a:rPr>
                        <a:t>Course </a:t>
                      </a:r>
                      <a:endParaRPr lang="en-US" sz="1100">
                        <a:effectLst/>
                      </a:endParaRPr>
                    </a:p>
                    <a:p>
                      <a:pPr marL="0" marR="0">
                        <a:spcBef>
                          <a:spcPts val="0"/>
                        </a:spcBef>
                        <a:spcAft>
                          <a:spcPts val="0"/>
                        </a:spcAft>
                      </a:pPr>
                      <a:r>
                        <a:rPr lang="en-US" sz="900">
                          <a:effectLst/>
                        </a:rPr>
                        <a:t>Outcomes </a:t>
                      </a:r>
                      <a:endParaRPr lang="en-US" sz="1100">
                        <a:solidFill>
                          <a:srgbClr val="000000"/>
                        </a:solidFill>
                        <a:effectLst/>
                        <a:latin typeface="Times New Roman"/>
                        <a:ea typeface="Calibri"/>
                      </a:endParaRPr>
                    </a:p>
                  </a:txBody>
                  <a:tcPr marL="63259" marR="63259" marT="0" marB="0"/>
                </a:tc>
                <a:tc>
                  <a:txBody>
                    <a:bodyPr/>
                    <a:lstStyle/>
                    <a:p>
                      <a:pPr marL="0" marR="0">
                        <a:spcBef>
                          <a:spcPts val="0"/>
                        </a:spcBef>
                        <a:spcAft>
                          <a:spcPts val="0"/>
                        </a:spcAft>
                      </a:pPr>
                      <a:r>
                        <a:rPr lang="en-US" sz="900">
                          <a:effectLst/>
                        </a:rPr>
                        <a:t>Program Outcomes </a:t>
                      </a:r>
                      <a:endParaRPr lang="en-US" sz="1100">
                        <a:effectLst/>
                      </a:endParaRPr>
                    </a:p>
                    <a:p>
                      <a:pPr marL="0" marR="0">
                        <a:spcBef>
                          <a:spcPts val="0"/>
                        </a:spcBef>
                        <a:spcAft>
                          <a:spcPts val="0"/>
                        </a:spcAft>
                      </a:pPr>
                      <a:r>
                        <a:rPr lang="en-US" sz="900">
                          <a:effectLst/>
                        </a:rPr>
                        <a:t> </a:t>
                      </a:r>
                      <a:endParaRPr lang="en-US" sz="1100">
                        <a:solidFill>
                          <a:srgbClr val="000000"/>
                        </a:solidFill>
                        <a:effectLst/>
                        <a:latin typeface="Times New Roman"/>
                        <a:ea typeface="Calibri"/>
                      </a:endParaRPr>
                    </a:p>
                  </a:txBody>
                  <a:tcPr marL="63259" marR="63259" marT="0" marB="0"/>
                </a:tc>
                <a:extLst>
                  <a:ext uri="{0D108BD9-81ED-4DB2-BD59-A6C34878D82A}">
                    <a16:rowId xmlns:a16="http://schemas.microsoft.com/office/drawing/2014/main" val="10000"/>
                  </a:ext>
                </a:extLst>
              </a:tr>
              <a:tr h="2007833">
                <a:tc>
                  <a:txBody>
                    <a:bodyPr/>
                    <a:lstStyle/>
                    <a:p>
                      <a:pPr marL="0" marR="0">
                        <a:lnSpc>
                          <a:spcPct val="115000"/>
                        </a:lnSpc>
                        <a:spcBef>
                          <a:spcPts val="0"/>
                        </a:spcBef>
                        <a:spcAft>
                          <a:spcPts val="1000"/>
                        </a:spcAft>
                      </a:pPr>
                      <a:r>
                        <a:rPr lang="en-US" sz="1100">
                          <a:effectLst/>
                        </a:rPr>
                        <a:t>25</a:t>
                      </a:r>
                      <a:endParaRPr lang="en-US" sz="1000">
                        <a:effectLst/>
                        <a:latin typeface="Segoe UI"/>
                        <a:ea typeface="Calibri"/>
                        <a:cs typeface="Times New Roman"/>
                      </a:endParaRPr>
                    </a:p>
                  </a:txBody>
                  <a:tcPr marL="63259" marR="63259" marT="0" marB="0"/>
                </a:tc>
                <a:tc>
                  <a:txBody>
                    <a:bodyPr/>
                    <a:lstStyle/>
                    <a:p>
                      <a:pPr marL="0" marR="0">
                        <a:lnSpc>
                          <a:spcPct val="115000"/>
                        </a:lnSpc>
                        <a:spcBef>
                          <a:spcPts val="0"/>
                        </a:spcBef>
                        <a:spcAft>
                          <a:spcPts val="0"/>
                        </a:spcAft>
                      </a:pPr>
                      <a:r>
                        <a:rPr lang="en-US" sz="1100">
                          <a:effectLst/>
                        </a:rPr>
                        <a:t>A</a:t>
                      </a:r>
                      <a:endParaRPr lang="en-US" sz="1000">
                        <a:effectLst/>
                      </a:endParaRPr>
                    </a:p>
                    <a:p>
                      <a:pPr marL="0" marR="0">
                        <a:lnSpc>
                          <a:spcPct val="115000"/>
                        </a:lnSpc>
                        <a:spcBef>
                          <a:spcPts val="0"/>
                        </a:spcBef>
                        <a:spcAft>
                          <a:spcPts val="1000"/>
                        </a:spcAft>
                      </a:pPr>
                      <a:r>
                        <a:rPr lang="en-US" sz="1100">
                          <a:effectLst/>
                        </a:rPr>
                        <a:t>Restricted Satisfiability Problem: Normal Forms for Boolean Expressions,</a:t>
                      </a:r>
                      <a:endParaRPr lang="en-US" sz="1000">
                        <a:effectLst/>
                        <a:latin typeface="Segoe UI"/>
                        <a:ea typeface="Calibri"/>
                        <a:cs typeface="Times New Roman"/>
                      </a:endParaRPr>
                    </a:p>
                  </a:txBody>
                  <a:tcPr marL="63259" marR="63259" marT="0" marB="0"/>
                </a:tc>
                <a:tc>
                  <a:txBody>
                    <a:bodyPr/>
                    <a:lstStyle/>
                    <a:p>
                      <a:pPr marL="0" marR="0">
                        <a:lnSpc>
                          <a:spcPct val="115000"/>
                        </a:lnSpc>
                        <a:spcBef>
                          <a:spcPts val="0"/>
                        </a:spcBef>
                        <a:spcAft>
                          <a:spcPts val="1000"/>
                        </a:spcAft>
                      </a:pPr>
                      <a:r>
                        <a:rPr lang="en-US" sz="1100">
                          <a:effectLst/>
                        </a:rPr>
                        <a:t>Presentation </a:t>
                      </a:r>
                      <a:endParaRPr lang="en-US" sz="1000">
                        <a:effectLst/>
                      </a:endParaRPr>
                    </a:p>
                    <a:p>
                      <a:pPr marL="0" marR="0">
                        <a:spcBef>
                          <a:spcPts val="0"/>
                        </a:spcBef>
                        <a:spcAft>
                          <a:spcPts val="0"/>
                        </a:spcAft>
                      </a:pPr>
                      <a:r>
                        <a:rPr lang="en-US" sz="1100">
                          <a:effectLst/>
                        </a:rPr>
                        <a:t> </a:t>
                      </a:r>
                      <a:endParaRPr lang="en-US" sz="1100">
                        <a:solidFill>
                          <a:srgbClr val="000000"/>
                        </a:solidFill>
                        <a:effectLst/>
                        <a:latin typeface="Times New Roman"/>
                        <a:ea typeface="Calibri"/>
                      </a:endParaRPr>
                    </a:p>
                  </a:txBody>
                  <a:tcPr marL="63259" marR="63259" marT="0" marB="0"/>
                </a:tc>
                <a:tc>
                  <a:txBody>
                    <a:bodyPr/>
                    <a:lstStyle/>
                    <a:p>
                      <a:pPr marL="0" marR="0">
                        <a:spcBef>
                          <a:spcPts val="0"/>
                        </a:spcBef>
                        <a:spcAft>
                          <a:spcPts val="0"/>
                        </a:spcAft>
                      </a:pPr>
                      <a:r>
                        <a:rPr lang="en-US" sz="1100">
                          <a:effectLst/>
                        </a:rPr>
                        <a:t>List </a:t>
                      </a:r>
                    </a:p>
                    <a:p>
                      <a:pPr marL="0" marR="0">
                        <a:lnSpc>
                          <a:spcPct val="115000"/>
                        </a:lnSpc>
                        <a:spcBef>
                          <a:spcPts val="0"/>
                        </a:spcBef>
                        <a:spcAft>
                          <a:spcPts val="1000"/>
                        </a:spcAft>
                      </a:pPr>
                      <a:r>
                        <a:rPr lang="en-US" sz="1100">
                          <a:effectLst/>
                        </a:rPr>
                        <a:t>Facilitates</a:t>
                      </a:r>
                      <a:endParaRPr lang="en-US" sz="1000">
                        <a:effectLst/>
                        <a:latin typeface="Segoe UI"/>
                        <a:ea typeface="Calibri"/>
                        <a:cs typeface="Times New Roman"/>
                      </a:endParaRPr>
                    </a:p>
                  </a:txBody>
                  <a:tcPr marL="63259" marR="63259" marT="0" marB="0"/>
                </a:tc>
                <a:tc>
                  <a:txBody>
                    <a:bodyPr/>
                    <a:lstStyle/>
                    <a:p>
                      <a:pPr marL="0" marR="0">
                        <a:spcBef>
                          <a:spcPts val="0"/>
                        </a:spcBef>
                        <a:spcAft>
                          <a:spcPts val="0"/>
                        </a:spcAft>
                      </a:pPr>
                      <a:r>
                        <a:rPr lang="en-US" sz="1100">
                          <a:effectLst/>
                        </a:rPr>
                        <a:t>Listens </a:t>
                      </a:r>
                    </a:p>
                    <a:p>
                      <a:pPr marL="0" marR="0">
                        <a:lnSpc>
                          <a:spcPct val="115000"/>
                        </a:lnSpc>
                        <a:spcBef>
                          <a:spcPts val="0"/>
                        </a:spcBef>
                        <a:spcAft>
                          <a:spcPts val="1000"/>
                        </a:spcAft>
                      </a:pPr>
                      <a:r>
                        <a:rPr lang="en-US" sz="1100">
                          <a:effectLst/>
                        </a:rPr>
                        <a:t> </a:t>
                      </a:r>
                      <a:endParaRPr lang="en-US" sz="1000">
                        <a:effectLst/>
                        <a:latin typeface="Segoe UI"/>
                        <a:ea typeface="Calibri"/>
                        <a:cs typeface="Times New Roman"/>
                      </a:endParaRPr>
                    </a:p>
                  </a:txBody>
                  <a:tcPr marL="63259" marR="63259" marT="0" marB="0"/>
                </a:tc>
                <a:tc>
                  <a:txBody>
                    <a:bodyPr/>
                    <a:lstStyle/>
                    <a:p>
                      <a:pPr marL="0" marR="0">
                        <a:spcBef>
                          <a:spcPts val="0"/>
                        </a:spcBef>
                        <a:spcAft>
                          <a:spcPts val="0"/>
                        </a:spcAft>
                      </a:pPr>
                      <a:r>
                        <a:rPr lang="en-US" sz="1100">
                          <a:effectLst/>
                        </a:rPr>
                        <a:t> </a:t>
                      </a:r>
                    </a:p>
                    <a:p>
                      <a:pPr marL="0" marR="0">
                        <a:spcBef>
                          <a:spcPts val="0"/>
                        </a:spcBef>
                        <a:spcAft>
                          <a:spcPts val="0"/>
                        </a:spcAft>
                      </a:pPr>
                      <a:r>
                        <a:rPr lang="en-US" sz="1100">
                          <a:effectLst/>
                        </a:rPr>
                        <a:t>Knowledge </a:t>
                      </a:r>
                    </a:p>
                    <a:p>
                      <a:pPr marL="0" marR="0">
                        <a:lnSpc>
                          <a:spcPct val="115000"/>
                        </a:lnSpc>
                        <a:spcBef>
                          <a:spcPts val="0"/>
                        </a:spcBef>
                        <a:spcAft>
                          <a:spcPts val="1000"/>
                        </a:spcAft>
                      </a:pPr>
                      <a:r>
                        <a:rPr lang="en-US" sz="1100">
                          <a:effectLst/>
                        </a:rPr>
                        <a:t>Comprehension </a:t>
                      </a:r>
                      <a:endParaRPr lang="en-US" sz="1000">
                        <a:effectLst/>
                        <a:latin typeface="Segoe UI"/>
                        <a:ea typeface="Calibri"/>
                        <a:cs typeface="Times New Roman"/>
                      </a:endParaRPr>
                    </a:p>
                  </a:txBody>
                  <a:tcPr marL="63259" marR="63259" marT="0" marB="0"/>
                </a:tc>
                <a:tc rowSpan="3">
                  <a:txBody>
                    <a:bodyPr/>
                    <a:lstStyle/>
                    <a:p>
                      <a:pPr marL="0" marR="0">
                        <a:lnSpc>
                          <a:spcPct val="115000"/>
                        </a:lnSpc>
                        <a:spcBef>
                          <a:spcPts val="0"/>
                        </a:spcBef>
                        <a:spcAft>
                          <a:spcPts val="0"/>
                        </a:spcAft>
                      </a:pPr>
                      <a:r>
                        <a:rPr lang="en-US" sz="1200" dirty="0">
                          <a:effectLst/>
                          <a:latin typeface="Times New Roman"/>
                          <a:ea typeface="Calibri"/>
                          <a:cs typeface="Mangal"/>
                        </a:rPr>
                        <a:t>CO3, CO5</a:t>
                      </a:r>
                      <a:endParaRPr lang="en-US" sz="1100" dirty="0">
                        <a:effectLst/>
                        <a:latin typeface="Calibri"/>
                        <a:ea typeface="Calibri"/>
                        <a:cs typeface="Mangal"/>
                      </a:endParaRPr>
                    </a:p>
                  </a:txBody>
                  <a:tcPr marL="68580" marR="68580" marT="0" marB="0"/>
                </a:tc>
                <a:tc rowSpan="3">
                  <a:txBody>
                    <a:bodyPr/>
                    <a:lstStyle/>
                    <a:p>
                      <a:pPr marL="0" marR="0">
                        <a:lnSpc>
                          <a:spcPct val="115000"/>
                        </a:lnSpc>
                        <a:spcBef>
                          <a:spcPts val="0"/>
                        </a:spcBef>
                        <a:spcAft>
                          <a:spcPts val="0"/>
                        </a:spcAft>
                      </a:pPr>
                      <a:r>
                        <a:rPr lang="en-US" sz="1200" dirty="0">
                          <a:effectLst/>
                          <a:latin typeface="Times New Roman"/>
                          <a:ea typeface="Calibri"/>
                          <a:cs typeface="Mangal"/>
                        </a:rPr>
                        <a:t>POa1,</a:t>
                      </a:r>
                      <a:endParaRPr lang="en-US" sz="1100" dirty="0">
                        <a:effectLst/>
                        <a:latin typeface="Calibri"/>
                        <a:ea typeface="Calibri"/>
                        <a:cs typeface="Mangal"/>
                      </a:endParaRPr>
                    </a:p>
                    <a:p>
                      <a:pPr marL="0" marR="0">
                        <a:lnSpc>
                          <a:spcPct val="115000"/>
                        </a:lnSpc>
                        <a:spcBef>
                          <a:spcPts val="0"/>
                        </a:spcBef>
                        <a:spcAft>
                          <a:spcPts val="0"/>
                        </a:spcAft>
                      </a:pPr>
                      <a:r>
                        <a:rPr lang="en-US" sz="1200" dirty="0">
                          <a:effectLst/>
                          <a:latin typeface="Times New Roman"/>
                          <a:ea typeface="Calibri"/>
                          <a:cs typeface="Mangal"/>
                        </a:rPr>
                        <a:t>POb2,</a:t>
                      </a:r>
                      <a:endParaRPr lang="en-US" sz="1100" dirty="0">
                        <a:effectLst/>
                        <a:latin typeface="Calibri"/>
                        <a:ea typeface="Calibri"/>
                        <a:cs typeface="Mangal"/>
                      </a:endParaRPr>
                    </a:p>
                    <a:p>
                      <a:pPr marL="0" marR="0">
                        <a:lnSpc>
                          <a:spcPct val="115000"/>
                        </a:lnSpc>
                        <a:spcBef>
                          <a:spcPts val="0"/>
                        </a:spcBef>
                        <a:spcAft>
                          <a:spcPts val="0"/>
                        </a:spcAft>
                      </a:pPr>
                      <a:r>
                        <a:rPr lang="en-US" sz="1200" dirty="0">
                          <a:effectLst/>
                          <a:latin typeface="Times New Roman"/>
                          <a:ea typeface="Calibri"/>
                          <a:cs typeface="Mangal"/>
                        </a:rPr>
                        <a:t>POc1, Pod2, POg1, POl2</a:t>
                      </a:r>
                      <a:endParaRPr lang="en-US" sz="1100" dirty="0">
                        <a:effectLst/>
                        <a:latin typeface="Calibri"/>
                        <a:ea typeface="Calibri"/>
                        <a:cs typeface="Mangal"/>
                      </a:endParaRPr>
                    </a:p>
                  </a:txBody>
                  <a:tcPr marL="68580" marR="68580" marT="0" marB="0"/>
                </a:tc>
                <a:extLst>
                  <a:ext uri="{0D108BD9-81ED-4DB2-BD59-A6C34878D82A}">
                    <a16:rowId xmlns:a16="http://schemas.microsoft.com/office/drawing/2014/main" val="10001"/>
                  </a:ext>
                </a:extLst>
              </a:tr>
              <a:tr h="1505875">
                <a:tc>
                  <a:txBody>
                    <a:bodyPr/>
                    <a:lstStyle/>
                    <a:p>
                      <a:pPr marL="0" marR="0">
                        <a:lnSpc>
                          <a:spcPct val="115000"/>
                        </a:lnSpc>
                        <a:spcBef>
                          <a:spcPts val="0"/>
                        </a:spcBef>
                        <a:spcAft>
                          <a:spcPts val="1000"/>
                        </a:spcAft>
                      </a:pPr>
                      <a:r>
                        <a:rPr lang="en-US" sz="1100">
                          <a:effectLst/>
                        </a:rPr>
                        <a:t>25</a:t>
                      </a:r>
                      <a:endParaRPr lang="en-US" sz="1000">
                        <a:effectLst/>
                        <a:latin typeface="Segoe UI"/>
                        <a:ea typeface="Calibri"/>
                        <a:cs typeface="Times New Roman"/>
                      </a:endParaRPr>
                    </a:p>
                  </a:txBody>
                  <a:tcPr marL="63259" marR="63259" marT="0" marB="0"/>
                </a:tc>
                <a:tc>
                  <a:txBody>
                    <a:bodyPr/>
                    <a:lstStyle/>
                    <a:p>
                      <a:pPr marL="0" marR="0">
                        <a:lnSpc>
                          <a:spcPct val="115000"/>
                        </a:lnSpc>
                        <a:spcBef>
                          <a:spcPts val="0"/>
                        </a:spcBef>
                        <a:spcAft>
                          <a:spcPts val="1000"/>
                        </a:spcAft>
                      </a:pPr>
                      <a:r>
                        <a:rPr lang="en-US" sz="1100">
                          <a:effectLst/>
                        </a:rPr>
                        <a:t> Converting Expressions to CNF,The Problem of Independent Sets</a:t>
                      </a:r>
                      <a:endParaRPr lang="en-US" sz="1000">
                        <a:effectLst/>
                        <a:latin typeface="Segoe UI"/>
                        <a:ea typeface="Calibri"/>
                        <a:cs typeface="Times New Roman"/>
                      </a:endParaRPr>
                    </a:p>
                  </a:txBody>
                  <a:tcPr marL="63259" marR="63259" marT="0" marB="0"/>
                </a:tc>
                <a:tc>
                  <a:txBody>
                    <a:bodyPr/>
                    <a:lstStyle/>
                    <a:p>
                      <a:pPr marL="0" marR="0">
                        <a:lnSpc>
                          <a:spcPct val="115000"/>
                        </a:lnSpc>
                        <a:spcBef>
                          <a:spcPts val="0"/>
                        </a:spcBef>
                        <a:spcAft>
                          <a:spcPts val="1000"/>
                        </a:spcAft>
                      </a:pPr>
                      <a:r>
                        <a:rPr lang="en-US" sz="1100">
                          <a:effectLst/>
                        </a:rPr>
                        <a:t>Presentation </a:t>
                      </a:r>
                      <a:endParaRPr lang="en-US" sz="1000">
                        <a:effectLst/>
                      </a:endParaRPr>
                    </a:p>
                    <a:p>
                      <a:pPr marL="0" marR="0">
                        <a:lnSpc>
                          <a:spcPct val="115000"/>
                        </a:lnSpc>
                        <a:spcBef>
                          <a:spcPts val="0"/>
                        </a:spcBef>
                        <a:spcAft>
                          <a:spcPts val="1000"/>
                        </a:spcAft>
                      </a:pPr>
                      <a:r>
                        <a:rPr lang="en-US" sz="1100">
                          <a:effectLst/>
                        </a:rPr>
                        <a:t>And Black board</a:t>
                      </a:r>
                      <a:endParaRPr lang="en-US" sz="1000">
                        <a:effectLst/>
                        <a:latin typeface="Segoe UI"/>
                        <a:ea typeface="Calibri"/>
                        <a:cs typeface="Times New Roman"/>
                      </a:endParaRPr>
                    </a:p>
                  </a:txBody>
                  <a:tcPr marL="63259" marR="63259" marT="0" marB="0"/>
                </a:tc>
                <a:tc>
                  <a:txBody>
                    <a:bodyPr/>
                    <a:lstStyle/>
                    <a:p>
                      <a:pPr marL="0" marR="0">
                        <a:spcBef>
                          <a:spcPts val="0"/>
                        </a:spcBef>
                        <a:spcAft>
                          <a:spcPts val="0"/>
                        </a:spcAft>
                      </a:pPr>
                      <a:r>
                        <a:rPr lang="en-US" sz="1100">
                          <a:effectLst/>
                        </a:rPr>
                        <a:t>Explain </a:t>
                      </a:r>
                    </a:p>
                    <a:p>
                      <a:pPr marL="0" marR="0">
                        <a:lnSpc>
                          <a:spcPct val="115000"/>
                        </a:lnSpc>
                        <a:spcBef>
                          <a:spcPts val="0"/>
                        </a:spcBef>
                        <a:spcAft>
                          <a:spcPts val="1000"/>
                        </a:spcAft>
                      </a:pPr>
                      <a:r>
                        <a:rPr lang="en-US" sz="1100">
                          <a:effectLst/>
                        </a:rPr>
                        <a:t>Facilitates</a:t>
                      </a:r>
                      <a:endParaRPr lang="en-US" sz="1000">
                        <a:effectLst/>
                        <a:latin typeface="Segoe UI"/>
                        <a:ea typeface="Calibri"/>
                        <a:cs typeface="Times New Roman"/>
                      </a:endParaRPr>
                    </a:p>
                  </a:txBody>
                  <a:tcPr marL="63259" marR="63259" marT="0" marB="0"/>
                </a:tc>
                <a:tc>
                  <a:txBody>
                    <a:bodyPr/>
                    <a:lstStyle/>
                    <a:p>
                      <a:pPr marL="0" marR="0">
                        <a:spcBef>
                          <a:spcPts val="0"/>
                        </a:spcBef>
                        <a:spcAft>
                          <a:spcPts val="0"/>
                        </a:spcAft>
                      </a:pPr>
                      <a:r>
                        <a:rPr lang="en-US" sz="1100">
                          <a:effectLst/>
                        </a:rPr>
                        <a:t>Listens </a:t>
                      </a:r>
                    </a:p>
                    <a:p>
                      <a:pPr marL="0" marR="0">
                        <a:spcBef>
                          <a:spcPts val="0"/>
                        </a:spcBef>
                        <a:spcAft>
                          <a:spcPts val="0"/>
                        </a:spcAft>
                      </a:pPr>
                      <a:r>
                        <a:rPr lang="en-US" sz="1100">
                          <a:effectLst/>
                        </a:rPr>
                        <a:t>Participate </a:t>
                      </a:r>
                    </a:p>
                    <a:p>
                      <a:pPr marL="0" marR="0">
                        <a:spcBef>
                          <a:spcPts val="0"/>
                        </a:spcBef>
                        <a:spcAft>
                          <a:spcPts val="0"/>
                        </a:spcAft>
                      </a:pPr>
                      <a:r>
                        <a:rPr lang="en-US" sz="1100">
                          <a:effectLst/>
                        </a:rPr>
                        <a:t>Discuss </a:t>
                      </a:r>
                      <a:endParaRPr lang="en-US" sz="1100">
                        <a:solidFill>
                          <a:srgbClr val="000000"/>
                        </a:solidFill>
                        <a:effectLst/>
                        <a:latin typeface="Times New Roman"/>
                        <a:ea typeface="Calibri"/>
                      </a:endParaRPr>
                    </a:p>
                  </a:txBody>
                  <a:tcPr marL="63259" marR="63259" marT="0" marB="0"/>
                </a:tc>
                <a:tc>
                  <a:txBody>
                    <a:bodyPr/>
                    <a:lstStyle/>
                    <a:p>
                      <a:pPr marL="0" marR="0">
                        <a:lnSpc>
                          <a:spcPct val="115000"/>
                        </a:lnSpc>
                        <a:spcBef>
                          <a:spcPts val="0"/>
                        </a:spcBef>
                        <a:spcAft>
                          <a:spcPts val="1000"/>
                        </a:spcAft>
                      </a:pPr>
                      <a:r>
                        <a:rPr lang="en-US" sz="1100">
                          <a:effectLst/>
                        </a:rPr>
                        <a:t> Knowledge</a:t>
                      </a:r>
                      <a:endParaRPr lang="en-US" sz="1000">
                        <a:effectLst/>
                        <a:latin typeface="Segoe UI"/>
                        <a:ea typeface="Calibri"/>
                        <a:cs typeface="Times New Roman"/>
                      </a:endParaRPr>
                    </a:p>
                  </a:txBody>
                  <a:tcPr marL="63259" marR="63259"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436485">
                <a:tc>
                  <a:txBody>
                    <a:bodyPr/>
                    <a:lstStyle/>
                    <a:p>
                      <a:pPr marL="0" marR="0">
                        <a:lnSpc>
                          <a:spcPct val="115000"/>
                        </a:lnSpc>
                        <a:spcBef>
                          <a:spcPts val="0"/>
                        </a:spcBef>
                        <a:spcAft>
                          <a:spcPts val="1000"/>
                        </a:spcAft>
                      </a:pPr>
                      <a:r>
                        <a:rPr lang="en-US" sz="1100">
                          <a:effectLst/>
                        </a:rPr>
                        <a:t>5</a:t>
                      </a:r>
                      <a:endParaRPr lang="en-US" sz="1000">
                        <a:effectLst/>
                        <a:latin typeface="Segoe UI"/>
                        <a:ea typeface="Calibri"/>
                        <a:cs typeface="Times New Roman"/>
                      </a:endParaRPr>
                    </a:p>
                  </a:txBody>
                  <a:tcPr marL="63259" marR="63259" marT="0" marB="0"/>
                </a:tc>
                <a:tc>
                  <a:txBody>
                    <a:bodyPr/>
                    <a:lstStyle/>
                    <a:p>
                      <a:pPr marL="0" marR="0">
                        <a:spcBef>
                          <a:spcPts val="0"/>
                        </a:spcBef>
                        <a:spcAft>
                          <a:spcPts val="0"/>
                        </a:spcAft>
                      </a:pPr>
                      <a:r>
                        <a:rPr lang="en-US" sz="1100">
                          <a:effectLst/>
                        </a:rPr>
                        <a:t>Revision </a:t>
                      </a:r>
                      <a:endParaRPr lang="en-US" sz="1100">
                        <a:solidFill>
                          <a:srgbClr val="000000"/>
                        </a:solidFill>
                        <a:effectLst/>
                        <a:latin typeface="Times New Roman"/>
                        <a:ea typeface="Calibri"/>
                      </a:endParaRPr>
                    </a:p>
                  </a:txBody>
                  <a:tcPr marL="63259" marR="63259" marT="0" marB="0"/>
                </a:tc>
                <a:tc>
                  <a:txBody>
                    <a:bodyPr/>
                    <a:lstStyle/>
                    <a:p>
                      <a:pPr marL="0" marR="0">
                        <a:spcBef>
                          <a:spcPts val="0"/>
                        </a:spcBef>
                        <a:spcAft>
                          <a:spcPts val="0"/>
                        </a:spcAft>
                      </a:pPr>
                      <a:r>
                        <a:rPr lang="en-US" sz="1100">
                          <a:effectLst/>
                        </a:rPr>
                        <a:t>Key Words </a:t>
                      </a:r>
                      <a:endParaRPr lang="en-US" sz="1100">
                        <a:solidFill>
                          <a:srgbClr val="000000"/>
                        </a:solidFill>
                        <a:effectLst/>
                        <a:latin typeface="Times New Roman"/>
                        <a:ea typeface="Calibri"/>
                      </a:endParaRPr>
                    </a:p>
                  </a:txBody>
                  <a:tcPr marL="63259" marR="63259" marT="0" marB="0"/>
                </a:tc>
                <a:tc>
                  <a:txBody>
                    <a:bodyPr/>
                    <a:lstStyle/>
                    <a:p>
                      <a:pPr marL="0" marR="0">
                        <a:spcBef>
                          <a:spcPts val="0"/>
                        </a:spcBef>
                        <a:spcAft>
                          <a:spcPts val="0"/>
                        </a:spcAft>
                      </a:pPr>
                      <a:r>
                        <a:rPr lang="en-US" sz="1100">
                          <a:effectLst/>
                        </a:rPr>
                        <a:t>List </a:t>
                      </a:r>
                    </a:p>
                    <a:p>
                      <a:pPr marL="0" marR="0">
                        <a:spcBef>
                          <a:spcPts val="0"/>
                        </a:spcBef>
                        <a:spcAft>
                          <a:spcPts val="0"/>
                        </a:spcAft>
                      </a:pPr>
                      <a:r>
                        <a:rPr lang="en-US" sz="1100">
                          <a:effectLst/>
                        </a:rPr>
                        <a:t>Facilitates </a:t>
                      </a:r>
                      <a:endParaRPr lang="en-US" sz="1100">
                        <a:solidFill>
                          <a:srgbClr val="000000"/>
                        </a:solidFill>
                        <a:effectLst/>
                        <a:latin typeface="Times New Roman"/>
                        <a:ea typeface="Calibri"/>
                      </a:endParaRPr>
                    </a:p>
                  </a:txBody>
                  <a:tcPr marL="63259" marR="63259" marT="0" marB="0"/>
                </a:tc>
                <a:tc>
                  <a:txBody>
                    <a:bodyPr/>
                    <a:lstStyle/>
                    <a:p>
                      <a:pPr marL="0" marR="0">
                        <a:spcBef>
                          <a:spcPts val="0"/>
                        </a:spcBef>
                        <a:spcAft>
                          <a:spcPts val="0"/>
                        </a:spcAft>
                      </a:pPr>
                      <a:r>
                        <a:rPr lang="en-US" sz="1100">
                          <a:effectLst/>
                        </a:rPr>
                        <a:t>Identifies </a:t>
                      </a:r>
                      <a:endParaRPr lang="en-US" sz="1100">
                        <a:solidFill>
                          <a:srgbClr val="000000"/>
                        </a:solidFill>
                        <a:effectLst/>
                        <a:latin typeface="Times New Roman"/>
                        <a:ea typeface="Calibri"/>
                      </a:endParaRPr>
                    </a:p>
                  </a:txBody>
                  <a:tcPr marL="63259" marR="63259" marT="0" marB="0"/>
                </a:tc>
                <a:tc>
                  <a:txBody>
                    <a:bodyPr/>
                    <a:lstStyle/>
                    <a:p>
                      <a:pPr marL="0" marR="0">
                        <a:spcBef>
                          <a:spcPts val="0"/>
                        </a:spcBef>
                        <a:spcAft>
                          <a:spcPts val="0"/>
                        </a:spcAft>
                      </a:pPr>
                      <a:r>
                        <a:rPr lang="en-US" sz="1100" dirty="0">
                          <a:effectLst/>
                        </a:rPr>
                        <a:t> Knowledge</a:t>
                      </a:r>
                      <a:endParaRPr lang="en-US" sz="1100" dirty="0">
                        <a:solidFill>
                          <a:srgbClr val="000000"/>
                        </a:solidFill>
                        <a:effectLst/>
                        <a:latin typeface="Times New Roman"/>
                        <a:ea typeface="Calibri"/>
                      </a:endParaRPr>
                    </a:p>
                  </a:txBody>
                  <a:tcPr marL="63259" marR="63259"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641446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927"/>
            <a:ext cx="6512511" cy="1143000"/>
          </a:xfrm>
        </p:spPr>
        <p:txBody>
          <a:bodyPr>
            <a:normAutofit fontScale="90000"/>
          </a:bodyPr>
          <a:lstStyle/>
          <a:p>
            <a:r>
              <a:rPr lang="en-US" b="1" dirty="0"/>
              <a:t>6.9.3	  Reduction of SAT to CSAT Process</a:t>
            </a:r>
            <a:br>
              <a:rPr lang="en-US" b="1" dirty="0"/>
            </a:br>
            <a:endParaRPr lang="en-US" dirty="0"/>
          </a:p>
        </p:txBody>
      </p:sp>
      <p:sp>
        <p:nvSpPr>
          <p:cNvPr id="3" name="Content Placeholder 2"/>
          <p:cNvSpPr>
            <a:spLocks noGrp="1"/>
          </p:cNvSpPr>
          <p:nvPr>
            <p:ph sz="quarter" idx="13"/>
          </p:nvPr>
        </p:nvSpPr>
        <p:spPr>
          <a:xfrm>
            <a:off x="1219200" y="1447800"/>
            <a:ext cx="6400800" cy="3474720"/>
          </a:xfrm>
        </p:spPr>
        <p:txBody>
          <a:bodyPr/>
          <a:lstStyle/>
          <a:p>
            <a:pPr marL="0" indent="0">
              <a:buNone/>
            </a:pPr>
            <a:r>
              <a:rPr lang="en-US" sz="1800" dirty="0"/>
              <a:t>Following are the rules to push </a:t>
            </a:r>
            <a:r>
              <a:rPr lang="en-US" sz="1800" dirty="0">
                <a:sym typeface="Symbol"/>
              </a:rPr>
              <a:t></a:t>
            </a:r>
            <a:r>
              <a:rPr lang="en-US" sz="1800" dirty="0"/>
              <a:t>'s</a:t>
            </a:r>
          </a:p>
          <a:p>
            <a:pPr marL="457200" lvl="1" indent="0">
              <a:buNone/>
            </a:pPr>
            <a:r>
              <a:rPr lang="en-US" sz="1800" dirty="0"/>
              <a:t>(a)	</a:t>
            </a:r>
            <a:r>
              <a:rPr lang="en-US" sz="1800" dirty="0">
                <a:sym typeface="Symbol"/>
              </a:rPr>
              <a:t></a:t>
            </a:r>
            <a:r>
              <a:rPr lang="en-US" sz="1800" dirty="0"/>
              <a:t> (A </a:t>
            </a:r>
            <a:r>
              <a:rPr lang="en-US" sz="1800" dirty="0">
                <a:sym typeface="Symbol"/>
              </a:rPr>
              <a:t></a:t>
            </a:r>
            <a:r>
              <a:rPr lang="en-US" sz="1800" dirty="0"/>
              <a:t> B) </a:t>
            </a:r>
            <a:r>
              <a:rPr lang="en-US" sz="1800" dirty="0">
                <a:sym typeface="Symbol"/>
              </a:rPr>
              <a:t></a:t>
            </a:r>
            <a:r>
              <a:rPr lang="en-US" sz="1800" dirty="0"/>
              <a:t> </a:t>
            </a:r>
            <a:r>
              <a:rPr lang="en-US" sz="1800" dirty="0">
                <a:sym typeface="Symbol"/>
              </a:rPr>
              <a:t></a:t>
            </a:r>
            <a:r>
              <a:rPr lang="en-US" sz="1800" dirty="0"/>
              <a:t> (A) </a:t>
            </a:r>
            <a:r>
              <a:rPr lang="en-US" sz="1800" dirty="0">
                <a:sym typeface="Symbol"/>
              </a:rPr>
              <a:t></a:t>
            </a:r>
            <a:r>
              <a:rPr lang="en-US" sz="1800" dirty="0"/>
              <a:t> </a:t>
            </a:r>
            <a:r>
              <a:rPr lang="en-US" sz="1800" dirty="0">
                <a:sym typeface="Symbol"/>
              </a:rPr>
              <a:t></a:t>
            </a:r>
            <a:r>
              <a:rPr lang="en-US" sz="1800" dirty="0"/>
              <a:t> (B)</a:t>
            </a:r>
          </a:p>
          <a:p>
            <a:pPr marL="457200" lvl="1" indent="0">
              <a:buNone/>
            </a:pPr>
            <a:r>
              <a:rPr lang="en-US" sz="1800" dirty="0"/>
              <a:t>(b)	</a:t>
            </a:r>
            <a:r>
              <a:rPr lang="en-US" sz="1800" dirty="0">
                <a:sym typeface="Symbol"/>
              </a:rPr>
              <a:t></a:t>
            </a:r>
            <a:r>
              <a:rPr lang="en-US" sz="1800" dirty="0"/>
              <a:t> (A </a:t>
            </a:r>
            <a:r>
              <a:rPr lang="en-US" sz="1800" dirty="0">
                <a:sym typeface="Symbol"/>
              </a:rPr>
              <a:t></a:t>
            </a:r>
            <a:r>
              <a:rPr lang="en-US" sz="1800" dirty="0"/>
              <a:t> B) </a:t>
            </a:r>
            <a:r>
              <a:rPr lang="en-US" sz="1800" dirty="0">
                <a:sym typeface="Symbol"/>
              </a:rPr>
              <a:t></a:t>
            </a:r>
            <a:r>
              <a:rPr lang="en-US" sz="1800" dirty="0"/>
              <a:t> </a:t>
            </a:r>
            <a:r>
              <a:rPr lang="en-US" sz="1800" dirty="0">
                <a:sym typeface="Symbol"/>
              </a:rPr>
              <a:t></a:t>
            </a:r>
            <a:r>
              <a:rPr lang="en-US" sz="1800" dirty="0"/>
              <a:t> (A) </a:t>
            </a:r>
            <a:r>
              <a:rPr lang="en-US" sz="1800" dirty="0">
                <a:sym typeface="Symbol"/>
              </a:rPr>
              <a:t></a:t>
            </a:r>
            <a:r>
              <a:rPr lang="en-US" sz="1800" dirty="0"/>
              <a:t> </a:t>
            </a:r>
            <a:r>
              <a:rPr lang="en-US" sz="1800" dirty="0">
                <a:sym typeface="Symbol"/>
              </a:rPr>
              <a:t></a:t>
            </a:r>
            <a:r>
              <a:rPr lang="en-US" sz="1800" dirty="0"/>
              <a:t> (B)</a:t>
            </a:r>
          </a:p>
          <a:p>
            <a:pPr marL="457200" lvl="1" indent="0">
              <a:buNone/>
            </a:pPr>
            <a:r>
              <a:rPr lang="en-US" sz="1800" dirty="0"/>
              <a:t>(c)	</a:t>
            </a:r>
            <a:r>
              <a:rPr lang="en-US" sz="1800" dirty="0">
                <a:sym typeface="Symbol"/>
              </a:rPr>
              <a:t></a:t>
            </a:r>
            <a:r>
              <a:rPr lang="en-US" sz="1800" dirty="0"/>
              <a:t> (</a:t>
            </a:r>
            <a:r>
              <a:rPr lang="en-US" sz="1800" dirty="0">
                <a:sym typeface="Symbol"/>
              </a:rPr>
              <a:t></a:t>
            </a:r>
            <a:r>
              <a:rPr lang="en-US" sz="1800" dirty="0"/>
              <a:t> (E)) </a:t>
            </a:r>
            <a:r>
              <a:rPr lang="en-US" sz="1800" dirty="0">
                <a:sym typeface="Symbol"/>
              </a:rPr>
              <a:t></a:t>
            </a:r>
            <a:r>
              <a:rPr lang="en-US" sz="1800" dirty="0"/>
              <a:t> E</a:t>
            </a:r>
          </a:p>
          <a:p>
            <a:r>
              <a:rPr lang="en-US" sz="2000" b="1" dirty="0"/>
              <a:t>Example :</a:t>
            </a:r>
            <a:endParaRPr lang="en-US" sz="2000" dirty="0"/>
          </a:p>
          <a:p>
            <a:pPr lvl="1"/>
            <a:r>
              <a:rPr lang="en-US" sz="1800" b="1" dirty="0"/>
              <a:t>Table : Pushing </a:t>
            </a:r>
            <a:r>
              <a:rPr lang="en-US" sz="1800" b="1" dirty="0">
                <a:sym typeface="Symbol"/>
              </a:rPr>
              <a:t></a:t>
            </a:r>
            <a:r>
              <a:rPr lang="en-US" sz="1800" b="1" dirty="0"/>
              <a:t> 's down to expression tree</a:t>
            </a:r>
            <a:endParaRPr lang="en-US" sz="1800" dirty="0"/>
          </a:p>
        </p:txBody>
      </p:sp>
      <p:graphicFrame>
        <p:nvGraphicFramePr>
          <p:cNvPr id="4" name="Table 3"/>
          <p:cNvGraphicFramePr>
            <a:graphicFrameLocks noGrp="1"/>
          </p:cNvGraphicFramePr>
          <p:nvPr>
            <p:extLst>
              <p:ext uri="{D42A27DB-BD31-4B8C-83A1-F6EECF244321}">
                <p14:modId xmlns:p14="http://schemas.microsoft.com/office/powerpoint/2010/main" val="3870278396"/>
              </p:ext>
            </p:extLst>
          </p:nvPr>
        </p:nvGraphicFramePr>
        <p:xfrm>
          <a:off x="2209800" y="3886200"/>
          <a:ext cx="3962400" cy="2052450"/>
        </p:xfrm>
        <a:graphic>
          <a:graphicData uri="http://schemas.openxmlformats.org/drawingml/2006/table">
            <a:tbl>
              <a:tblPr firstRow="1" firstCol="1" lastRow="1" lastCol="1" bandRow="1" bandCol="1">
                <a:tableStyleId>{5C22544A-7EE6-4342-B048-85BDC9FD1C3A}</a:tableStyleId>
              </a:tblPr>
              <a:tblGrid>
                <a:gridCol w="1385229">
                  <a:extLst>
                    <a:ext uri="{9D8B030D-6E8A-4147-A177-3AD203B41FA5}">
                      <a16:colId xmlns:a16="http://schemas.microsoft.com/office/drawing/2014/main" val="20000"/>
                    </a:ext>
                  </a:extLst>
                </a:gridCol>
                <a:gridCol w="2577171">
                  <a:extLst>
                    <a:ext uri="{9D8B030D-6E8A-4147-A177-3AD203B41FA5}">
                      <a16:colId xmlns:a16="http://schemas.microsoft.com/office/drawing/2014/main" val="20001"/>
                    </a:ext>
                  </a:extLst>
                </a:gridCol>
              </a:tblGrid>
              <a:tr h="342075">
                <a:tc>
                  <a:txBody>
                    <a:bodyPr/>
                    <a:lstStyle/>
                    <a:p>
                      <a:pPr marL="0" marR="0" algn="ctr">
                        <a:lnSpc>
                          <a:spcPts val="1500"/>
                        </a:lnSpc>
                        <a:spcBef>
                          <a:spcPts val="200"/>
                        </a:spcBef>
                        <a:spcAft>
                          <a:spcPts val="200"/>
                        </a:spcAft>
                        <a:tabLst>
                          <a:tab pos="228600" algn="l"/>
                          <a:tab pos="457200" algn="l"/>
                          <a:tab pos="685800" algn="l"/>
                          <a:tab pos="914400" algn="l"/>
                          <a:tab pos="2171700" algn="r"/>
                          <a:tab pos="2286000" algn="ctr"/>
                          <a:tab pos="2400300" algn="l"/>
                          <a:tab pos="5486400" algn="r"/>
                        </a:tabLst>
                      </a:pPr>
                      <a:r>
                        <a:rPr lang="en-US" sz="1050" dirty="0">
                          <a:effectLst/>
                        </a:rPr>
                        <a:t>Rule</a:t>
                      </a:r>
                      <a:endParaRPr lang="en-US" sz="1050" dirty="0">
                        <a:effectLst/>
                        <a:latin typeface="Segoe UI"/>
                        <a:ea typeface="Calibri"/>
                        <a:cs typeface="Times New Roman"/>
                      </a:endParaRPr>
                    </a:p>
                  </a:txBody>
                  <a:tcPr marL="68580" marR="68580" marT="0" marB="0"/>
                </a:tc>
                <a:tc>
                  <a:txBody>
                    <a:bodyPr/>
                    <a:lstStyle/>
                    <a:p>
                      <a:pPr marL="0" marR="0" algn="just">
                        <a:lnSpc>
                          <a:spcPts val="1500"/>
                        </a:lnSpc>
                        <a:spcBef>
                          <a:spcPts val="200"/>
                        </a:spcBef>
                        <a:spcAft>
                          <a:spcPts val="200"/>
                        </a:spcAft>
                        <a:tabLst>
                          <a:tab pos="228600" algn="l"/>
                          <a:tab pos="457200" algn="l"/>
                          <a:tab pos="685800" algn="l"/>
                          <a:tab pos="914400" algn="l"/>
                          <a:tab pos="2171700" algn="r"/>
                          <a:tab pos="2286000" algn="ctr"/>
                          <a:tab pos="2400300" algn="l"/>
                          <a:tab pos="5486400" algn="r"/>
                        </a:tabLst>
                      </a:pPr>
                      <a:r>
                        <a:rPr lang="en-US" sz="1050" dirty="0">
                          <a:effectLst/>
                        </a:rPr>
                        <a:t>Expression</a:t>
                      </a:r>
                      <a:endParaRPr lang="en-US" sz="1050" dirty="0">
                        <a:effectLst/>
                        <a:latin typeface="Segoe UI"/>
                        <a:ea typeface="Calibri"/>
                        <a:cs typeface="Times New Roman"/>
                      </a:endParaRPr>
                    </a:p>
                  </a:txBody>
                  <a:tcPr marL="68580" marR="68580" marT="0" marB="0"/>
                </a:tc>
                <a:extLst>
                  <a:ext uri="{0D108BD9-81ED-4DB2-BD59-A6C34878D82A}">
                    <a16:rowId xmlns:a16="http://schemas.microsoft.com/office/drawing/2014/main" val="10000"/>
                  </a:ext>
                </a:extLst>
              </a:tr>
              <a:tr h="342075">
                <a:tc>
                  <a:txBody>
                    <a:bodyPr/>
                    <a:lstStyle/>
                    <a:p>
                      <a:pPr marL="0" marR="0" algn="ctr">
                        <a:lnSpc>
                          <a:spcPts val="1500"/>
                        </a:lnSpc>
                        <a:spcBef>
                          <a:spcPts val="200"/>
                        </a:spcBef>
                        <a:spcAft>
                          <a:spcPts val="200"/>
                        </a:spcAft>
                        <a:tabLst>
                          <a:tab pos="228600" algn="l"/>
                          <a:tab pos="457200" algn="l"/>
                          <a:tab pos="685800" algn="l"/>
                          <a:tab pos="914400" algn="l"/>
                          <a:tab pos="2171700" algn="r"/>
                          <a:tab pos="2286000" algn="ctr"/>
                          <a:tab pos="2400300" algn="l"/>
                          <a:tab pos="5486400" algn="r"/>
                        </a:tabLst>
                      </a:pPr>
                      <a:r>
                        <a:rPr lang="en-US" sz="1050" dirty="0">
                          <a:effectLst/>
                        </a:rPr>
                        <a:t>Start</a:t>
                      </a:r>
                      <a:endParaRPr lang="en-US" sz="1050" dirty="0">
                        <a:effectLst/>
                        <a:latin typeface="Segoe UI"/>
                        <a:ea typeface="Calibri"/>
                        <a:cs typeface="Times New Roman"/>
                      </a:endParaRPr>
                    </a:p>
                  </a:txBody>
                  <a:tcPr marL="68580" marR="68580" marT="0" marB="0"/>
                </a:tc>
                <a:tc>
                  <a:txBody>
                    <a:bodyPr/>
                    <a:lstStyle/>
                    <a:p>
                      <a:pPr marL="0" marR="0" algn="just">
                        <a:lnSpc>
                          <a:spcPts val="1500"/>
                        </a:lnSpc>
                        <a:spcBef>
                          <a:spcPts val="200"/>
                        </a:spcBef>
                        <a:spcAft>
                          <a:spcPts val="200"/>
                        </a:spcAft>
                        <a:tabLst>
                          <a:tab pos="228600" algn="l"/>
                          <a:tab pos="457200" algn="l"/>
                          <a:tab pos="685800" algn="l"/>
                          <a:tab pos="914400" algn="l"/>
                          <a:tab pos="2171700" algn="r"/>
                          <a:tab pos="2286000" algn="ctr"/>
                          <a:tab pos="2400300" algn="l"/>
                          <a:tab pos="5486400" algn="r"/>
                        </a:tabLst>
                      </a:pPr>
                      <a:r>
                        <a:rPr lang="en-US" sz="1050">
                          <a:effectLst/>
                          <a:sym typeface="Symbol"/>
                        </a:rPr>
                        <a:t></a:t>
                      </a:r>
                      <a:r>
                        <a:rPr lang="en-US" sz="1050">
                          <a:effectLst/>
                        </a:rPr>
                        <a:t> ((</a:t>
                      </a:r>
                      <a:r>
                        <a:rPr lang="en-US" sz="1050">
                          <a:effectLst/>
                          <a:sym typeface="Symbol"/>
                        </a:rPr>
                        <a:t></a:t>
                      </a:r>
                      <a:r>
                        <a:rPr lang="en-US" sz="1050">
                          <a:effectLst/>
                        </a:rPr>
                        <a:t> (a + b)) (</a:t>
                      </a:r>
                      <a:endParaRPr lang="en-US" sz="1050">
                        <a:effectLst/>
                        <a:latin typeface="Segoe UI"/>
                        <a:ea typeface="Calibri"/>
                        <a:cs typeface="Times New Roman"/>
                      </a:endParaRPr>
                    </a:p>
                  </a:txBody>
                  <a:tcPr marL="68580" marR="68580" marT="0" marB="0"/>
                </a:tc>
                <a:extLst>
                  <a:ext uri="{0D108BD9-81ED-4DB2-BD59-A6C34878D82A}">
                    <a16:rowId xmlns:a16="http://schemas.microsoft.com/office/drawing/2014/main" val="10001"/>
                  </a:ext>
                </a:extLst>
              </a:tr>
              <a:tr h="342075">
                <a:tc>
                  <a:txBody>
                    <a:bodyPr/>
                    <a:lstStyle/>
                    <a:p>
                      <a:pPr marL="0" marR="0" algn="ctr">
                        <a:lnSpc>
                          <a:spcPts val="1500"/>
                        </a:lnSpc>
                        <a:spcBef>
                          <a:spcPts val="200"/>
                        </a:spcBef>
                        <a:spcAft>
                          <a:spcPts val="200"/>
                        </a:spcAft>
                        <a:tabLst>
                          <a:tab pos="228600" algn="l"/>
                          <a:tab pos="457200" algn="l"/>
                          <a:tab pos="685800" algn="l"/>
                          <a:tab pos="914400" algn="l"/>
                          <a:tab pos="2171700" algn="r"/>
                          <a:tab pos="2286000" algn="ctr"/>
                          <a:tab pos="2400300" algn="l"/>
                          <a:tab pos="5486400" algn="r"/>
                        </a:tabLst>
                      </a:pPr>
                      <a:r>
                        <a:rPr lang="en-US" sz="1050">
                          <a:effectLst/>
                        </a:rPr>
                        <a:t>(a)</a:t>
                      </a:r>
                      <a:endParaRPr lang="en-US" sz="1050">
                        <a:effectLst/>
                        <a:latin typeface="Segoe UI"/>
                        <a:ea typeface="Calibri"/>
                        <a:cs typeface="Times New Roman"/>
                      </a:endParaRPr>
                    </a:p>
                  </a:txBody>
                  <a:tcPr marL="68580" marR="68580" marT="0" marB="0"/>
                </a:tc>
                <a:tc>
                  <a:txBody>
                    <a:bodyPr/>
                    <a:lstStyle/>
                    <a:p>
                      <a:pPr marL="0" marR="0" algn="just">
                        <a:lnSpc>
                          <a:spcPts val="1500"/>
                        </a:lnSpc>
                        <a:spcBef>
                          <a:spcPts val="200"/>
                        </a:spcBef>
                        <a:spcAft>
                          <a:spcPts val="200"/>
                        </a:spcAft>
                        <a:tabLst>
                          <a:tab pos="228600" algn="l"/>
                          <a:tab pos="457200" algn="l"/>
                          <a:tab pos="685800" algn="l"/>
                          <a:tab pos="914400" algn="l"/>
                          <a:tab pos="2171700" algn="r"/>
                          <a:tab pos="2286000" algn="ctr"/>
                          <a:tab pos="2400300" algn="l"/>
                          <a:tab pos="5486400" algn="r"/>
                        </a:tabLst>
                      </a:pPr>
                      <a:r>
                        <a:rPr lang="en-US" sz="1050">
                          <a:effectLst/>
                          <a:sym typeface="Symbol"/>
                        </a:rPr>
                        <a:t></a:t>
                      </a:r>
                      <a:r>
                        <a:rPr lang="en-US" sz="1050">
                          <a:effectLst/>
                        </a:rPr>
                        <a:t> (</a:t>
                      </a:r>
                      <a:r>
                        <a:rPr lang="en-US" sz="1050">
                          <a:effectLst/>
                          <a:sym typeface="Symbol"/>
                        </a:rPr>
                        <a:t></a:t>
                      </a:r>
                      <a:r>
                        <a:rPr lang="en-US" sz="1050">
                          <a:effectLst/>
                        </a:rPr>
                        <a:t> (a + b)) + </a:t>
                      </a:r>
                      <a:r>
                        <a:rPr lang="en-US" sz="1050">
                          <a:effectLst/>
                          <a:sym typeface="Symbol"/>
                        </a:rPr>
                        <a:t></a:t>
                      </a:r>
                      <a:r>
                        <a:rPr lang="en-US" sz="1050">
                          <a:effectLst/>
                        </a:rPr>
                        <a:t> (</a:t>
                      </a:r>
                      <a:endParaRPr lang="en-US" sz="1050">
                        <a:effectLst/>
                        <a:latin typeface="Segoe UI"/>
                        <a:ea typeface="Calibri"/>
                        <a:cs typeface="Times New Roman"/>
                      </a:endParaRPr>
                    </a:p>
                  </a:txBody>
                  <a:tcPr marL="68580" marR="68580" marT="0" marB="0"/>
                </a:tc>
                <a:extLst>
                  <a:ext uri="{0D108BD9-81ED-4DB2-BD59-A6C34878D82A}">
                    <a16:rowId xmlns:a16="http://schemas.microsoft.com/office/drawing/2014/main" val="10002"/>
                  </a:ext>
                </a:extLst>
              </a:tr>
              <a:tr h="342075">
                <a:tc>
                  <a:txBody>
                    <a:bodyPr/>
                    <a:lstStyle/>
                    <a:p>
                      <a:pPr marL="0" marR="0" algn="ctr">
                        <a:lnSpc>
                          <a:spcPts val="1500"/>
                        </a:lnSpc>
                        <a:spcBef>
                          <a:spcPts val="200"/>
                        </a:spcBef>
                        <a:spcAft>
                          <a:spcPts val="200"/>
                        </a:spcAft>
                        <a:tabLst>
                          <a:tab pos="228600" algn="l"/>
                          <a:tab pos="457200" algn="l"/>
                          <a:tab pos="685800" algn="l"/>
                          <a:tab pos="914400" algn="l"/>
                          <a:tab pos="2171700" algn="r"/>
                          <a:tab pos="2286000" algn="ctr"/>
                          <a:tab pos="2400300" algn="l"/>
                          <a:tab pos="5486400" algn="r"/>
                        </a:tabLst>
                      </a:pPr>
                      <a:r>
                        <a:rPr lang="en-US" sz="1050">
                          <a:effectLst/>
                        </a:rPr>
                        <a:t>(c)</a:t>
                      </a:r>
                      <a:endParaRPr lang="en-US" sz="1050">
                        <a:effectLst/>
                        <a:latin typeface="Segoe UI"/>
                        <a:ea typeface="Calibri"/>
                        <a:cs typeface="Times New Roman"/>
                      </a:endParaRPr>
                    </a:p>
                  </a:txBody>
                  <a:tcPr marL="68580" marR="68580" marT="0" marB="0"/>
                </a:tc>
                <a:tc>
                  <a:txBody>
                    <a:bodyPr/>
                    <a:lstStyle/>
                    <a:p>
                      <a:pPr marL="0" marR="0" algn="just">
                        <a:lnSpc>
                          <a:spcPts val="1500"/>
                        </a:lnSpc>
                        <a:spcBef>
                          <a:spcPts val="200"/>
                        </a:spcBef>
                        <a:spcAft>
                          <a:spcPts val="200"/>
                        </a:spcAft>
                        <a:tabLst>
                          <a:tab pos="228600" algn="l"/>
                          <a:tab pos="457200" algn="l"/>
                          <a:tab pos="685800" algn="l"/>
                          <a:tab pos="914400" algn="l"/>
                          <a:tab pos="2171700" algn="r"/>
                          <a:tab pos="2286000" algn="ctr"/>
                          <a:tab pos="2400300" algn="l"/>
                          <a:tab pos="5486400" algn="r"/>
                        </a:tabLst>
                      </a:pPr>
                      <a:r>
                        <a:rPr lang="en-US" sz="1050">
                          <a:effectLst/>
                        </a:rPr>
                        <a:t>a + b + </a:t>
                      </a:r>
                      <a:r>
                        <a:rPr lang="en-US" sz="1050">
                          <a:effectLst/>
                          <a:sym typeface="Symbol"/>
                        </a:rPr>
                        <a:t></a:t>
                      </a:r>
                      <a:r>
                        <a:rPr lang="en-US" sz="1050">
                          <a:effectLst/>
                        </a:rPr>
                        <a:t> (</a:t>
                      </a:r>
                      <a:endParaRPr lang="en-US" sz="1050">
                        <a:effectLst/>
                        <a:latin typeface="Segoe UI"/>
                        <a:ea typeface="Calibri"/>
                        <a:cs typeface="Times New Roman"/>
                      </a:endParaRPr>
                    </a:p>
                  </a:txBody>
                  <a:tcPr marL="68580" marR="68580" marT="0" marB="0"/>
                </a:tc>
                <a:extLst>
                  <a:ext uri="{0D108BD9-81ED-4DB2-BD59-A6C34878D82A}">
                    <a16:rowId xmlns:a16="http://schemas.microsoft.com/office/drawing/2014/main" val="10003"/>
                  </a:ext>
                </a:extLst>
              </a:tr>
              <a:tr h="342075">
                <a:tc>
                  <a:txBody>
                    <a:bodyPr/>
                    <a:lstStyle/>
                    <a:p>
                      <a:pPr marL="0" marR="0" algn="ctr">
                        <a:lnSpc>
                          <a:spcPts val="1500"/>
                        </a:lnSpc>
                        <a:spcBef>
                          <a:spcPts val="200"/>
                        </a:spcBef>
                        <a:spcAft>
                          <a:spcPts val="200"/>
                        </a:spcAft>
                        <a:tabLst>
                          <a:tab pos="228600" algn="l"/>
                          <a:tab pos="457200" algn="l"/>
                          <a:tab pos="685800" algn="l"/>
                          <a:tab pos="914400" algn="l"/>
                          <a:tab pos="2171700" algn="r"/>
                          <a:tab pos="2286000" algn="ctr"/>
                          <a:tab pos="2400300" algn="l"/>
                          <a:tab pos="5486400" algn="r"/>
                        </a:tabLst>
                      </a:pPr>
                      <a:r>
                        <a:rPr lang="en-US" sz="1050">
                          <a:effectLst/>
                        </a:rPr>
                        <a:t>(b)</a:t>
                      </a:r>
                      <a:endParaRPr lang="en-US" sz="1050">
                        <a:effectLst/>
                        <a:latin typeface="Segoe UI"/>
                        <a:ea typeface="Calibri"/>
                        <a:cs typeface="Times New Roman"/>
                      </a:endParaRPr>
                    </a:p>
                  </a:txBody>
                  <a:tcPr marL="68580" marR="68580" marT="0" marB="0"/>
                </a:tc>
                <a:tc>
                  <a:txBody>
                    <a:bodyPr/>
                    <a:lstStyle/>
                    <a:p>
                      <a:pPr marL="0" marR="0" algn="just">
                        <a:lnSpc>
                          <a:spcPts val="1500"/>
                        </a:lnSpc>
                        <a:spcBef>
                          <a:spcPts val="200"/>
                        </a:spcBef>
                        <a:spcAft>
                          <a:spcPts val="200"/>
                        </a:spcAft>
                        <a:tabLst>
                          <a:tab pos="228600" algn="l"/>
                          <a:tab pos="457200" algn="l"/>
                          <a:tab pos="685800" algn="l"/>
                          <a:tab pos="914400" algn="l"/>
                          <a:tab pos="2171700" algn="r"/>
                          <a:tab pos="2286000" algn="ctr"/>
                          <a:tab pos="2400300" algn="l"/>
                          <a:tab pos="5486400" algn="r"/>
                        </a:tabLst>
                      </a:pPr>
                      <a:r>
                        <a:rPr lang="en-US" sz="1050">
                          <a:effectLst/>
                        </a:rPr>
                        <a:t>a + b + (</a:t>
                      </a:r>
                      <a:r>
                        <a:rPr lang="en-US" sz="1050">
                          <a:effectLst/>
                          <a:sym typeface="Symbol"/>
                        </a:rPr>
                        <a:t></a:t>
                      </a:r>
                      <a:r>
                        <a:rPr lang="en-US" sz="1050">
                          <a:effectLst/>
                        </a:rPr>
                        <a:t> (</a:t>
                      </a:r>
                      <a:endParaRPr lang="en-US" sz="1050">
                        <a:effectLst/>
                        <a:latin typeface="Segoe UI"/>
                        <a:ea typeface="Calibri"/>
                        <a:cs typeface="Times New Roman"/>
                      </a:endParaRPr>
                    </a:p>
                  </a:txBody>
                  <a:tcPr marL="68580" marR="68580" marT="0" marB="0"/>
                </a:tc>
                <a:extLst>
                  <a:ext uri="{0D108BD9-81ED-4DB2-BD59-A6C34878D82A}">
                    <a16:rowId xmlns:a16="http://schemas.microsoft.com/office/drawing/2014/main" val="10004"/>
                  </a:ext>
                </a:extLst>
              </a:tr>
              <a:tr h="342075">
                <a:tc>
                  <a:txBody>
                    <a:bodyPr/>
                    <a:lstStyle/>
                    <a:p>
                      <a:pPr marL="0" marR="0" algn="ctr">
                        <a:lnSpc>
                          <a:spcPts val="1500"/>
                        </a:lnSpc>
                        <a:spcBef>
                          <a:spcPts val="200"/>
                        </a:spcBef>
                        <a:spcAft>
                          <a:spcPts val="200"/>
                        </a:spcAft>
                        <a:tabLst>
                          <a:tab pos="228600" algn="l"/>
                          <a:tab pos="457200" algn="l"/>
                          <a:tab pos="685800" algn="l"/>
                          <a:tab pos="914400" algn="l"/>
                          <a:tab pos="2171700" algn="r"/>
                          <a:tab pos="2286000" algn="ctr"/>
                          <a:tab pos="2400300" algn="l"/>
                          <a:tab pos="5486400" algn="r"/>
                        </a:tabLst>
                      </a:pPr>
                      <a:r>
                        <a:rPr lang="en-US" sz="1050">
                          <a:effectLst/>
                        </a:rPr>
                        <a:t>(c)</a:t>
                      </a:r>
                      <a:endParaRPr lang="en-US" sz="1050">
                        <a:effectLst/>
                        <a:latin typeface="Segoe UI"/>
                        <a:ea typeface="Calibri"/>
                        <a:cs typeface="Times New Roman"/>
                      </a:endParaRPr>
                    </a:p>
                  </a:txBody>
                  <a:tcPr marL="68580" marR="68580" marT="0" marB="0"/>
                </a:tc>
                <a:tc>
                  <a:txBody>
                    <a:bodyPr/>
                    <a:lstStyle/>
                    <a:p>
                      <a:pPr marL="0" marR="0" algn="just">
                        <a:lnSpc>
                          <a:spcPts val="1500"/>
                        </a:lnSpc>
                        <a:spcBef>
                          <a:spcPts val="200"/>
                        </a:spcBef>
                        <a:spcAft>
                          <a:spcPts val="200"/>
                        </a:spcAft>
                        <a:tabLst>
                          <a:tab pos="228600" algn="l"/>
                          <a:tab pos="457200" algn="l"/>
                          <a:tab pos="685800" algn="l"/>
                          <a:tab pos="914400" algn="l"/>
                          <a:tab pos="2171700" algn="r"/>
                          <a:tab pos="2286000" algn="ctr"/>
                          <a:tab pos="2400300" algn="l"/>
                          <a:tab pos="5486400" algn="r"/>
                        </a:tabLst>
                      </a:pPr>
                      <a:r>
                        <a:rPr lang="en-US" sz="1050" dirty="0">
                          <a:effectLst/>
                        </a:rPr>
                        <a:t>a + b + a</a:t>
                      </a:r>
                      <a:endParaRPr lang="en-US" sz="1050" dirty="0">
                        <a:effectLst/>
                        <a:latin typeface="Segoe UI"/>
                        <a:ea typeface="Calibri"/>
                        <a:cs typeface="Times New Roman"/>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521706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457200" y="457200"/>
            <a:ext cx="8229600" cy="5668963"/>
          </a:xfrm>
        </p:spPr>
        <p:txBody>
          <a:bodyPr>
            <a:normAutofit fontScale="92500" lnSpcReduction="20000"/>
          </a:bodyPr>
          <a:lstStyle/>
          <a:p>
            <a:r>
              <a:rPr lang="en-US" sz="1600" b="1" dirty="0"/>
              <a:t>Theorem : </a:t>
            </a:r>
            <a:r>
              <a:rPr lang="en-US" sz="1600" dirty="0"/>
              <a:t>Every Boolean expression E is equivalent to an expression F in which the only negations occur in literals i.e. they apply directly to variables.</a:t>
            </a:r>
          </a:p>
          <a:p>
            <a:pPr lvl="1"/>
            <a:r>
              <a:rPr lang="en-US" sz="1400" b="1" dirty="0"/>
              <a:t>Proof : </a:t>
            </a:r>
            <a:r>
              <a:rPr lang="en-US" sz="1400" dirty="0"/>
              <a:t>By induction on the number of operators (^, </a:t>
            </a:r>
            <a:r>
              <a:rPr lang="en-US" sz="1400" dirty="0">
                <a:sym typeface="Symbol"/>
              </a:rPr>
              <a:t></a:t>
            </a:r>
            <a:r>
              <a:rPr lang="en-US" sz="1400" dirty="0"/>
              <a:t> and </a:t>
            </a:r>
            <a:r>
              <a:rPr lang="en-US" sz="1400" dirty="0">
                <a:sym typeface="Symbol"/>
              </a:rPr>
              <a:t></a:t>
            </a:r>
            <a:r>
              <a:rPr lang="en-US" sz="1400" dirty="0"/>
              <a:t>) in E, We show that there is an equivalent expression F with </a:t>
            </a:r>
            <a:r>
              <a:rPr lang="en-US" sz="1400" dirty="0">
                <a:sym typeface="Symbol"/>
              </a:rPr>
              <a:t></a:t>
            </a:r>
            <a:r>
              <a:rPr lang="en-US" sz="1400" dirty="0"/>
              <a:t>'s only in literals. Also, if E has n </a:t>
            </a:r>
            <a:r>
              <a:rPr lang="en-US" sz="1400" dirty="0">
                <a:sym typeface="Symbol"/>
              </a:rPr>
              <a:t></a:t>
            </a:r>
            <a:r>
              <a:rPr lang="en-US" sz="1400" dirty="0"/>
              <a:t> 1 operators, then F has no more than 2n – 1 operators</a:t>
            </a:r>
          </a:p>
          <a:p>
            <a:pPr marL="0" indent="0">
              <a:buNone/>
            </a:pPr>
            <a:r>
              <a:rPr lang="en-US" sz="1800" b="1" dirty="0"/>
              <a:t>	Basis : </a:t>
            </a:r>
            <a:r>
              <a:rPr lang="en-US" sz="1800" dirty="0"/>
              <a:t>If E has one operator, it must be of the form </a:t>
            </a:r>
            <a:r>
              <a:rPr lang="en-US" sz="1800" dirty="0">
                <a:sym typeface="Symbol"/>
              </a:rPr>
              <a:t></a:t>
            </a:r>
            <a:r>
              <a:rPr lang="en-US" sz="1800" dirty="0"/>
              <a:t> a, a </a:t>
            </a:r>
            <a:r>
              <a:rPr lang="en-US" sz="1800" dirty="0">
                <a:sym typeface="Symbol"/>
              </a:rPr>
              <a:t></a:t>
            </a:r>
            <a:r>
              <a:rPr lang="en-US" sz="1800" dirty="0"/>
              <a:t> b, or a </a:t>
            </a:r>
            <a:r>
              <a:rPr lang="en-US" sz="1800" dirty="0">
                <a:sym typeface="Symbol"/>
              </a:rPr>
              <a:t></a:t>
            </a:r>
            <a:r>
              <a:rPr lang="en-US" sz="1800" dirty="0"/>
              <a:t> b. In each case, E is already in required form, so F = E.</a:t>
            </a:r>
          </a:p>
          <a:p>
            <a:pPr marL="0" indent="0">
              <a:buNone/>
            </a:pPr>
            <a:r>
              <a:rPr lang="en-US" sz="1800" dirty="0">
                <a:sym typeface="Symbol"/>
              </a:rPr>
              <a:t>	</a:t>
            </a:r>
            <a:r>
              <a:rPr lang="en-US" sz="1800" dirty="0"/>
              <a:t>	F has at most twice the number of operators of E, minus 1" holds.</a:t>
            </a:r>
          </a:p>
          <a:p>
            <a:pPr lvl="1"/>
            <a:r>
              <a:rPr lang="en-US" sz="1400" b="1" dirty="0"/>
              <a:t>Induction :</a:t>
            </a:r>
            <a:r>
              <a:rPr lang="en-US" sz="1400" dirty="0"/>
              <a:t> Suppose the statement is true for all expressions. If the highest operator of E is not </a:t>
            </a:r>
            <a:r>
              <a:rPr lang="en-US" sz="1400" dirty="0">
                <a:sym typeface="Symbol"/>
              </a:rPr>
              <a:t></a:t>
            </a:r>
            <a:r>
              <a:rPr lang="en-US" sz="1400" dirty="0"/>
              <a:t>, then E must be of the form E, </a:t>
            </a:r>
            <a:r>
              <a:rPr lang="en-US" sz="1400" dirty="0">
                <a:sym typeface="Symbol"/>
              </a:rPr>
              <a:t></a:t>
            </a:r>
            <a:r>
              <a:rPr lang="en-US" sz="1400" dirty="0"/>
              <a:t> E</a:t>
            </a:r>
            <a:r>
              <a:rPr lang="en-US" sz="1400" baseline="-25000" dirty="0"/>
              <a:t>2</a:t>
            </a:r>
            <a:r>
              <a:rPr lang="en-US" sz="1400" dirty="0"/>
              <a:t> or E</a:t>
            </a:r>
            <a:r>
              <a:rPr lang="en-US" sz="1400" baseline="-25000" dirty="0"/>
              <a:t>1</a:t>
            </a:r>
            <a:r>
              <a:rPr lang="en-US" sz="1400" dirty="0"/>
              <a:t> </a:t>
            </a:r>
            <a:r>
              <a:rPr lang="en-US" sz="1400" dirty="0">
                <a:sym typeface="Symbol"/>
              </a:rPr>
              <a:t></a:t>
            </a:r>
            <a:r>
              <a:rPr lang="en-US" sz="1400" dirty="0"/>
              <a:t> E</a:t>
            </a:r>
            <a:r>
              <a:rPr lang="en-US" sz="1400" baseline="-25000" dirty="0"/>
              <a:t>2</a:t>
            </a:r>
            <a:r>
              <a:rPr lang="en-US" sz="1400" dirty="0"/>
              <a:t>.</a:t>
            </a:r>
          </a:p>
          <a:p>
            <a:r>
              <a:rPr lang="en-US" sz="1800" dirty="0"/>
              <a:t>By inductive hypothesis (For E</a:t>
            </a:r>
            <a:r>
              <a:rPr lang="en-US" sz="1800" baseline="-25000" dirty="0"/>
              <a:t>1</a:t>
            </a:r>
            <a:r>
              <a:rPr lang="en-US" sz="1800" dirty="0"/>
              <a:t> and E</a:t>
            </a:r>
            <a:r>
              <a:rPr lang="en-US" sz="1800" baseline="-25000" dirty="0"/>
              <a:t>2</a:t>
            </a:r>
            <a:r>
              <a:rPr lang="en-US" sz="1800" dirty="0"/>
              <a:t>), there are equivalent expressions F</a:t>
            </a:r>
            <a:r>
              <a:rPr lang="en-US" sz="1800" baseline="-25000" dirty="0"/>
              <a:t>1</a:t>
            </a:r>
            <a:r>
              <a:rPr lang="en-US" sz="1800" dirty="0"/>
              <a:t> and F</a:t>
            </a:r>
            <a:r>
              <a:rPr lang="en-US" sz="1800" baseline="-25000" dirty="0"/>
              <a:t>2</a:t>
            </a:r>
            <a:r>
              <a:rPr lang="en-US" sz="1800" dirty="0"/>
              <a:t> respectively, in which all </a:t>
            </a:r>
            <a:r>
              <a:rPr lang="en-US" sz="1800" dirty="0">
                <a:sym typeface="Symbol"/>
              </a:rPr>
              <a:t></a:t>
            </a:r>
            <a:r>
              <a:rPr lang="en-US" sz="1800" dirty="0"/>
              <a:t>'s occur in literals only.</a:t>
            </a:r>
          </a:p>
          <a:p>
            <a:r>
              <a:rPr lang="en-US" sz="1800" dirty="0"/>
              <a:t>Then 		</a:t>
            </a:r>
          </a:p>
          <a:p>
            <a:pPr marL="457200" lvl="1" indent="0">
              <a:buNone/>
            </a:pPr>
            <a:r>
              <a:rPr lang="en-US" sz="1600" dirty="0"/>
              <a:t>		F=F</a:t>
            </a:r>
            <a:r>
              <a:rPr lang="en-US" sz="1600" baseline="-25000" dirty="0"/>
              <a:t>1</a:t>
            </a:r>
            <a:r>
              <a:rPr lang="en-US" sz="1600" dirty="0"/>
              <a:t> </a:t>
            </a:r>
            <a:r>
              <a:rPr lang="en-US" sz="1600" dirty="0">
                <a:sym typeface="Symbol"/>
              </a:rPr>
              <a:t></a:t>
            </a:r>
            <a:r>
              <a:rPr lang="en-US" sz="1600" dirty="0"/>
              <a:t> F</a:t>
            </a:r>
            <a:r>
              <a:rPr lang="en-US" sz="1600" baseline="-25000" dirty="0"/>
              <a:t>2</a:t>
            </a:r>
            <a:r>
              <a:rPr lang="en-US" sz="1600" dirty="0"/>
              <a:t>  or  F=F</a:t>
            </a:r>
            <a:r>
              <a:rPr lang="en-US" sz="1600" baseline="-25000" dirty="0"/>
              <a:t>1</a:t>
            </a:r>
            <a:r>
              <a:rPr lang="en-US" sz="1600" dirty="0"/>
              <a:t> </a:t>
            </a:r>
            <a:r>
              <a:rPr lang="en-US" sz="1600" dirty="0">
                <a:sym typeface="Symbol"/>
              </a:rPr>
              <a:t></a:t>
            </a:r>
            <a:r>
              <a:rPr lang="en-US" sz="1600" dirty="0"/>
              <a:t> F</a:t>
            </a:r>
            <a:r>
              <a:rPr lang="en-US" sz="1600" baseline="-25000" dirty="0"/>
              <a:t>2</a:t>
            </a:r>
            <a:endParaRPr lang="en-US" sz="1600" dirty="0"/>
          </a:p>
          <a:p>
            <a:r>
              <a:rPr lang="en-US" sz="1800" dirty="0"/>
              <a:t>Let E</a:t>
            </a:r>
            <a:r>
              <a:rPr lang="en-US" sz="1800" baseline="-25000" dirty="0"/>
              <a:t>1</a:t>
            </a:r>
            <a:r>
              <a:rPr lang="en-US" sz="1800" dirty="0"/>
              <a:t> and E</a:t>
            </a:r>
            <a:r>
              <a:rPr lang="en-US" sz="1800" baseline="-25000" dirty="0"/>
              <a:t>2</a:t>
            </a:r>
            <a:r>
              <a:rPr lang="en-US" sz="1800" dirty="0"/>
              <a:t> have a and b operators, respective.</a:t>
            </a:r>
          </a:p>
          <a:p>
            <a:r>
              <a:rPr lang="en-US" sz="1800" dirty="0"/>
              <a:t>Then E has a + b + 1 operators.</a:t>
            </a:r>
          </a:p>
          <a:p>
            <a:r>
              <a:rPr lang="en-US" sz="1800" dirty="0"/>
              <a:t>By inductive hypothesis, F</a:t>
            </a:r>
            <a:r>
              <a:rPr lang="en-US" sz="1800" baseline="-25000" dirty="0"/>
              <a:t>1</a:t>
            </a:r>
            <a:r>
              <a:rPr lang="en-US" sz="1800" dirty="0"/>
              <a:t> and F</a:t>
            </a:r>
            <a:r>
              <a:rPr lang="en-US" sz="1800" baseline="-25000" dirty="0"/>
              <a:t>2</a:t>
            </a:r>
            <a:r>
              <a:rPr lang="en-US" sz="1800" dirty="0"/>
              <a:t> have almost 2a – 1 and 2b – 1 operators respectively.</a:t>
            </a:r>
          </a:p>
          <a:p>
            <a:pPr marL="0" indent="0">
              <a:buNone/>
            </a:pPr>
            <a:r>
              <a:rPr lang="en-US" sz="1800" dirty="0"/>
              <a:t>		</a:t>
            </a:r>
            <a:r>
              <a:rPr lang="en-US" sz="1800" dirty="0">
                <a:sym typeface="Symbol"/>
              </a:rPr>
              <a:t></a:t>
            </a:r>
            <a:r>
              <a:rPr lang="en-US" sz="1800" dirty="0"/>
              <a:t>  F=2a + 2b – 1 </a:t>
            </a:r>
          </a:p>
          <a:p>
            <a:r>
              <a:rPr lang="en-US" sz="1800" dirty="0"/>
              <a:t>operators, which is no more then 2 (a + b + 1) – 1, or twice the number of operators of E – 1.</a:t>
            </a:r>
          </a:p>
          <a:p>
            <a:endParaRPr lang="en-US" sz="1800" dirty="0"/>
          </a:p>
        </p:txBody>
      </p:sp>
    </p:spTree>
    <p:extLst>
      <p:ext uri="{BB962C8B-B14F-4D97-AF65-F5344CB8AC3E}">
        <p14:creationId xmlns:p14="http://schemas.microsoft.com/office/powerpoint/2010/main" val="18141157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6669" y="381000"/>
            <a:ext cx="6512511" cy="1143000"/>
          </a:xfrm>
        </p:spPr>
        <p:txBody>
          <a:bodyPr>
            <a:normAutofit fontScale="90000"/>
          </a:bodyPr>
          <a:lstStyle/>
          <a:p>
            <a:r>
              <a:rPr lang="en-GB" sz="2700" b="1" cap="all" dirty="0"/>
              <a:t>6.10 The Problem of Independent Sets</a:t>
            </a:r>
            <a:br>
              <a:rPr lang="en-US" b="1" cap="all" dirty="0"/>
            </a:br>
            <a:endParaRPr lang="en-US" dirty="0"/>
          </a:p>
        </p:txBody>
      </p:sp>
      <p:sp>
        <p:nvSpPr>
          <p:cNvPr id="3" name="Content Placeholder 2"/>
          <p:cNvSpPr>
            <a:spLocks noGrp="1"/>
          </p:cNvSpPr>
          <p:nvPr>
            <p:ph sz="quarter" idx="13"/>
          </p:nvPr>
        </p:nvSpPr>
        <p:spPr>
          <a:xfrm>
            <a:off x="1152524" y="1828800"/>
            <a:ext cx="7153275" cy="3931920"/>
          </a:xfrm>
        </p:spPr>
        <p:txBody>
          <a:bodyPr/>
          <a:lstStyle/>
          <a:p>
            <a:r>
              <a:rPr lang="en-US" sz="1600" dirty="0"/>
              <a:t>Consider G is an undirected graph and S is the subset of the nodes of G is an independent set if no two nodes of S are connected by an edge of G. An independent set is having maximum value if it is having many nodes as any independent set for the same graph.</a:t>
            </a:r>
          </a:p>
          <a:p>
            <a:pPr lvl="1"/>
            <a:r>
              <a:rPr lang="en-US" sz="1800" b="1" dirty="0"/>
              <a:t>Example :</a:t>
            </a:r>
            <a:endParaRPr lang="en-US" sz="1800" dirty="0"/>
          </a:p>
          <a:p>
            <a:pPr marL="457200" lvl="1" indent="0">
              <a:buNone/>
            </a:pPr>
            <a:endParaRPr 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3962400"/>
            <a:ext cx="1543050"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6350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a:xfrm>
            <a:off x="609600" y="381000"/>
            <a:ext cx="8229600" cy="400110"/>
          </a:xfrm>
          <a:prstGeom prst="rect">
            <a:avLst/>
          </a:prstGeom>
        </p:spPr>
        <p:txBody>
          <a:bodyPr wrap="square">
            <a:spAutoFit/>
          </a:bodyPr>
          <a:lstStyle/>
          <a:p>
            <a:r>
              <a:rPr lang="en-US" sz="2000" b="1" dirty="0"/>
              <a:t>Theorem : </a:t>
            </a:r>
            <a:r>
              <a:rPr lang="en-US" sz="2000" dirty="0"/>
              <a:t>The independent set problem is NP component.</a:t>
            </a:r>
          </a:p>
        </p:txBody>
      </p:sp>
      <p:sp>
        <p:nvSpPr>
          <p:cNvPr id="5" name="Rectangle 4"/>
          <p:cNvSpPr/>
          <p:nvPr/>
        </p:nvSpPr>
        <p:spPr>
          <a:xfrm>
            <a:off x="1066800" y="743589"/>
            <a:ext cx="4146007" cy="369332"/>
          </a:xfrm>
          <a:prstGeom prst="rect">
            <a:avLst/>
          </a:prstGeom>
        </p:spPr>
        <p:txBody>
          <a:bodyPr wrap="none">
            <a:spAutoFit/>
          </a:bodyPr>
          <a:lstStyle/>
          <a:p>
            <a:r>
              <a:rPr lang="en-US" dirty="0"/>
              <a:t>Let E = e</a:t>
            </a:r>
            <a:r>
              <a:rPr lang="en-US" baseline="-25000" dirty="0"/>
              <a:t>1</a:t>
            </a:r>
            <a:r>
              <a:rPr lang="en-US" dirty="0"/>
              <a:t> = e</a:t>
            </a:r>
            <a:r>
              <a:rPr lang="en-US" baseline="-25000" dirty="0"/>
              <a:t>2</a:t>
            </a:r>
            <a:r>
              <a:rPr lang="en-US" dirty="0"/>
              <a:t> </a:t>
            </a:r>
            <a:r>
              <a:rPr lang="en-US" dirty="0">
                <a:sym typeface="Symbol"/>
              </a:rPr>
              <a:t></a:t>
            </a:r>
            <a:r>
              <a:rPr lang="en-US" dirty="0"/>
              <a:t> </a:t>
            </a:r>
            <a:r>
              <a:rPr lang="en-US" dirty="0" err="1"/>
              <a:t>e</a:t>
            </a:r>
            <a:r>
              <a:rPr lang="en-US" baseline="-25000" dirty="0" err="1"/>
              <a:t>m</a:t>
            </a:r>
            <a:r>
              <a:rPr lang="en-US" dirty="0"/>
              <a:t> be a 3-LNF expression</a:t>
            </a:r>
          </a:p>
        </p:txBody>
      </p:sp>
      <p:sp>
        <p:nvSpPr>
          <p:cNvPr id="6" name="Rectangle 5"/>
          <p:cNvSpPr/>
          <p:nvPr/>
        </p:nvSpPr>
        <p:spPr>
          <a:xfrm>
            <a:off x="957712" y="1290659"/>
            <a:ext cx="6248400" cy="369332"/>
          </a:xfrm>
          <a:prstGeom prst="rect">
            <a:avLst/>
          </a:prstGeom>
        </p:spPr>
        <p:txBody>
          <a:bodyPr wrap="square">
            <a:spAutoFit/>
          </a:bodyPr>
          <a:lstStyle/>
          <a:p>
            <a:r>
              <a:rPr lang="en-US" dirty="0"/>
              <a:t>3-CNF expression (x</a:t>
            </a:r>
            <a:r>
              <a:rPr lang="en-US" baseline="-25000" dirty="0"/>
              <a:t>1</a:t>
            </a:r>
            <a:r>
              <a:rPr lang="en-US" dirty="0"/>
              <a:t> + x</a:t>
            </a:r>
            <a:r>
              <a:rPr lang="en-US" baseline="-25000" dirty="0"/>
              <a:t>2</a:t>
            </a:r>
            <a:r>
              <a:rPr lang="en-US" dirty="0"/>
              <a:t> + x</a:t>
            </a:r>
            <a:r>
              <a:rPr lang="en-US" baseline="-25000" dirty="0"/>
              <a:t>3</a:t>
            </a:r>
            <a:r>
              <a:rPr lang="en-US" dirty="0"/>
              <a:t>) (</a:t>
            </a:r>
            <a:r>
              <a:rPr lang="en-US" baseline="-25000" dirty="0"/>
              <a:t>1</a:t>
            </a:r>
            <a:r>
              <a:rPr lang="en-US" dirty="0"/>
              <a:t> + x</a:t>
            </a:r>
            <a:r>
              <a:rPr lang="en-US" baseline="-25000" dirty="0"/>
              <a:t>2</a:t>
            </a:r>
            <a:r>
              <a:rPr lang="en-US" dirty="0"/>
              <a:t> + x</a:t>
            </a:r>
            <a:r>
              <a:rPr lang="en-US" baseline="-25000" dirty="0"/>
              <a:t>4</a:t>
            </a:r>
            <a:r>
              <a:rPr lang="en-US" dirty="0"/>
              <a:t>) (</a:t>
            </a:r>
            <a:r>
              <a:rPr lang="en-US" baseline="-25000" dirty="0"/>
              <a:t>2</a:t>
            </a:r>
            <a:r>
              <a:rPr lang="en-US" dirty="0"/>
              <a:t> + x</a:t>
            </a:r>
            <a:r>
              <a:rPr lang="en-US" baseline="-25000" dirty="0"/>
              <a:t>3</a:t>
            </a:r>
            <a:r>
              <a:rPr lang="en-US" dirty="0"/>
              <a:t> + x</a:t>
            </a:r>
            <a:r>
              <a:rPr lang="en-US" baseline="-25000" dirty="0"/>
              <a:t>5</a:t>
            </a:r>
            <a:r>
              <a:rPr lang="en-US" dirty="0"/>
              <a:t>) (</a:t>
            </a:r>
            <a:r>
              <a:rPr lang="en-US" baseline="-25000" dirty="0"/>
              <a:t>3</a:t>
            </a:r>
            <a:r>
              <a:rPr lang="en-US" dirty="0"/>
              <a:t> + </a:t>
            </a:r>
            <a:r>
              <a:rPr lang="en-US" baseline="-25000" dirty="0"/>
              <a:t>4</a:t>
            </a:r>
            <a:r>
              <a:rPr lang="en-US" dirty="0"/>
              <a:t> + </a:t>
            </a:r>
            <a:r>
              <a:rPr lang="en-US" baseline="-25000" dirty="0"/>
              <a:t>5</a:t>
            </a:r>
            <a:r>
              <a:rPr lang="en-US" dirty="0"/>
              <a:t>)</a:t>
            </a:r>
          </a:p>
        </p:txBody>
      </p:sp>
      <p:pic>
        <p:nvPicPr>
          <p:cNvPr id="11266" name="Picture 2" descr="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7400" y="1828800"/>
            <a:ext cx="4267200" cy="189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685800" y="4068679"/>
            <a:ext cx="7543800" cy="369332"/>
          </a:xfrm>
          <a:prstGeom prst="rect">
            <a:avLst/>
          </a:prstGeom>
        </p:spPr>
        <p:txBody>
          <a:bodyPr wrap="square">
            <a:spAutoFit/>
          </a:bodyPr>
          <a:lstStyle/>
          <a:p>
            <a:r>
              <a:rPr lang="en-US" b="1" dirty="0"/>
              <a:t>Fig. 6.11 : Construction of an IS from a </a:t>
            </a:r>
            <a:r>
              <a:rPr lang="en-US" b="1" dirty="0" err="1"/>
              <a:t>satisfiable</a:t>
            </a:r>
            <a:r>
              <a:rPr lang="en-US" b="1" dirty="0"/>
              <a:t> Boolean expression in 3-CNF</a:t>
            </a:r>
            <a:endParaRPr lang="en-US" dirty="0"/>
          </a:p>
        </p:txBody>
      </p:sp>
      <p:sp>
        <p:nvSpPr>
          <p:cNvPr id="8" name="Rectangle 7"/>
          <p:cNvSpPr/>
          <p:nvPr/>
        </p:nvSpPr>
        <p:spPr>
          <a:xfrm>
            <a:off x="509155" y="4549676"/>
            <a:ext cx="7924800" cy="2308324"/>
          </a:xfrm>
          <a:prstGeom prst="rect">
            <a:avLst/>
          </a:prstGeom>
        </p:spPr>
        <p:txBody>
          <a:bodyPr wrap="square">
            <a:spAutoFit/>
          </a:bodyPr>
          <a:lstStyle/>
          <a:p>
            <a:r>
              <a:rPr lang="en-US" dirty="0"/>
              <a:t>Two methods to construct G is to use edges to force any independent set.</a:t>
            </a:r>
          </a:p>
          <a:p>
            <a:r>
              <a:rPr lang="en-US" dirty="0"/>
              <a:t>(1)	First see that only one node corresponding to a given clause can be chosen. This is done by putting all edges between all pairs of nodes in a column i.e. we create edges as follows :</a:t>
            </a:r>
          </a:p>
          <a:p>
            <a:r>
              <a:rPr lang="en-US" dirty="0"/>
              <a:t>	([i, 1], [i, 2]), ([i, 1], [i, 3]) and ([i, 2], [i, 3]) for all i, as shown in above Fig. 6.11.</a:t>
            </a:r>
          </a:p>
          <a:p>
            <a:r>
              <a:rPr lang="en-US" dirty="0"/>
              <a:t>(2)	Prevent all nodes from being chosen for the independent set if they represent literals that are complementary.</a:t>
            </a:r>
          </a:p>
        </p:txBody>
      </p:sp>
    </p:spTree>
    <p:extLst>
      <p:ext uri="{BB962C8B-B14F-4D97-AF65-F5344CB8AC3E}">
        <p14:creationId xmlns:p14="http://schemas.microsoft.com/office/powerpoint/2010/main" val="12494663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3"/>
          </p:nvPr>
        </p:nvSpPr>
        <p:spPr>
          <a:xfrm>
            <a:off x="1143000" y="731520"/>
            <a:ext cx="6400800" cy="944880"/>
          </a:xfrm>
        </p:spPr>
        <p:txBody>
          <a:bodyPr/>
          <a:lstStyle/>
          <a:p>
            <a:r>
              <a:rPr lang="en-US" dirty="0"/>
              <a:t>Session 6</a:t>
            </a:r>
          </a:p>
        </p:txBody>
      </p:sp>
      <p:graphicFrame>
        <p:nvGraphicFramePr>
          <p:cNvPr id="4" name="Table 3"/>
          <p:cNvGraphicFramePr>
            <a:graphicFrameLocks noGrp="1"/>
          </p:cNvGraphicFramePr>
          <p:nvPr>
            <p:extLst>
              <p:ext uri="{D42A27DB-BD31-4B8C-83A1-F6EECF244321}">
                <p14:modId xmlns:p14="http://schemas.microsoft.com/office/powerpoint/2010/main" val="4273127804"/>
              </p:ext>
            </p:extLst>
          </p:nvPr>
        </p:nvGraphicFramePr>
        <p:xfrm>
          <a:off x="1447800" y="1600200"/>
          <a:ext cx="5965539" cy="5410200"/>
        </p:xfrm>
        <a:graphic>
          <a:graphicData uri="http://schemas.openxmlformats.org/drawingml/2006/table">
            <a:tbl>
              <a:tblPr firstRow="1" firstCol="1" bandRow="1">
                <a:tableStyleId>{5C22544A-7EE6-4342-B048-85BDC9FD1C3A}</a:tableStyleId>
              </a:tblPr>
              <a:tblGrid>
                <a:gridCol w="386103">
                  <a:extLst>
                    <a:ext uri="{9D8B030D-6E8A-4147-A177-3AD203B41FA5}">
                      <a16:colId xmlns:a16="http://schemas.microsoft.com/office/drawing/2014/main" val="20000"/>
                    </a:ext>
                  </a:extLst>
                </a:gridCol>
                <a:gridCol w="856718">
                  <a:extLst>
                    <a:ext uri="{9D8B030D-6E8A-4147-A177-3AD203B41FA5}">
                      <a16:colId xmlns:a16="http://schemas.microsoft.com/office/drawing/2014/main" val="20001"/>
                    </a:ext>
                  </a:extLst>
                </a:gridCol>
                <a:gridCol w="795405">
                  <a:extLst>
                    <a:ext uri="{9D8B030D-6E8A-4147-A177-3AD203B41FA5}">
                      <a16:colId xmlns:a16="http://schemas.microsoft.com/office/drawing/2014/main" val="20002"/>
                    </a:ext>
                  </a:extLst>
                </a:gridCol>
                <a:gridCol w="745692">
                  <a:extLst>
                    <a:ext uri="{9D8B030D-6E8A-4147-A177-3AD203B41FA5}">
                      <a16:colId xmlns:a16="http://schemas.microsoft.com/office/drawing/2014/main" val="20003"/>
                    </a:ext>
                  </a:extLst>
                </a:gridCol>
                <a:gridCol w="776625">
                  <a:extLst>
                    <a:ext uri="{9D8B030D-6E8A-4147-A177-3AD203B41FA5}">
                      <a16:colId xmlns:a16="http://schemas.microsoft.com/office/drawing/2014/main" val="20004"/>
                    </a:ext>
                  </a:extLst>
                </a:gridCol>
                <a:gridCol w="963324">
                  <a:extLst>
                    <a:ext uri="{9D8B030D-6E8A-4147-A177-3AD203B41FA5}">
                      <a16:colId xmlns:a16="http://schemas.microsoft.com/office/drawing/2014/main" val="20005"/>
                    </a:ext>
                  </a:extLst>
                </a:gridCol>
                <a:gridCol w="646267">
                  <a:extLst>
                    <a:ext uri="{9D8B030D-6E8A-4147-A177-3AD203B41FA5}">
                      <a16:colId xmlns:a16="http://schemas.microsoft.com/office/drawing/2014/main" val="20006"/>
                    </a:ext>
                  </a:extLst>
                </a:gridCol>
                <a:gridCol w="795405">
                  <a:extLst>
                    <a:ext uri="{9D8B030D-6E8A-4147-A177-3AD203B41FA5}">
                      <a16:colId xmlns:a16="http://schemas.microsoft.com/office/drawing/2014/main" val="20007"/>
                    </a:ext>
                  </a:extLst>
                </a:gridCol>
              </a:tblGrid>
              <a:tr h="586277">
                <a:tc>
                  <a:txBody>
                    <a:bodyPr/>
                    <a:lstStyle/>
                    <a:p>
                      <a:pPr marL="0" marR="0">
                        <a:spcBef>
                          <a:spcPts val="0"/>
                        </a:spcBef>
                        <a:spcAft>
                          <a:spcPts val="0"/>
                        </a:spcAft>
                      </a:pPr>
                      <a:r>
                        <a:rPr lang="en-US" sz="900" dirty="0">
                          <a:effectLst/>
                        </a:rPr>
                        <a:t>Time (in min) </a:t>
                      </a:r>
                      <a:endParaRPr lang="en-US" sz="1000" dirty="0">
                        <a:solidFill>
                          <a:srgbClr val="000000"/>
                        </a:solidFill>
                        <a:effectLst/>
                        <a:latin typeface="Times New Roman"/>
                        <a:ea typeface="Calibri"/>
                      </a:endParaRPr>
                    </a:p>
                  </a:txBody>
                  <a:tcPr marL="59655" marR="59655" marT="0" marB="0"/>
                </a:tc>
                <a:tc>
                  <a:txBody>
                    <a:bodyPr/>
                    <a:lstStyle/>
                    <a:p>
                      <a:pPr marL="0" marR="0">
                        <a:spcBef>
                          <a:spcPts val="0"/>
                        </a:spcBef>
                        <a:spcAft>
                          <a:spcPts val="0"/>
                        </a:spcAft>
                      </a:pPr>
                      <a:r>
                        <a:rPr lang="en-US" sz="900">
                          <a:effectLst/>
                        </a:rPr>
                        <a:t>Content </a:t>
                      </a:r>
                      <a:endParaRPr lang="en-US" sz="1000">
                        <a:solidFill>
                          <a:srgbClr val="000000"/>
                        </a:solidFill>
                        <a:effectLst/>
                        <a:latin typeface="Times New Roman"/>
                        <a:ea typeface="Calibri"/>
                      </a:endParaRPr>
                    </a:p>
                  </a:txBody>
                  <a:tcPr marL="59655" marR="59655" marT="0" marB="0"/>
                </a:tc>
                <a:tc>
                  <a:txBody>
                    <a:bodyPr/>
                    <a:lstStyle/>
                    <a:p>
                      <a:pPr marL="0" marR="0">
                        <a:spcBef>
                          <a:spcPts val="0"/>
                        </a:spcBef>
                        <a:spcAft>
                          <a:spcPts val="0"/>
                        </a:spcAft>
                      </a:pPr>
                      <a:r>
                        <a:rPr lang="en-US" sz="900">
                          <a:effectLst/>
                        </a:rPr>
                        <a:t>Learning Aid/Methodology </a:t>
                      </a:r>
                      <a:endParaRPr lang="en-US" sz="1000">
                        <a:solidFill>
                          <a:srgbClr val="000000"/>
                        </a:solidFill>
                        <a:effectLst/>
                        <a:latin typeface="Times New Roman"/>
                        <a:ea typeface="Calibri"/>
                      </a:endParaRPr>
                    </a:p>
                  </a:txBody>
                  <a:tcPr marL="59655" marR="59655" marT="0" marB="0"/>
                </a:tc>
                <a:tc>
                  <a:txBody>
                    <a:bodyPr/>
                    <a:lstStyle/>
                    <a:p>
                      <a:pPr marL="0" marR="0">
                        <a:spcBef>
                          <a:spcPts val="0"/>
                        </a:spcBef>
                        <a:spcAft>
                          <a:spcPts val="0"/>
                        </a:spcAft>
                      </a:pPr>
                      <a:r>
                        <a:rPr lang="en-US" sz="900">
                          <a:effectLst/>
                        </a:rPr>
                        <a:t>Faculty Approach </a:t>
                      </a:r>
                      <a:endParaRPr lang="en-US" sz="1000">
                        <a:solidFill>
                          <a:srgbClr val="000000"/>
                        </a:solidFill>
                        <a:effectLst/>
                        <a:latin typeface="Times New Roman"/>
                        <a:ea typeface="Calibri"/>
                      </a:endParaRPr>
                    </a:p>
                  </a:txBody>
                  <a:tcPr marL="59655" marR="59655" marT="0" marB="0"/>
                </a:tc>
                <a:tc>
                  <a:txBody>
                    <a:bodyPr/>
                    <a:lstStyle/>
                    <a:p>
                      <a:pPr marL="0" marR="0">
                        <a:spcBef>
                          <a:spcPts val="0"/>
                        </a:spcBef>
                        <a:spcAft>
                          <a:spcPts val="0"/>
                        </a:spcAft>
                      </a:pPr>
                      <a:r>
                        <a:rPr lang="en-US" sz="900">
                          <a:effectLst/>
                        </a:rPr>
                        <a:t>Typical Student Activity </a:t>
                      </a:r>
                      <a:endParaRPr lang="en-US" sz="1000">
                        <a:solidFill>
                          <a:srgbClr val="000000"/>
                        </a:solidFill>
                        <a:effectLst/>
                        <a:latin typeface="Times New Roman"/>
                        <a:ea typeface="Calibri"/>
                      </a:endParaRPr>
                    </a:p>
                  </a:txBody>
                  <a:tcPr marL="59655" marR="59655" marT="0" marB="0"/>
                </a:tc>
                <a:tc>
                  <a:txBody>
                    <a:bodyPr/>
                    <a:lstStyle/>
                    <a:p>
                      <a:pPr marL="0" marR="0">
                        <a:spcBef>
                          <a:spcPts val="0"/>
                        </a:spcBef>
                        <a:spcAft>
                          <a:spcPts val="0"/>
                        </a:spcAft>
                      </a:pPr>
                      <a:r>
                        <a:rPr lang="en-US" sz="900">
                          <a:effectLst/>
                        </a:rPr>
                        <a:t>Skill /Competency Developed </a:t>
                      </a:r>
                      <a:endParaRPr lang="en-US" sz="1000">
                        <a:solidFill>
                          <a:srgbClr val="000000"/>
                        </a:solidFill>
                        <a:effectLst/>
                        <a:latin typeface="Times New Roman"/>
                        <a:ea typeface="Calibri"/>
                      </a:endParaRPr>
                    </a:p>
                  </a:txBody>
                  <a:tcPr marL="59655" marR="59655" marT="0" marB="0"/>
                </a:tc>
                <a:tc>
                  <a:txBody>
                    <a:bodyPr/>
                    <a:lstStyle/>
                    <a:p>
                      <a:pPr marL="0" marR="0">
                        <a:spcBef>
                          <a:spcPts val="0"/>
                        </a:spcBef>
                        <a:spcAft>
                          <a:spcPts val="0"/>
                        </a:spcAft>
                      </a:pPr>
                      <a:r>
                        <a:rPr lang="en-US" sz="900">
                          <a:effectLst/>
                        </a:rPr>
                        <a:t>Course </a:t>
                      </a:r>
                      <a:endParaRPr lang="en-US" sz="1000">
                        <a:effectLst/>
                      </a:endParaRPr>
                    </a:p>
                    <a:p>
                      <a:pPr marL="0" marR="0">
                        <a:spcBef>
                          <a:spcPts val="0"/>
                        </a:spcBef>
                        <a:spcAft>
                          <a:spcPts val="0"/>
                        </a:spcAft>
                      </a:pPr>
                      <a:r>
                        <a:rPr lang="en-US" sz="900">
                          <a:effectLst/>
                        </a:rPr>
                        <a:t>Outcomes </a:t>
                      </a:r>
                      <a:endParaRPr lang="en-US" sz="1000">
                        <a:solidFill>
                          <a:srgbClr val="000000"/>
                        </a:solidFill>
                        <a:effectLst/>
                        <a:latin typeface="Times New Roman"/>
                        <a:ea typeface="Calibri"/>
                      </a:endParaRPr>
                    </a:p>
                  </a:txBody>
                  <a:tcPr marL="59655" marR="59655" marT="0" marB="0"/>
                </a:tc>
                <a:tc>
                  <a:txBody>
                    <a:bodyPr/>
                    <a:lstStyle/>
                    <a:p>
                      <a:pPr marL="0" marR="0">
                        <a:spcBef>
                          <a:spcPts val="0"/>
                        </a:spcBef>
                        <a:spcAft>
                          <a:spcPts val="0"/>
                        </a:spcAft>
                      </a:pPr>
                      <a:r>
                        <a:rPr lang="en-US" sz="900">
                          <a:effectLst/>
                        </a:rPr>
                        <a:t>Program Outcomes </a:t>
                      </a:r>
                      <a:endParaRPr lang="en-US" sz="1000">
                        <a:effectLst/>
                      </a:endParaRPr>
                    </a:p>
                    <a:p>
                      <a:pPr marL="0" marR="0">
                        <a:spcBef>
                          <a:spcPts val="0"/>
                        </a:spcBef>
                        <a:spcAft>
                          <a:spcPts val="0"/>
                        </a:spcAft>
                      </a:pPr>
                      <a:r>
                        <a:rPr lang="en-US" sz="900">
                          <a:effectLst/>
                        </a:rPr>
                        <a:t> </a:t>
                      </a:r>
                      <a:endParaRPr lang="en-US" sz="1000">
                        <a:solidFill>
                          <a:srgbClr val="000000"/>
                        </a:solidFill>
                        <a:effectLst/>
                        <a:latin typeface="Times New Roman"/>
                        <a:ea typeface="Calibri"/>
                      </a:endParaRPr>
                    </a:p>
                  </a:txBody>
                  <a:tcPr marL="59655" marR="59655" marT="0" marB="0"/>
                </a:tc>
                <a:extLst>
                  <a:ext uri="{0D108BD9-81ED-4DB2-BD59-A6C34878D82A}">
                    <a16:rowId xmlns:a16="http://schemas.microsoft.com/office/drawing/2014/main" val="10000"/>
                  </a:ext>
                </a:extLst>
              </a:tr>
              <a:tr h="1097279">
                <a:tc>
                  <a:txBody>
                    <a:bodyPr/>
                    <a:lstStyle/>
                    <a:p>
                      <a:pPr marL="0" marR="0">
                        <a:lnSpc>
                          <a:spcPct val="115000"/>
                        </a:lnSpc>
                        <a:spcBef>
                          <a:spcPts val="0"/>
                        </a:spcBef>
                        <a:spcAft>
                          <a:spcPts val="1000"/>
                        </a:spcAft>
                      </a:pPr>
                      <a:r>
                        <a:rPr lang="en-US" sz="1000">
                          <a:effectLst/>
                        </a:rPr>
                        <a:t>15</a:t>
                      </a:r>
                      <a:endParaRPr lang="en-US" sz="900">
                        <a:effectLst/>
                        <a:latin typeface="Segoe UI"/>
                        <a:ea typeface="Calibri"/>
                        <a:cs typeface="Times New Roman"/>
                      </a:endParaRPr>
                    </a:p>
                  </a:txBody>
                  <a:tcPr marL="59655" marR="59655" marT="0" marB="0"/>
                </a:tc>
                <a:tc>
                  <a:txBody>
                    <a:bodyPr/>
                    <a:lstStyle/>
                    <a:p>
                      <a:pPr marL="0" marR="0">
                        <a:lnSpc>
                          <a:spcPct val="115000"/>
                        </a:lnSpc>
                        <a:spcBef>
                          <a:spcPts val="0"/>
                        </a:spcBef>
                        <a:spcAft>
                          <a:spcPts val="0"/>
                        </a:spcAft>
                      </a:pPr>
                      <a:r>
                        <a:rPr lang="en-US" sz="1000">
                          <a:effectLst/>
                        </a:rPr>
                        <a:t>The Node-Cover Problem,</a:t>
                      </a:r>
                      <a:endParaRPr lang="en-US" sz="900">
                        <a:effectLst/>
                      </a:endParaRPr>
                    </a:p>
                    <a:p>
                      <a:pPr marL="0" marR="0">
                        <a:lnSpc>
                          <a:spcPct val="115000"/>
                        </a:lnSpc>
                        <a:spcBef>
                          <a:spcPts val="0"/>
                        </a:spcBef>
                        <a:spcAft>
                          <a:spcPts val="1000"/>
                        </a:spcAft>
                      </a:pPr>
                      <a:r>
                        <a:rPr lang="en-US" sz="1000">
                          <a:effectLst/>
                        </a:rPr>
                        <a:t>, </a:t>
                      </a:r>
                      <a:endParaRPr lang="en-US" sz="900">
                        <a:effectLst/>
                        <a:latin typeface="Segoe UI"/>
                        <a:ea typeface="Calibri"/>
                        <a:cs typeface="Times New Roman"/>
                      </a:endParaRPr>
                    </a:p>
                  </a:txBody>
                  <a:tcPr marL="59655" marR="59655" marT="0" marB="0"/>
                </a:tc>
                <a:tc>
                  <a:txBody>
                    <a:bodyPr/>
                    <a:lstStyle/>
                    <a:p>
                      <a:pPr marL="0" marR="0">
                        <a:spcBef>
                          <a:spcPts val="0"/>
                        </a:spcBef>
                        <a:spcAft>
                          <a:spcPts val="0"/>
                        </a:spcAft>
                      </a:pPr>
                      <a:r>
                        <a:rPr lang="en-US" sz="1000">
                          <a:effectLst/>
                        </a:rPr>
                        <a:t>Presentation</a:t>
                      </a:r>
                      <a:endParaRPr lang="en-US" sz="1000">
                        <a:solidFill>
                          <a:srgbClr val="000000"/>
                        </a:solidFill>
                        <a:effectLst/>
                        <a:latin typeface="Times New Roman"/>
                        <a:ea typeface="Calibri"/>
                      </a:endParaRPr>
                    </a:p>
                  </a:txBody>
                  <a:tcPr marL="59655" marR="59655" marT="0" marB="0"/>
                </a:tc>
                <a:tc>
                  <a:txBody>
                    <a:bodyPr/>
                    <a:lstStyle/>
                    <a:p>
                      <a:pPr marL="0" marR="0">
                        <a:spcBef>
                          <a:spcPts val="0"/>
                        </a:spcBef>
                        <a:spcAft>
                          <a:spcPts val="0"/>
                        </a:spcAft>
                      </a:pPr>
                      <a:r>
                        <a:rPr lang="en-US" sz="1000">
                          <a:effectLst/>
                        </a:rPr>
                        <a:t>Explain </a:t>
                      </a:r>
                    </a:p>
                    <a:p>
                      <a:pPr marL="0" marR="0">
                        <a:lnSpc>
                          <a:spcPct val="115000"/>
                        </a:lnSpc>
                        <a:spcBef>
                          <a:spcPts val="0"/>
                        </a:spcBef>
                        <a:spcAft>
                          <a:spcPts val="1000"/>
                        </a:spcAft>
                      </a:pPr>
                      <a:r>
                        <a:rPr lang="en-US" sz="1000">
                          <a:effectLst/>
                        </a:rPr>
                        <a:t>Facilitates</a:t>
                      </a:r>
                      <a:endParaRPr lang="en-US" sz="900">
                        <a:effectLst/>
                        <a:latin typeface="Segoe UI"/>
                        <a:ea typeface="Calibri"/>
                        <a:cs typeface="Times New Roman"/>
                      </a:endParaRPr>
                    </a:p>
                  </a:txBody>
                  <a:tcPr marL="59655" marR="59655" marT="0" marB="0"/>
                </a:tc>
                <a:tc>
                  <a:txBody>
                    <a:bodyPr/>
                    <a:lstStyle/>
                    <a:p>
                      <a:pPr marL="0" marR="0">
                        <a:spcBef>
                          <a:spcPts val="0"/>
                        </a:spcBef>
                        <a:spcAft>
                          <a:spcPts val="0"/>
                        </a:spcAft>
                      </a:pPr>
                      <a:r>
                        <a:rPr lang="en-US" sz="1000">
                          <a:effectLst/>
                        </a:rPr>
                        <a:t>Listens </a:t>
                      </a:r>
                    </a:p>
                    <a:p>
                      <a:pPr marL="0" marR="0">
                        <a:lnSpc>
                          <a:spcPct val="115000"/>
                        </a:lnSpc>
                        <a:spcBef>
                          <a:spcPts val="0"/>
                        </a:spcBef>
                        <a:spcAft>
                          <a:spcPts val="1000"/>
                        </a:spcAft>
                      </a:pPr>
                      <a:r>
                        <a:rPr lang="en-US" sz="1000">
                          <a:effectLst/>
                        </a:rPr>
                        <a:t> </a:t>
                      </a:r>
                      <a:endParaRPr lang="en-US" sz="900">
                        <a:effectLst/>
                        <a:latin typeface="Segoe UI"/>
                        <a:ea typeface="Calibri"/>
                        <a:cs typeface="Times New Roman"/>
                      </a:endParaRPr>
                    </a:p>
                  </a:txBody>
                  <a:tcPr marL="59655" marR="59655" marT="0" marB="0"/>
                </a:tc>
                <a:tc>
                  <a:txBody>
                    <a:bodyPr/>
                    <a:lstStyle/>
                    <a:p>
                      <a:pPr marL="0" marR="0">
                        <a:spcBef>
                          <a:spcPts val="0"/>
                        </a:spcBef>
                        <a:spcAft>
                          <a:spcPts val="0"/>
                        </a:spcAft>
                      </a:pPr>
                      <a:r>
                        <a:rPr lang="en-US" sz="1000">
                          <a:effectLst/>
                        </a:rPr>
                        <a:t> </a:t>
                      </a:r>
                    </a:p>
                    <a:p>
                      <a:pPr marL="0" marR="0">
                        <a:spcBef>
                          <a:spcPts val="0"/>
                        </a:spcBef>
                        <a:spcAft>
                          <a:spcPts val="0"/>
                        </a:spcAft>
                      </a:pPr>
                      <a:r>
                        <a:rPr lang="en-US" sz="1000">
                          <a:effectLst/>
                        </a:rPr>
                        <a:t>Comprehension </a:t>
                      </a:r>
                    </a:p>
                    <a:p>
                      <a:pPr marL="0" marR="0">
                        <a:spcBef>
                          <a:spcPts val="0"/>
                        </a:spcBef>
                        <a:spcAft>
                          <a:spcPts val="0"/>
                        </a:spcAft>
                      </a:pPr>
                      <a:r>
                        <a:rPr lang="en-US" sz="1000">
                          <a:effectLst/>
                        </a:rPr>
                        <a:t>Application </a:t>
                      </a:r>
                    </a:p>
                    <a:p>
                      <a:pPr marL="0" marR="0">
                        <a:lnSpc>
                          <a:spcPct val="115000"/>
                        </a:lnSpc>
                        <a:spcBef>
                          <a:spcPts val="0"/>
                        </a:spcBef>
                        <a:spcAft>
                          <a:spcPts val="1000"/>
                        </a:spcAft>
                      </a:pPr>
                      <a:r>
                        <a:rPr lang="en-US" sz="1000">
                          <a:effectLst/>
                        </a:rPr>
                        <a:t> </a:t>
                      </a:r>
                      <a:endParaRPr lang="en-US" sz="900">
                        <a:effectLst/>
                        <a:latin typeface="Segoe UI"/>
                        <a:ea typeface="Calibri"/>
                        <a:cs typeface="Times New Roman"/>
                      </a:endParaRPr>
                    </a:p>
                  </a:txBody>
                  <a:tcPr marL="59655" marR="59655" marT="0" marB="0"/>
                </a:tc>
                <a:tc rowSpan="4">
                  <a:txBody>
                    <a:bodyPr/>
                    <a:lstStyle/>
                    <a:p>
                      <a:pPr marL="0" marR="0">
                        <a:lnSpc>
                          <a:spcPct val="115000"/>
                        </a:lnSpc>
                        <a:spcBef>
                          <a:spcPts val="0"/>
                        </a:spcBef>
                        <a:spcAft>
                          <a:spcPts val="0"/>
                        </a:spcAft>
                      </a:pPr>
                      <a:r>
                        <a:rPr lang="en-US" sz="1200" dirty="0">
                          <a:effectLst/>
                          <a:latin typeface="Times New Roman"/>
                          <a:ea typeface="Calibri"/>
                          <a:cs typeface="Mangal"/>
                        </a:rPr>
                        <a:t>CO3, CO5</a:t>
                      </a:r>
                      <a:endParaRPr lang="en-US" sz="1100" dirty="0">
                        <a:effectLst/>
                        <a:latin typeface="Calibri"/>
                        <a:ea typeface="Calibri"/>
                        <a:cs typeface="Mangal"/>
                      </a:endParaRPr>
                    </a:p>
                  </a:txBody>
                  <a:tcPr marL="68580" marR="68580" marT="0" marB="0"/>
                </a:tc>
                <a:tc rowSpan="4">
                  <a:txBody>
                    <a:bodyPr/>
                    <a:lstStyle/>
                    <a:p>
                      <a:pPr marL="0" marR="0">
                        <a:lnSpc>
                          <a:spcPct val="115000"/>
                        </a:lnSpc>
                        <a:spcBef>
                          <a:spcPts val="0"/>
                        </a:spcBef>
                        <a:spcAft>
                          <a:spcPts val="0"/>
                        </a:spcAft>
                      </a:pPr>
                      <a:r>
                        <a:rPr lang="en-US" sz="1200" dirty="0">
                          <a:effectLst/>
                          <a:latin typeface="Times New Roman"/>
                          <a:ea typeface="Calibri"/>
                          <a:cs typeface="Mangal"/>
                        </a:rPr>
                        <a:t>POa1,</a:t>
                      </a:r>
                      <a:endParaRPr lang="en-US" sz="1100" dirty="0">
                        <a:effectLst/>
                        <a:latin typeface="Calibri"/>
                        <a:ea typeface="Calibri"/>
                        <a:cs typeface="Mangal"/>
                      </a:endParaRPr>
                    </a:p>
                    <a:p>
                      <a:pPr marL="0" marR="0">
                        <a:lnSpc>
                          <a:spcPct val="115000"/>
                        </a:lnSpc>
                        <a:spcBef>
                          <a:spcPts val="0"/>
                        </a:spcBef>
                        <a:spcAft>
                          <a:spcPts val="0"/>
                        </a:spcAft>
                      </a:pPr>
                      <a:r>
                        <a:rPr lang="en-US" sz="1200" dirty="0">
                          <a:effectLst/>
                          <a:latin typeface="Times New Roman"/>
                          <a:ea typeface="Calibri"/>
                          <a:cs typeface="Mangal"/>
                        </a:rPr>
                        <a:t>POb2,</a:t>
                      </a:r>
                      <a:endParaRPr lang="en-US" sz="1100" dirty="0">
                        <a:effectLst/>
                        <a:latin typeface="Calibri"/>
                        <a:ea typeface="Calibri"/>
                        <a:cs typeface="Mangal"/>
                      </a:endParaRPr>
                    </a:p>
                    <a:p>
                      <a:pPr marL="0" marR="0">
                        <a:lnSpc>
                          <a:spcPct val="115000"/>
                        </a:lnSpc>
                        <a:spcBef>
                          <a:spcPts val="0"/>
                        </a:spcBef>
                        <a:spcAft>
                          <a:spcPts val="0"/>
                        </a:spcAft>
                      </a:pPr>
                      <a:r>
                        <a:rPr lang="en-US" sz="1200" dirty="0">
                          <a:effectLst/>
                          <a:latin typeface="Times New Roman"/>
                          <a:ea typeface="Calibri"/>
                          <a:cs typeface="Mangal"/>
                        </a:rPr>
                        <a:t>POc1, Pod2, POg1, POl2</a:t>
                      </a:r>
                      <a:endParaRPr lang="en-US" sz="1100" dirty="0">
                        <a:effectLst/>
                        <a:latin typeface="Calibri"/>
                        <a:ea typeface="Calibri"/>
                        <a:cs typeface="Mangal"/>
                      </a:endParaRPr>
                    </a:p>
                  </a:txBody>
                  <a:tcPr marL="68580" marR="68580" marT="0" marB="0"/>
                </a:tc>
                <a:extLst>
                  <a:ext uri="{0D108BD9-81ED-4DB2-BD59-A6C34878D82A}">
                    <a16:rowId xmlns:a16="http://schemas.microsoft.com/office/drawing/2014/main" val="10001"/>
                  </a:ext>
                </a:extLst>
              </a:tr>
              <a:tr h="1907933">
                <a:tc>
                  <a:txBody>
                    <a:bodyPr/>
                    <a:lstStyle/>
                    <a:p>
                      <a:pPr marL="0" marR="0">
                        <a:lnSpc>
                          <a:spcPct val="115000"/>
                        </a:lnSpc>
                        <a:spcBef>
                          <a:spcPts val="0"/>
                        </a:spcBef>
                        <a:spcAft>
                          <a:spcPts val="1000"/>
                        </a:spcAft>
                      </a:pPr>
                      <a:r>
                        <a:rPr lang="en-US" sz="1000">
                          <a:effectLst/>
                        </a:rPr>
                        <a:t>20</a:t>
                      </a:r>
                      <a:endParaRPr lang="en-US" sz="900">
                        <a:effectLst/>
                        <a:latin typeface="Segoe UI"/>
                        <a:ea typeface="Calibri"/>
                        <a:cs typeface="Times New Roman"/>
                      </a:endParaRPr>
                    </a:p>
                  </a:txBody>
                  <a:tcPr marL="59655" marR="59655" marT="0" marB="0"/>
                </a:tc>
                <a:tc>
                  <a:txBody>
                    <a:bodyPr/>
                    <a:lstStyle/>
                    <a:p>
                      <a:pPr marL="0" marR="0">
                        <a:lnSpc>
                          <a:spcPct val="115000"/>
                        </a:lnSpc>
                        <a:spcBef>
                          <a:spcPts val="0"/>
                        </a:spcBef>
                        <a:spcAft>
                          <a:spcPts val="0"/>
                        </a:spcAft>
                      </a:pPr>
                      <a:r>
                        <a:rPr lang="en-US" sz="1000">
                          <a:effectLst/>
                        </a:rPr>
                        <a:t>The Directed Hamilton-Circuit Problem, </a:t>
                      </a:r>
                      <a:endParaRPr lang="en-US" sz="900">
                        <a:effectLst/>
                      </a:endParaRPr>
                    </a:p>
                    <a:p>
                      <a:pPr marL="0" marR="0">
                        <a:lnSpc>
                          <a:spcPct val="115000"/>
                        </a:lnSpc>
                        <a:spcBef>
                          <a:spcPts val="0"/>
                        </a:spcBef>
                        <a:spcAft>
                          <a:spcPts val="1000"/>
                        </a:spcAft>
                      </a:pPr>
                      <a:r>
                        <a:rPr lang="en-US" sz="1000">
                          <a:effectLst/>
                        </a:rPr>
                        <a:t> 6 hr </a:t>
                      </a:r>
                      <a:endParaRPr lang="en-US" sz="900">
                        <a:effectLst/>
                      </a:endParaRPr>
                    </a:p>
                    <a:p>
                      <a:pPr marL="0" marR="0">
                        <a:lnSpc>
                          <a:spcPct val="115000"/>
                        </a:lnSpc>
                        <a:spcBef>
                          <a:spcPts val="0"/>
                        </a:spcBef>
                        <a:spcAft>
                          <a:spcPts val="1000"/>
                        </a:spcAft>
                      </a:pPr>
                      <a:r>
                        <a:rPr lang="en-US" sz="1000">
                          <a:effectLst/>
                        </a:rPr>
                        <a:t> </a:t>
                      </a:r>
                      <a:endParaRPr lang="en-US" sz="900">
                        <a:effectLst/>
                        <a:latin typeface="Segoe UI"/>
                        <a:ea typeface="Calibri"/>
                        <a:cs typeface="Times New Roman"/>
                      </a:endParaRPr>
                    </a:p>
                  </a:txBody>
                  <a:tcPr marL="59655" marR="59655" marT="0" marB="0"/>
                </a:tc>
                <a:tc>
                  <a:txBody>
                    <a:bodyPr/>
                    <a:lstStyle/>
                    <a:p>
                      <a:pPr marL="0" marR="0">
                        <a:lnSpc>
                          <a:spcPct val="115000"/>
                        </a:lnSpc>
                        <a:spcBef>
                          <a:spcPts val="0"/>
                        </a:spcBef>
                        <a:spcAft>
                          <a:spcPts val="1000"/>
                        </a:spcAft>
                      </a:pPr>
                      <a:r>
                        <a:rPr lang="en-US" sz="1000">
                          <a:effectLst/>
                        </a:rPr>
                        <a:t>Presentation </a:t>
                      </a:r>
                      <a:endParaRPr lang="en-US" sz="900">
                        <a:effectLst/>
                      </a:endParaRPr>
                    </a:p>
                    <a:p>
                      <a:pPr marL="0" marR="0">
                        <a:lnSpc>
                          <a:spcPct val="115000"/>
                        </a:lnSpc>
                        <a:spcBef>
                          <a:spcPts val="0"/>
                        </a:spcBef>
                        <a:spcAft>
                          <a:spcPts val="1000"/>
                        </a:spcAft>
                      </a:pPr>
                      <a:r>
                        <a:rPr lang="en-US" sz="1000">
                          <a:effectLst/>
                        </a:rPr>
                        <a:t>And Black boared</a:t>
                      </a:r>
                      <a:endParaRPr lang="en-US" sz="900">
                        <a:effectLst/>
                        <a:latin typeface="Segoe UI"/>
                        <a:ea typeface="Calibri"/>
                        <a:cs typeface="Times New Roman"/>
                      </a:endParaRPr>
                    </a:p>
                  </a:txBody>
                  <a:tcPr marL="59655" marR="59655" marT="0" marB="0"/>
                </a:tc>
                <a:tc>
                  <a:txBody>
                    <a:bodyPr/>
                    <a:lstStyle/>
                    <a:p>
                      <a:pPr marL="0" marR="0">
                        <a:spcBef>
                          <a:spcPts val="0"/>
                        </a:spcBef>
                        <a:spcAft>
                          <a:spcPts val="0"/>
                        </a:spcAft>
                      </a:pPr>
                      <a:r>
                        <a:rPr lang="en-US" sz="1000">
                          <a:effectLst/>
                        </a:rPr>
                        <a:t>Introduces </a:t>
                      </a:r>
                    </a:p>
                    <a:p>
                      <a:pPr marL="0" marR="0">
                        <a:lnSpc>
                          <a:spcPct val="115000"/>
                        </a:lnSpc>
                        <a:spcBef>
                          <a:spcPts val="0"/>
                        </a:spcBef>
                        <a:spcAft>
                          <a:spcPts val="1000"/>
                        </a:spcAft>
                      </a:pPr>
                      <a:r>
                        <a:rPr lang="en-US" sz="1000">
                          <a:effectLst/>
                        </a:rPr>
                        <a:t>Facilitates</a:t>
                      </a:r>
                      <a:endParaRPr lang="en-US" sz="900">
                        <a:effectLst/>
                        <a:latin typeface="Segoe UI"/>
                        <a:ea typeface="Calibri"/>
                        <a:cs typeface="Times New Roman"/>
                      </a:endParaRPr>
                    </a:p>
                  </a:txBody>
                  <a:tcPr marL="59655" marR="59655" marT="0" marB="0"/>
                </a:tc>
                <a:tc>
                  <a:txBody>
                    <a:bodyPr/>
                    <a:lstStyle/>
                    <a:p>
                      <a:pPr marL="0" marR="0">
                        <a:spcBef>
                          <a:spcPts val="0"/>
                        </a:spcBef>
                        <a:spcAft>
                          <a:spcPts val="0"/>
                        </a:spcAft>
                      </a:pPr>
                      <a:r>
                        <a:rPr lang="en-US" sz="1000">
                          <a:effectLst/>
                        </a:rPr>
                        <a:t>Listens </a:t>
                      </a:r>
                    </a:p>
                    <a:p>
                      <a:pPr marL="0" marR="0">
                        <a:spcBef>
                          <a:spcPts val="0"/>
                        </a:spcBef>
                        <a:spcAft>
                          <a:spcPts val="0"/>
                        </a:spcAft>
                      </a:pPr>
                      <a:r>
                        <a:rPr lang="en-US" sz="1000">
                          <a:effectLst/>
                        </a:rPr>
                        <a:t>Participate </a:t>
                      </a:r>
                    </a:p>
                    <a:p>
                      <a:pPr marL="0" marR="0">
                        <a:spcBef>
                          <a:spcPts val="0"/>
                        </a:spcBef>
                        <a:spcAft>
                          <a:spcPts val="0"/>
                        </a:spcAft>
                      </a:pPr>
                      <a:r>
                        <a:rPr lang="en-US" sz="1000">
                          <a:effectLst/>
                        </a:rPr>
                        <a:t>Discuss </a:t>
                      </a:r>
                      <a:endParaRPr lang="en-US" sz="1000">
                        <a:solidFill>
                          <a:srgbClr val="000000"/>
                        </a:solidFill>
                        <a:effectLst/>
                        <a:latin typeface="Times New Roman"/>
                        <a:ea typeface="Calibri"/>
                      </a:endParaRPr>
                    </a:p>
                  </a:txBody>
                  <a:tcPr marL="59655" marR="59655" marT="0" marB="0"/>
                </a:tc>
                <a:tc>
                  <a:txBody>
                    <a:bodyPr/>
                    <a:lstStyle/>
                    <a:p>
                      <a:pPr marL="0" marR="0">
                        <a:lnSpc>
                          <a:spcPct val="115000"/>
                        </a:lnSpc>
                        <a:spcBef>
                          <a:spcPts val="0"/>
                        </a:spcBef>
                        <a:spcAft>
                          <a:spcPts val="1000"/>
                        </a:spcAft>
                      </a:pPr>
                      <a:r>
                        <a:rPr lang="en-US" sz="1000">
                          <a:effectLst/>
                        </a:rPr>
                        <a:t> Knowledge</a:t>
                      </a:r>
                      <a:endParaRPr lang="en-US" sz="900">
                        <a:effectLst/>
                        <a:latin typeface="Segoe UI"/>
                        <a:ea typeface="Calibri"/>
                        <a:cs typeface="Times New Roman"/>
                      </a:endParaRPr>
                    </a:p>
                  </a:txBody>
                  <a:tcPr marL="59655" marR="59655"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1167293">
                <a:tc>
                  <a:txBody>
                    <a:bodyPr/>
                    <a:lstStyle/>
                    <a:p>
                      <a:pPr marL="0" marR="0">
                        <a:lnSpc>
                          <a:spcPct val="115000"/>
                        </a:lnSpc>
                        <a:spcBef>
                          <a:spcPts val="0"/>
                        </a:spcBef>
                        <a:spcAft>
                          <a:spcPts val="1000"/>
                        </a:spcAft>
                      </a:pPr>
                      <a:r>
                        <a:rPr lang="en-US" sz="1000">
                          <a:effectLst/>
                        </a:rPr>
                        <a:t>20</a:t>
                      </a:r>
                      <a:endParaRPr lang="en-US" sz="900">
                        <a:effectLst/>
                        <a:latin typeface="Segoe UI"/>
                        <a:ea typeface="Calibri"/>
                        <a:cs typeface="Times New Roman"/>
                      </a:endParaRPr>
                    </a:p>
                  </a:txBody>
                  <a:tcPr marL="59655" marR="59655" marT="0" marB="0"/>
                </a:tc>
                <a:tc>
                  <a:txBody>
                    <a:bodyPr/>
                    <a:lstStyle/>
                    <a:p>
                      <a:pPr marL="0" marR="0">
                        <a:lnSpc>
                          <a:spcPct val="115000"/>
                        </a:lnSpc>
                        <a:spcBef>
                          <a:spcPts val="0"/>
                        </a:spcBef>
                        <a:spcAft>
                          <a:spcPts val="1000"/>
                        </a:spcAft>
                      </a:pPr>
                      <a:r>
                        <a:rPr lang="en-US" sz="1000">
                          <a:effectLst/>
                        </a:rPr>
                        <a:t>Undirected Hamilton Circuits.</a:t>
                      </a:r>
                      <a:endParaRPr lang="en-US" sz="900">
                        <a:effectLst/>
                        <a:latin typeface="Segoe UI"/>
                        <a:ea typeface="Calibri"/>
                        <a:cs typeface="Times New Roman"/>
                      </a:endParaRPr>
                    </a:p>
                  </a:txBody>
                  <a:tcPr marL="59655" marR="59655" marT="0" marB="0"/>
                </a:tc>
                <a:tc>
                  <a:txBody>
                    <a:bodyPr/>
                    <a:lstStyle/>
                    <a:p>
                      <a:pPr marL="0" marR="0">
                        <a:spcBef>
                          <a:spcPts val="0"/>
                        </a:spcBef>
                        <a:spcAft>
                          <a:spcPts val="0"/>
                        </a:spcAft>
                      </a:pPr>
                      <a:r>
                        <a:rPr lang="en-US" sz="1000">
                          <a:effectLst/>
                        </a:rPr>
                        <a:t>Session interspersed with discussion </a:t>
                      </a:r>
                    </a:p>
                    <a:p>
                      <a:pPr marL="0" marR="0">
                        <a:lnSpc>
                          <a:spcPct val="115000"/>
                        </a:lnSpc>
                        <a:spcBef>
                          <a:spcPts val="0"/>
                        </a:spcBef>
                        <a:spcAft>
                          <a:spcPts val="1000"/>
                        </a:spcAft>
                      </a:pPr>
                      <a:r>
                        <a:rPr lang="en-US" sz="1000">
                          <a:effectLst/>
                        </a:rPr>
                        <a:t> </a:t>
                      </a:r>
                      <a:endParaRPr lang="en-US" sz="900">
                        <a:effectLst/>
                        <a:latin typeface="Segoe UI"/>
                        <a:ea typeface="Calibri"/>
                        <a:cs typeface="Times New Roman"/>
                      </a:endParaRPr>
                    </a:p>
                  </a:txBody>
                  <a:tcPr marL="59655" marR="59655" marT="0" marB="0"/>
                </a:tc>
                <a:tc>
                  <a:txBody>
                    <a:bodyPr/>
                    <a:lstStyle/>
                    <a:p>
                      <a:pPr marL="0" marR="0">
                        <a:spcBef>
                          <a:spcPts val="0"/>
                        </a:spcBef>
                        <a:spcAft>
                          <a:spcPts val="0"/>
                        </a:spcAft>
                      </a:pPr>
                      <a:r>
                        <a:rPr lang="en-US" sz="1000">
                          <a:effectLst/>
                        </a:rPr>
                        <a:t> Introduces </a:t>
                      </a:r>
                    </a:p>
                    <a:p>
                      <a:pPr marL="0" marR="0">
                        <a:lnSpc>
                          <a:spcPct val="115000"/>
                        </a:lnSpc>
                        <a:spcBef>
                          <a:spcPts val="0"/>
                        </a:spcBef>
                        <a:spcAft>
                          <a:spcPts val="1000"/>
                        </a:spcAft>
                      </a:pPr>
                      <a:r>
                        <a:rPr lang="en-US" sz="1000">
                          <a:effectLst/>
                        </a:rPr>
                        <a:t>Facilitates</a:t>
                      </a:r>
                      <a:endParaRPr lang="en-US" sz="900">
                        <a:effectLst/>
                        <a:latin typeface="Segoe UI"/>
                        <a:ea typeface="Calibri"/>
                        <a:cs typeface="Times New Roman"/>
                      </a:endParaRPr>
                    </a:p>
                  </a:txBody>
                  <a:tcPr marL="59655" marR="59655" marT="0" marB="0"/>
                </a:tc>
                <a:tc>
                  <a:txBody>
                    <a:bodyPr/>
                    <a:lstStyle/>
                    <a:p>
                      <a:pPr marL="0" marR="0">
                        <a:spcBef>
                          <a:spcPts val="0"/>
                        </a:spcBef>
                        <a:spcAft>
                          <a:spcPts val="0"/>
                        </a:spcAft>
                      </a:pPr>
                      <a:r>
                        <a:rPr lang="en-US" sz="1000">
                          <a:effectLst/>
                        </a:rPr>
                        <a:t>Listens </a:t>
                      </a:r>
                    </a:p>
                    <a:p>
                      <a:pPr marL="0" marR="0">
                        <a:spcBef>
                          <a:spcPts val="0"/>
                        </a:spcBef>
                        <a:spcAft>
                          <a:spcPts val="0"/>
                        </a:spcAft>
                      </a:pPr>
                      <a:r>
                        <a:rPr lang="en-US" sz="1000">
                          <a:effectLst/>
                        </a:rPr>
                        <a:t>Participate </a:t>
                      </a:r>
                    </a:p>
                    <a:p>
                      <a:pPr marL="0" marR="0">
                        <a:spcBef>
                          <a:spcPts val="0"/>
                        </a:spcBef>
                        <a:spcAft>
                          <a:spcPts val="0"/>
                        </a:spcAft>
                      </a:pPr>
                      <a:r>
                        <a:rPr lang="en-US" sz="1000">
                          <a:effectLst/>
                        </a:rPr>
                        <a:t>Discuss </a:t>
                      </a:r>
                      <a:endParaRPr lang="en-US" sz="1000">
                        <a:solidFill>
                          <a:srgbClr val="000000"/>
                        </a:solidFill>
                        <a:effectLst/>
                        <a:latin typeface="Times New Roman"/>
                        <a:ea typeface="Calibri"/>
                      </a:endParaRPr>
                    </a:p>
                  </a:txBody>
                  <a:tcPr marL="59655" marR="59655" marT="0" marB="0"/>
                </a:tc>
                <a:tc>
                  <a:txBody>
                    <a:bodyPr/>
                    <a:lstStyle/>
                    <a:p>
                      <a:pPr marL="0" marR="0">
                        <a:spcBef>
                          <a:spcPts val="0"/>
                        </a:spcBef>
                        <a:spcAft>
                          <a:spcPts val="0"/>
                        </a:spcAft>
                      </a:pPr>
                      <a:r>
                        <a:rPr lang="en-US" sz="1000">
                          <a:effectLst/>
                        </a:rPr>
                        <a:t> </a:t>
                      </a:r>
                    </a:p>
                    <a:p>
                      <a:pPr marL="0" marR="0">
                        <a:lnSpc>
                          <a:spcPct val="115000"/>
                        </a:lnSpc>
                        <a:spcBef>
                          <a:spcPts val="0"/>
                        </a:spcBef>
                        <a:spcAft>
                          <a:spcPts val="1000"/>
                        </a:spcAft>
                      </a:pPr>
                      <a:r>
                        <a:rPr lang="en-US" sz="1000">
                          <a:effectLst/>
                        </a:rPr>
                        <a:t>Knowledge</a:t>
                      </a:r>
                      <a:endParaRPr lang="en-US" sz="900">
                        <a:effectLst/>
                        <a:latin typeface="Segoe UI"/>
                        <a:ea typeface="Calibri"/>
                        <a:cs typeface="Times New Roman"/>
                      </a:endParaRPr>
                    </a:p>
                  </a:txBody>
                  <a:tcPr marL="59655" marR="59655"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3"/>
                  </a:ext>
                </a:extLst>
              </a:tr>
              <a:tr h="651418">
                <a:tc>
                  <a:txBody>
                    <a:bodyPr/>
                    <a:lstStyle/>
                    <a:p>
                      <a:pPr marL="0" marR="0">
                        <a:lnSpc>
                          <a:spcPct val="115000"/>
                        </a:lnSpc>
                        <a:spcBef>
                          <a:spcPts val="0"/>
                        </a:spcBef>
                        <a:spcAft>
                          <a:spcPts val="1000"/>
                        </a:spcAft>
                      </a:pPr>
                      <a:r>
                        <a:rPr lang="en-US" sz="1000">
                          <a:effectLst/>
                        </a:rPr>
                        <a:t>5</a:t>
                      </a:r>
                      <a:endParaRPr lang="en-US" sz="900">
                        <a:effectLst/>
                        <a:latin typeface="Segoe UI"/>
                        <a:ea typeface="Calibri"/>
                        <a:cs typeface="Times New Roman"/>
                      </a:endParaRPr>
                    </a:p>
                  </a:txBody>
                  <a:tcPr marL="59655" marR="59655" marT="0" marB="0"/>
                </a:tc>
                <a:tc>
                  <a:txBody>
                    <a:bodyPr/>
                    <a:lstStyle/>
                    <a:p>
                      <a:pPr marL="0" marR="0">
                        <a:spcBef>
                          <a:spcPts val="0"/>
                        </a:spcBef>
                        <a:spcAft>
                          <a:spcPts val="0"/>
                        </a:spcAft>
                      </a:pPr>
                      <a:r>
                        <a:rPr lang="en-US" sz="1000">
                          <a:effectLst/>
                        </a:rPr>
                        <a:t>Revision </a:t>
                      </a:r>
                      <a:endParaRPr lang="en-US" sz="1000">
                        <a:solidFill>
                          <a:srgbClr val="000000"/>
                        </a:solidFill>
                        <a:effectLst/>
                        <a:latin typeface="Times New Roman"/>
                        <a:ea typeface="Calibri"/>
                      </a:endParaRPr>
                    </a:p>
                  </a:txBody>
                  <a:tcPr marL="59655" marR="59655" marT="0" marB="0"/>
                </a:tc>
                <a:tc>
                  <a:txBody>
                    <a:bodyPr/>
                    <a:lstStyle/>
                    <a:p>
                      <a:pPr marL="0" marR="0">
                        <a:spcBef>
                          <a:spcPts val="0"/>
                        </a:spcBef>
                        <a:spcAft>
                          <a:spcPts val="0"/>
                        </a:spcAft>
                      </a:pPr>
                      <a:r>
                        <a:rPr lang="en-US" sz="1000">
                          <a:effectLst/>
                        </a:rPr>
                        <a:t>Key Words </a:t>
                      </a:r>
                      <a:endParaRPr lang="en-US" sz="1000">
                        <a:solidFill>
                          <a:srgbClr val="000000"/>
                        </a:solidFill>
                        <a:effectLst/>
                        <a:latin typeface="Times New Roman"/>
                        <a:ea typeface="Calibri"/>
                      </a:endParaRPr>
                    </a:p>
                  </a:txBody>
                  <a:tcPr marL="59655" marR="59655" marT="0" marB="0"/>
                </a:tc>
                <a:tc>
                  <a:txBody>
                    <a:bodyPr/>
                    <a:lstStyle/>
                    <a:p>
                      <a:pPr marL="0" marR="0">
                        <a:spcBef>
                          <a:spcPts val="0"/>
                        </a:spcBef>
                        <a:spcAft>
                          <a:spcPts val="0"/>
                        </a:spcAft>
                      </a:pPr>
                      <a:r>
                        <a:rPr lang="en-US" sz="1000">
                          <a:effectLst/>
                        </a:rPr>
                        <a:t>List </a:t>
                      </a:r>
                    </a:p>
                    <a:p>
                      <a:pPr marL="0" marR="0">
                        <a:spcBef>
                          <a:spcPts val="0"/>
                        </a:spcBef>
                        <a:spcAft>
                          <a:spcPts val="0"/>
                        </a:spcAft>
                      </a:pPr>
                      <a:r>
                        <a:rPr lang="en-US" sz="1000">
                          <a:effectLst/>
                        </a:rPr>
                        <a:t>Facilitates </a:t>
                      </a:r>
                      <a:endParaRPr lang="en-US" sz="1000">
                        <a:solidFill>
                          <a:srgbClr val="000000"/>
                        </a:solidFill>
                        <a:effectLst/>
                        <a:latin typeface="Times New Roman"/>
                        <a:ea typeface="Calibri"/>
                      </a:endParaRPr>
                    </a:p>
                  </a:txBody>
                  <a:tcPr marL="59655" marR="59655" marT="0" marB="0"/>
                </a:tc>
                <a:tc>
                  <a:txBody>
                    <a:bodyPr/>
                    <a:lstStyle/>
                    <a:p>
                      <a:pPr marL="0" marR="0">
                        <a:spcBef>
                          <a:spcPts val="0"/>
                        </a:spcBef>
                        <a:spcAft>
                          <a:spcPts val="0"/>
                        </a:spcAft>
                      </a:pPr>
                      <a:r>
                        <a:rPr lang="en-US" sz="1000">
                          <a:effectLst/>
                        </a:rPr>
                        <a:t>Identifies </a:t>
                      </a:r>
                      <a:endParaRPr lang="en-US" sz="1000">
                        <a:solidFill>
                          <a:srgbClr val="000000"/>
                        </a:solidFill>
                        <a:effectLst/>
                        <a:latin typeface="Times New Roman"/>
                        <a:ea typeface="Calibri"/>
                      </a:endParaRPr>
                    </a:p>
                  </a:txBody>
                  <a:tcPr marL="59655" marR="59655" marT="0" marB="0"/>
                </a:tc>
                <a:tc>
                  <a:txBody>
                    <a:bodyPr/>
                    <a:lstStyle/>
                    <a:p>
                      <a:pPr marL="0" marR="0">
                        <a:spcBef>
                          <a:spcPts val="0"/>
                        </a:spcBef>
                        <a:spcAft>
                          <a:spcPts val="0"/>
                        </a:spcAft>
                      </a:pPr>
                      <a:r>
                        <a:rPr lang="en-US" sz="1000" dirty="0">
                          <a:effectLst/>
                        </a:rPr>
                        <a:t>Knowledge </a:t>
                      </a:r>
                    </a:p>
                    <a:p>
                      <a:pPr marL="0" marR="0">
                        <a:spcBef>
                          <a:spcPts val="0"/>
                        </a:spcBef>
                        <a:spcAft>
                          <a:spcPts val="0"/>
                        </a:spcAft>
                      </a:pPr>
                      <a:r>
                        <a:rPr lang="en-US" sz="1000" dirty="0">
                          <a:effectLst/>
                        </a:rPr>
                        <a:t>Comprehension </a:t>
                      </a:r>
                      <a:endParaRPr lang="en-US" sz="1000" dirty="0">
                        <a:solidFill>
                          <a:srgbClr val="000000"/>
                        </a:solidFill>
                        <a:effectLst/>
                        <a:latin typeface="Times New Roman"/>
                        <a:ea typeface="Calibri"/>
                      </a:endParaRPr>
                    </a:p>
                  </a:txBody>
                  <a:tcPr marL="59655" marR="59655"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173630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1143000"/>
          </a:xfrm>
        </p:spPr>
        <p:txBody>
          <a:bodyPr>
            <a:normAutofit fontScale="90000"/>
          </a:bodyPr>
          <a:lstStyle/>
          <a:p>
            <a:r>
              <a:rPr lang="en-GB" sz="4000" b="1" cap="all" dirty="0"/>
              <a:t>6.11The Node Cover Problem </a:t>
            </a:r>
            <a:br>
              <a:rPr lang="en-US" b="1" cap="all" dirty="0"/>
            </a:br>
            <a:endParaRPr lang="en-US" dirty="0"/>
          </a:p>
        </p:txBody>
      </p:sp>
      <p:sp>
        <p:nvSpPr>
          <p:cNvPr id="3" name="Content Placeholder 2"/>
          <p:cNvSpPr>
            <a:spLocks noGrp="1"/>
          </p:cNvSpPr>
          <p:nvPr>
            <p:ph sz="quarter" idx="13"/>
          </p:nvPr>
        </p:nvSpPr>
        <p:spPr>
          <a:xfrm>
            <a:off x="457200" y="1600200"/>
            <a:ext cx="7543800" cy="3931920"/>
          </a:xfrm>
        </p:spPr>
        <p:txBody>
          <a:bodyPr>
            <a:normAutofit lnSpcReduction="10000"/>
          </a:bodyPr>
          <a:lstStyle/>
          <a:p>
            <a:r>
              <a:rPr lang="en-US" sz="2000" b="1" dirty="0"/>
              <a:t>Edge Covering :</a:t>
            </a:r>
            <a:r>
              <a:rPr lang="en-US" sz="2000" dirty="0"/>
              <a:t> It is a set of edges such that every mode in the graph is an end of </a:t>
            </a:r>
            <a:r>
              <a:rPr lang="en-US" sz="2000" dirty="0" err="1"/>
              <a:t>atleast</a:t>
            </a:r>
            <a:r>
              <a:rPr lang="en-US" sz="2000" dirty="0"/>
              <a:t> one edge in the set.</a:t>
            </a:r>
          </a:p>
          <a:p>
            <a:r>
              <a:rPr lang="en-US" sz="2000" b="1" dirty="0"/>
              <a:t>6.11.1 Problem of Node Covering is NP Complete</a:t>
            </a:r>
          </a:p>
          <a:p>
            <a:pPr lvl="1"/>
            <a:r>
              <a:rPr lang="en-US" sz="1800" b="1" dirty="0"/>
              <a:t>Node Cover : </a:t>
            </a:r>
            <a:r>
              <a:rPr lang="en-US" sz="1800" dirty="0"/>
              <a:t>It is a set of nodes such that each edge has at least one of its ends at a node of the set.</a:t>
            </a:r>
            <a:endParaRPr lang="en-US" sz="1400" dirty="0"/>
          </a:p>
          <a:p>
            <a:pPr lvl="1"/>
            <a:r>
              <a:rPr lang="en-US" sz="1600" dirty="0"/>
              <a:t>Input : A graph G and highest limit k, which must be between O and one less than the number of nodes of G.</a:t>
            </a:r>
          </a:p>
          <a:p>
            <a:pPr lvl="1"/>
            <a:r>
              <a:rPr lang="en-US" sz="1600" dirty="0"/>
              <a:t>Output : "Yes" if and only if G has a node cover with k or fewer nodes.</a:t>
            </a:r>
          </a:p>
          <a:p>
            <a:pPr lvl="1"/>
            <a:r>
              <a:rPr lang="en-US" sz="1600" b="1" dirty="0"/>
              <a:t>Reduction form : </a:t>
            </a:r>
            <a:r>
              <a:rPr lang="en-US" sz="1600" dirty="0"/>
              <a:t>Independent set.</a:t>
            </a:r>
          </a:p>
          <a:p>
            <a:r>
              <a:rPr lang="en-US" sz="2400" b="1" dirty="0"/>
              <a:t>Theorem : </a:t>
            </a:r>
            <a:r>
              <a:rPr lang="en-US" sz="2400" dirty="0"/>
              <a:t>The node cover problem is NP-complete.</a:t>
            </a:r>
          </a:p>
          <a:p>
            <a:pPr lvl="1"/>
            <a:r>
              <a:rPr lang="en-US" sz="1600" b="1" dirty="0"/>
              <a:t>Proof : </a:t>
            </a:r>
            <a:r>
              <a:rPr lang="en-US" sz="1600" dirty="0"/>
              <a:t>Initially NC is in NP.</a:t>
            </a:r>
          </a:p>
        </p:txBody>
      </p:sp>
    </p:spTree>
    <p:extLst>
      <p:ext uri="{BB962C8B-B14F-4D97-AF65-F5344CB8AC3E}">
        <p14:creationId xmlns:p14="http://schemas.microsoft.com/office/powerpoint/2010/main" val="12168333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7924800" cy="685800"/>
          </a:xfrm>
        </p:spPr>
        <p:txBody>
          <a:bodyPr>
            <a:normAutofit/>
          </a:bodyPr>
          <a:lstStyle/>
          <a:p>
            <a:r>
              <a:rPr lang="en-US" sz="2800" dirty="0"/>
              <a:t>6.12The Directed Hamilton-Circuit Problem</a:t>
            </a:r>
          </a:p>
        </p:txBody>
      </p:sp>
      <p:sp>
        <p:nvSpPr>
          <p:cNvPr id="3" name="Content Placeholder 2"/>
          <p:cNvSpPr>
            <a:spLocks noGrp="1"/>
          </p:cNvSpPr>
          <p:nvPr>
            <p:ph sz="quarter" idx="13"/>
          </p:nvPr>
        </p:nvSpPr>
        <p:spPr>
          <a:xfrm>
            <a:off x="935182" y="838200"/>
            <a:ext cx="6400800" cy="3474720"/>
          </a:xfrm>
        </p:spPr>
        <p:txBody>
          <a:bodyPr>
            <a:normAutofit lnSpcReduction="10000"/>
          </a:bodyPr>
          <a:lstStyle/>
          <a:p>
            <a:r>
              <a:rPr lang="en-US" sz="2000" dirty="0"/>
              <a:t>We know that Travelling Salesman Problem (TSP) is NP complete. We can prove the NP. Completeness is actually a proof that a simpler problem called as Hamilton Circuit problem (HC) is NP-complete.</a:t>
            </a:r>
          </a:p>
          <a:p>
            <a:pPr lvl="1"/>
            <a:r>
              <a:rPr lang="en-US" sz="2000" b="1" dirty="0"/>
              <a:t>Theorem : </a:t>
            </a:r>
            <a:r>
              <a:rPr lang="en-US" sz="2000" dirty="0"/>
              <a:t>The Direct Hamilton Circuit (DHC) problem is NP-complete.</a:t>
            </a:r>
          </a:p>
          <a:p>
            <a:pPr lvl="1"/>
            <a:r>
              <a:rPr lang="en-US" sz="2000" dirty="0"/>
              <a:t>Let		E=e</a:t>
            </a:r>
            <a:r>
              <a:rPr lang="en-US" sz="2000" baseline="-25000" dirty="0"/>
              <a:t>1</a:t>
            </a:r>
            <a:r>
              <a:rPr lang="en-US" sz="2000" dirty="0"/>
              <a:t> </a:t>
            </a:r>
            <a:r>
              <a:rPr lang="en-US" sz="2000" dirty="0">
                <a:sym typeface="Symbol"/>
              </a:rPr>
              <a:t></a:t>
            </a:r>
            <a:r>
              <a:rPr lang="en-US" sz="2000" dirty="0"/>
              <a:t> e</a:t>
            </a:r>
            <a:r>
              <a:rPr lang="en-US" sz="2000" baseline="-25000" dirty="0"/>
              <a:t>2</a:t>
            </a:r>
            <a:r>
              <a:rPr lang="en-US" sz="2000" dirty="0"/>
              <a:t> </a:t>
            </a:r>
            <a:r>
              <a:rPr lang="en-US" sz="2000" dirty="0">
                <a:sym typeface="Symbol"/>
              </a:rPr>
              <a:t></a:t>
            </a:r>
            <a:r>
              <a:rPr lang="en-US" sz="2000" dirty="0"/>
              <a:t> </a:t>
            </a:r>
            <a:r>
              <a:rPr lang="en-US" sz="2000" dirty="0">
                <a:sym typeface="Symbol"/>
              </a:rPr>
              <a:t></a:t>
            </a:r>
            <a:r>
              <a:rPr lang="en-US" sz="2000" dirty="0"/>
              <a:t> </a:t>
            </a:r>
            <a:r>
              <a:rPr lang="en-US" sz="2000" dirty="0" err="1"/>
              <a:t>e</a:t>
            </a:r>
            <a:r>
              <a:rPr lang="en-US" sz="2000" baseline="-25000" dirty="0" err="1"/>
              <a:t>k</a:t>
            </a:r>
            <a:endParaRPr lang="en-US" sz="2000" dirty="0"/>
          </a:p>
          <a:p>
            <a:pPr marL="0" indent="0">
              <a:buNone/>
            </a:pPr>
            <a:r>
              <a:rPr lang="en-US" sz="2000" dirty="0"/>
              <a:t>	where		</a:t>
            </a:r>
          </a:p>
          <a:p>
            <a:pPr marL="0" indent="0">
              <a:buNone/>
            </a:pPr>
            <a:r>
              <a:rPr lang="en-US" sz="2000" dirty="0"/>
              <a:t>	</a:t>
            </a:r>
            <a:r>
              <a:rPr lang="en-US" sz="2000" dirty="0" err="1"/>
              <a:t>e</a:t>
            </a:r>
            <a:r>
              <a:rPr lang="en-US" sz="2000" baseline="-25000" dirty="0" err="1"/>
              <a:t>i</a:t>
            </a:r>
            <a:r>
              <a:rPr lang="en-US" sz="2000" dirty="0"/>
              <a:t>=clause the sum of three literals</a:t>
            </a:r>
          </a:p>
          <a:p>
            <a:pPr marL="0" indent="0">
              <a:buNone/>
            </a:pPr>
            <a:r>
              <a:rPr lang="en-US" sz="2000" dirty="0"/>
              <a:t>	</a:t>
            </a:r>
            <a:r>
              <a:rPr lang="en-US" sz="2000" dirty="0" err="1"/>
              <a:t>e</a:t>
            </a:r>
            <a:r>
              <a:rPr lang="en-US" sz="2000" baseline="-25000" dirty="0" err="1"/>
              <a:t>i</a:t>
            </a:r>
            <a:r>
              <a:rPr lang="en-US" sz="2000" dirty="0"/>
              <a:t>=(a</a:t>
            </a:r>
            <a:r>
              <a:rPr lang="en-US" sz="2000" baseline="-25000" dirty="0"/>
              <a:t>i1</a:t>
            </a:r>
            <a:r>
              <a:rPr lang="en-US" sz="2000" dirty="0"/>
              <a:t> + a</a:t>
            </a:r>
            <a:r>
              <a:rPr lang="en-US" sz="2000" baseline="-25000" dirty="0"/>
              <a:t>i2</a:t>
            </a:r>
            <a:r>
              <a:rPr lang="en-US" sz="2000" dirty="0"/>
              <a:t> + a</a:t>
            </a:r>
            <a:r>
              <a:rPr lang="en-US" sz="2000" baseline="-25000" dirty="0"/>
              <a:t>i3</a:t>
            </a:r>
            <a:r>
              <a:rPr lang="en-US" sz="2000" dirty="0"/>
              <a:t>)</a:t>
            </a:r>
          </a:p>
          <a:p>
            <a:endParaRPr 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3075708"/>
            <a:ext cx="1581150" cy="3095625"/>
          </a:xfrm>
          <a:prstGeom prst="rect">
            <a:avLst/>
          </a:prstGeom>
          <a:noFill/>
          <a:extLst>
            <a:ext uri="{909E8E84-426E-40DD-AFC4-6F175D3DCCD1}">
              <a14:hiddenFill xmlns:a14="http://schemas.microsoft.com/office/drawing/2010/main">
                <a:solidFill>
                  <a:srgbClr val="FFFFFF"/>
                </a:solidFill>
              </a14:hiddenFill>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5262" y="3151909"/>
            <a:ext cx="1000125" cy="2943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39395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3200400" y="381000"/>
            <a:ext cx="2219048" cy="2000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20436" y="2514600"/>
            <a:ext cx="7820891" cy="369332"/>
          </a:xfrm>
          <a:prstGeom prst="rect">
            <a:avLst/>
          </a:prstGeom>
        </p:spPr>
        <p:txBody>
          <a:bodyPr wrap="square">
            <a:spAutoFit/>
          </a:bodyPr>
          <a:lstStyle/>
          <a:p>
            <a:r>
              <a:rPr lang="en-US" b="1" dirty="0"/>
              <a:t>Fig. 6.12 : Construction use in proof of Hamilton circuit problem is NP-complete</a:t>
            </a:r>
            <a:endParaRPr lang="en-US" dirty="0"/>
          </a:p>
        </p:txBody>
      </p:sp>
      <p:sp>
        <p:nvSpPr>
          <p:cNvPr id="5" name="Rectangle 4"/>
          <p:cNvSpPr/>
          <p:nvPr/>
        </p:nvSpPr>
        <p:spPr>
          <a:xfrm>
            <a:off x="533400" y="3276600"/>
            <a:ext cx="8458200" cy="3416320"/>
          </a:xfrm>
          <a:prstGeom prst="rect">
            <a:avLst/>
          </a:prstGeom>
        </p:spPr>
        <p:txBody>
          <a:bodyPr wrap="square">
            <a:spAutoFit/>
          </a:bodyPr>
          <a:lstStyle/>
          <a:p>
            <a:pPr marL="285750" indent="-285750">
              <a:buFont typeface="Arial" pitchFamily="34" charset="0"/>
              <a:buChar char="•"/>
            </a:pPr>
            <a:r>
              <a:rPr lang="en-US" dirty="0"/>
              <a:t>In Fig. 6.12 (b) each hexagon represent one of the gadgets for a variable with the structure of Fig. 6.12 (a). The foot node of one gadget has an are to the head node of the gadget, in a cycle.</a:t>
            </a:r>
          </a:p>
          <a:p>
            <a:pPr marL="742950" lvl="1" indent="-285750">
              <a:buFont typeface="Arial" pitchFamily="34" charset="0"/>
              <a:buChar char="•"/>
            </a:pPr>
            <a:r>
              <a:rPr lang="en-US" dirty="0"/>
              <a:t>Thus if, the cycle begins a</a:t>
            </a:r>
            <a:r>
              <a:rPr lang="en-US" baseline="-25000" dirty="0"/>
              <a:t>1</a:t>
            </a:r>
            <a:r>
              <a:rPr lang="en-US" dirty="0"/>
              <a:t>, b</a:t>
            </a:r>
            <a:r>
              <a:rPr lang="en-US" baseline="-25000" dirty="0"/>
              <a:t>1</a:t>
            </a:r>
            <a:r>
              <a:rPr lang="en-US" dirty="0"/>
              <a:t>, b</a:t>
            </a:r>
            <a:r>
              <a:rPr lang="en-US" baseline="-25000" dirty="0"/>
              <a:t>10</a:t>
            </a:r>
            <a:r>
              <a:rPr lang="en-US" dirty="0"/>
              <a:t> then the "ladder" continue in alternating between the sides, as</a:t>
            </a:r>
          </a:p>
          <a:p>
            <a:r>
              <a:rPr lang="en-US" dirty="0"/>
              <a:t>	a</a:t>
            </a:r>
            <a:r>
              <a:rPr lang="en-US" baseline="-25000" dirty="0"/>
              <a:t>1</a:t>
            </a:r>
            <a:r>
              <a:rPr lang="en-US" dirty="0"/>
              <a:t>, b</a:t>
            </a:r>
            <a:r>
              <a:rPr lang="en-US" baseline="-25000" dirty="0"/>
              <a:t>10</a:t>
            </a:r>
            <a:r>
              <a:rPr lang="en-US" dirty="0"/>
              <a:t>, c</a:t>
            </a:r>
            <a:r>
              <a:rPr lang="en-US" baseline="-25000" dirty="0"/>
              <a:t>10</a:t>
            </a:r>
            <a:r>
              <a:rPr lang="en-US" dirty="0"/>
              <a:t>, b</a:t>
            </a:r>
            <a:r>
              <a:rPr lang="en-US" baseline="-25000" dirty="0"/>
              <a:t>11</a:t>
            </a:r>
            <a:r>
              <a:rPr lang="en-US" dirty="0"/>
              <a:t>, c</a:t>
            </a:r>
            <a:r>
              <a:rPr lang="en-US" baseline="-25000" dirty="0"/>
              <a:t>11</a:t>
            </a:r>
            <a:r>
              <a:rPr lang="en-US" dirty="0"/>
              <a:t>, </a:t>
            </a:r>
            <a:r>
              <a:rPr lang="en-US" dirty="0">
                <a:sym typeface="Symbol"/>
              </a:rPr>
              <a:t></a:t>
            </a:r>
            <a:r>
              <a:rPr lang="en-US" dirty="0"/>
              <a:t>b</a:t>
            </a:r>
            <a:r>
              <a:rPr lang="en-US" baseline="-25000" dirty="0"/>
              <a:t>1m1</a:t>
            </a:r>
            <a:r>
              <a:rPr lang="en-US" dirty="0"/>
              <a:t>, c</a:t>
            </a:r>
            <a:r>
              <a:rPr lang="en-US" baseline="-25000" dirty="0"/>
              <a:t>1m1</a:t>
            </a:r>
            <a:r>
              <a:rPr lang="en-US" dirty="0"/>
              <a:t>, d</a:t>
            </a:r>
            <a:r>
              <a:rPr lang="en-US" baseline="-25000" dirty="0"/>
              <a:t>1</a:t>
            </a:r>
            <a:r>
              <a:rPr lang="en-US" dirty="0"/>
              <a:t>.</a:t>
            </a:r>
          </a:p>
          <a:p>
            <a:pPr marL="285750" indent="-285750">
              <a:buFont typeface="Arial" pitchFamily="34" charset="0"/>
              <a:buChar char="•"/>
            </a:pPr>
            <a:r>
              <a:rPr lang="en-US" dirty="0"/>
              <a:t>If the cycle begins with a</a:t>
            </a:r>
            <a:r>
              <a:rPr lang="en-US" baseline="-25000" dirty="0"/>
              <a:t>1</a:t>
            </a:r>
            <a:r>
              <a:rPr lang="en-US" dirty="0"/>
              <a:t>, c</a:t>
            </a:r>
            <a:r>
              <a:rPr lang="en-US" baseline="-25000" dirty="0"/>
              <a:t>10</a:t>
            </a:r>
            <a:r>
              <a:rPr lang="en-US" dirty="0"/>
              <a:t> then the ladder is described in an order where the c at a level precedes the b as :</a:t>
            </a:r>
          </a:p>
          <a:p>
            <a:r>
              <a:rPr lang="en-US" dirty="0"/>
              <a:t>	a</a:t>
            </a:r>
            <a:r>
              <a:rPr lang="en-US" baseline="-25000" dirty="0"/>
              <a:t>1</a:t>
            </a:r>
            <a:r>
              <a:rPr lang="en-US" dirty="0"/>
              <a:t>, c</a:t>
            </a:r>
            <a:r>
              <a:rPr lang="en-US" baseline="-25000" dirty="0"/>
              <a:t>10</a:t>
            </a:r>
            <a:r>
              <a:rPr lang="en-US" dirty="0"/>
              <a:t>, b</a:t>
            </a:r>
            <a:r>
              <a:rPr lang="en-US" baseline="-25000" dirty="0"/>
              <a:t>10</a:t>
            </a:r>
            <a:r>
              <a:rPr lang="en-US" dirty="0"/>
              <a:t>, c</a:t>
            </a:r>
            <a:r>
              <a:rPr lang="en-US" baseline="-25000" dirty="0"/>
              <a:t>11</a:t>
            </a:r>
            <a:r>
              <a:rPr lang="en-US" dirty="0"/>
              <a:t>, b</a:t>
            </a:r>
            <a:r>
              <a:rPr lang="en-US" baseline="-25000" dirty="0"/>
              <a:t>11</a:t>
            </a:r>
            <a:r>
              <a:rPr lang="en-US" dirty="0"/>
              <a:t>, </a:t>
            </a:r>
            <a:r>
              <a:rPr lang="en-US" dirty="0">
                <a:sym typeface="Symbol"/>
              </a:rPr>
              <a:t></a:t>
            </a:r>
            <a:r>
              <a:rPr lang="en-US" dirty="0"/>
              <a:t>c</a:t>
            </a:r>
            <a:r>
              <a:rPr lang="en-US" baseline="-25000" dirty="0"/>
              <a:t>1m1</a:t>
            </a:r>
            <a:r>
              <a:rPr lang="en-US" dirty="0"/>
              <a:t>, b</a:t>
            </a:r>
            <a:r>
              <a:rPr lang="en-US" baseline="-25000" dirty="0"/>
              <a:t>1m1</a:t>
            </a:r>
            <a:r>
              <a:rPr lang="en-US" dirty="0"/>
              <a:t>, d</a:t>
            </a:r>
            <a:r>
              <a:rPr lang="en-US" baseline="-25000" dirty="0"/>
              <a:t>1</a:t>
            </a:r>
            <a:r>
              <a:rPr lang="en-US" dirty="0"/>
              <a:t>.</a:t>
            </a:r>
          </a:p>
          <a:p>
            <a:pPr marL="285750" indent="-285750">
              <a:buFont typeface="Arial" pitchFamily="34" charset="0"/>
              <a:buChar char="•"/>
            </a:pPr>
            <a:r>
              <a:rPr lang="en-US" dirty="0"/>
              <a:t>For each clause </a:t>
            </a:r>
            <a:r>
              <a:rPr lang="en-US" dirty="0" err="1"/>
              <a:t>e</a:t>
            </a:r>
            <a:r>
              <a:rPr lang="en-US" baseline="-25000" dirty="0" err="1"/>
              <a:t>j</a:t>
            </a:r>
            <a:r>
              <a:rPr lang="en-US" dirty="0"/>
              <a:t>, we introduce another </a:t>
            </a:r>
            <a:r>
              <a:rPr lang="en-US" dirty="0" err="1"/>
              <a:t>subgraph</a:t>
            </a:r>
            <a:r>
              <a:rPr lang="en-US" dirty="0"/>
              <a:t> </a:t>
            </a:r>
            <a:r>
              <a:rPr lang="en-US" dirty="0" err="1"/>
              <a:t>I</a:t>
            </a:r>
            <a:r>
              <a:rPr lang="en-US" baseline="-25000" dirty="0" err="1"/>
              <a:t>j</a:t>
            </a:r>
            <a:r>
              <a:rPr lang="en-US" dirty="0"/>
              <a:t> shown in Fig. 6.12 (c). </a:t>
            </a:r>
            <a:r>
              <a:rPr lang="en-US" dirty="0" err="1"/>
              <a:t>Gaget</a:t>
            </a:r>
            <a:r>
              <a:rPr lang="en-US" dirty="0"/>
              <a:t> </a:t>
            </a:r>
            <a:r>
              <a:rPr lang="en-US" dirty="0" err="1"/>
              <a:t>I</a:t>
            </a:r>
            <a:r>
              <a:rPr lang="en-US" baseline="-25000" dirty="0" err="1"/>
              <a:t>j</a:t>
            </a:r>
            <a:r>
              <a:rPr lang="en-US" dirty="0"/>
              <a:t> has the properly that if a cycle </a:t>
            </a:r>
            <a:r>
              <a:rPr lang="en-US" dirty="0" err="1"/>
              <a:t>entres</a:t>
            </a:r>
            <a:r>
              <a:rPr lang="en-US" dirty="0"/>
              <a:t> at </a:t>
            </a:r>
            <a:r>
              <a:rPr lang="en-US" dirty="0" err="1"/>
              <a:t>r</a:t>
            </a:r>
            <a:r>
              <a:rPr lang="en-US" baseline="-25000" dirty="0" err="1"/>
              <a:t>j</a:t>
            </a:r>
            <a:r>
              <a:rPr lang="en-US" dirty="0"/>
              <a:t>, it must leave at </a:t>
            </a:r>
            <a:r>
              <a:rPr lang="en-US" dirty="0" err="1"/>
              <a:t>u</a:t>
            </a:r>
            <a:r>
              <a:rPr lang="en-US" baseline="-25000" dirty="0" err="1"/>
              <a:t>j</a:t>
            </a:r>
            <a:r>
              <a:rPr lang="en-US" dirty="0"/>
              <a:t>, if it enters at </a:t>
            </a:r>
            <a:r>
              <a:rPr lang="en-US" dirty="0" err="1"/>
              <a:t>s</a:t>
            </a:r>
            <a:r>
              <a:rPr lang="en-US" baseline="-25000" dirty="0" err="1"/>
              <a:t>j</a:t>
            </a:r>
            <a:r>
              <a:rPr lang="en-US" dirty="0"/>
              <a:t> it must leave at </a:t>
            </a:r>
            <a:r>
              <a:rPr lang="en-US" dirty="0" err="1"/>
              <a:t>v</a:t>
            </a:r>
            <a:r>
              <a:rPr lang="en-US" baseline="-25000" dirty="0" err="1"/>
              <a:t>j</a:t>
            </a:r>
            <a:r>
              <a:rPr lang="en-US" dirty="0"/>
              <a:t> and if it enters at </a:t>
            </a:r>
            <a:r>
              <a:rPr lang="en-US" dirty="0" err="1"/>
              <a:t>t</a:t>
            </a:r>
            <a:r>
              <a:rPr lang="en-US" baseline="-25000" dirty="0" err="1"/>
              <a:t>j</a:t>
            </a:r>
            <a:r>
              <a:rPr lang="en-US" dirty="0"/>
              <a:t> it must leave at </a:t>
            </a:r>
            <a:r>
              <a:rPr lang="en-US" dirty="0" err="1"/>
              <a:t>w</a:t>
            </a:r>
            <a:r>
              <a:rPr lang="en-US" baseline="-25000" dirty="0" err="1"/>
              <a:t>j</a:t>
            </a:r>
            <a:r>
              <a:rPr lang="en-US" dirty="0"/>
              <a:t>.</a:t>
            </a:r>
          </a:p>
        </p:txBody>
      </p:sp>
    </p:spTree>
    <p:extLst>
      <p:ext uri="{BB962C8B-B14F-4D97-AF65-F5344CB8AC3E}">
        <p14:creationId xmlns:p14="http://schemas.microsoft.com/office/powerpoint/2010/main" val="17141658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229600" cy="609600"/>
          </a:xfrm>
        </p:spPr>
        <p:txBody>
          <a:bodyPr>
            <a:normAutofit fontScale="90000"/>
          </a:bodyPr>
          <a:lstStyle/>
          <a:p>
            <a:r>
              <a:rPr lang="en-GB" sz="3100" b="1" cap="all" dirty="0"/>
              <a:t>6.13	Undirected Hamilton Circuits</a:t>
            </a:r>
            <a:br>
              <a:rPr lang="en-US" b="1" cap="all" dirty="0"/>
            </a:br>
            <a:endParaRPr lang="en-US" dirty="0"/>
          </a:p>
        </p:txBody>
      </p:sp>
      <p:sp>
        <p:nvSpPr>
          <p:cNvPr id="3" name="Content Placeholder 2"/>
          <p:cNvSpPr>
            <a:spLocks noGrp="1"/>
          </p:cNvSpPr>
          <p:nvPr>
            <p:ph sz="quarter" idx="13"/>
          </p:nvPr>
        </p:nvSpPr>
        <p:spPr>
          <a:xfrm>
            <a:off x="457200" y="914400"/>
            <a:ext cx="8229600" cy="5181600"/>
          </a:xfrm>
        </p:spPr>
        <p:txBody>
          <a:bodyPr>
            <a:normAutofit/>
          </a:bodyPr>
          <a:lstStyle/>
          <a:p>
            <a:r>
              <a:rPr lang="en-US" sz="1800" dirty="0"/>
              <a:t>Hamilton circuit is a special case of TSP, so it is also in NP. Here we must perform the reductions of DHC to HC and HC to TSP.</a:t>
            </a:r>
          </a:p>
          <a:p>
            <a:pPr lvl="1"/>
            <a:r>
              <a:rPr lang="en-US" sz="2000" b="1" dirty="0"/>
              <a:t>Problem : </a:t>
            </a:r>
            <a:r>
              <a:rPr lang="en-US" sz="2000" dirty="0"/>
              <a:t>Undirected Hamilton – circuit problem.</a:t>
            </a:r>
          </a:p>
          <a:p>
            <a:pPr lvl="1"/>
            <a:r>
              <a:rPr lang="en-US" sz="2000" dirty="0"/>
              <a:t>Input : An undirected graph G.</a:t>
            </a:r>
          </a:p>
          <a:p>
            <a:pPr lvl="1"/>
            <a:r>
              <a:rPr lang="en-US" sz="2000" dirty="0"/>
              <a:t>Output : "Yes" if an only if G has a HC.</a:t>
            </a:r>
          </a:p>
          <a:p>
            <a:pPr lvl="1"/>
            <a:r>
              <a:rPr lang="en-US" sz="2000" dirty="0"/>
              <a:t>Reduction Form : DHC</a:t>
            </a:r>
          </a:p>
          <a:p>
            <a:r>
              <a:rPr lang="en-US" sz="2000" b="1" dirty="0"/>
              <a:t>Theorem : </a:t>
            </a:r>
            <a:r>
              <a:rPr lang="en-US" sz="2000" dirty="0"/>
              <a:t>HC is NP complete.</a:t>
            </a:r>
          </a:p>
          <a:p>
            <a:r>
              <a:rPr lang="en-US" sz="2100" b="1" dirty="0"/>
              <a:t>Proof : </a:t>
            </a:r>
            <a:r>
              <a:rPr lang="en-US" sz="2100" dirty="0"/>
              <a:t>We reduce DHC to HC, on follows consider directed graph </a:t>
            </a:r>
            <a:r>
              <a:rPr lang="en-US" sz="2100" dirty="0" err="1"/>
              <a:t>G</a:t>
            </a:r>
            <a:r>
              <a:rPr lang="en-US" sz="2100" baseline="-25000" dirty="0" err="1"/>
              <a:t>d</a:t>
            </a:r>
            <a:r>
              <a:rPr lang="en-US" sz="2100" dirty="0"/>
              <a:t> and undirected graph </a:t>
            </a:r>
            <a:r>
              <a:rPr lang="en-US" sz="2100" dirty="0" err="1"/>
              <a:t>G</a:t>
            </a:r>
            <a:r>
              <a:rPr lang="en-US" sz="2100" baseline="-25000" dirty="0" err="1"/>
              <a:t>u</a:t>
            </a:r>
            <a:r>
              <a:rPr lang="en-US" sz="2100" dirty="0"/>
              <a:t>. For every node V of </a:t>
            </a:r>
            <a:r>
              <a:rPr lang="en-US" sz="2100" dirty="0" err="1"/>
              <a:t>G</a:t>
            </a:r>
            <a:r>
              <a:rPr lang="en-US" sz="2100" baseline="-25000" dirty="0" err="1"/>
              <a:t>d</a:t>
            </a:r>
            <a:r>
              <a:rPr lang="en-US" sz="2100" dirty="0"/>
              <a:t>, there are three nodes V</a:t>
            </a:r>
            <a:r>
              <a:rPr lang="en-US" sz="2100" baseline="-25000" dirty="0"/>
              <a:t>0</a:t>
            </a:r>
            <a:r>
              <a:rPr lang="en-US" sz="2100" dirty="0"/>
              <a:t>, V</a:t>
            </a:r>
            <a:r>
              <a:rPr lang="en-US" sz="2100" baseline="-25000" dirty="0"/>
              <a:t>1</a:t>
            </a:r>
            <a:r>
              <a:rPr lang="en-US" sz="2100" dirty="0"/>
              <a:t> and V</a:t>
            </a:r>
            <a:r>
              <a:rPr lang="en-US" sz="2100" baseline="-25000" dirty="0"/>
              <a:t>2</a:t>
            </a:r>
            <a:r>
              <a:rPr lang="en-US" sz="2100" dirty="0"/>
              <a:t> in </a:t>
            </a:r>
            <a:r>
              <a:rPr lang="en-US" sz="2100" dirty="0" err="1"/>
              <a:t>G</a:t>
            </a:r>
            <a:r>
              <a:rPr lang="en-US" sz="2100" baseline="-25000" dirty="0" err="1"/>
              <a:t>u</a:t>
            </a:r>
            <a:r>
              <a:rPr lang="en-US" sz="2100" dirty="0"/>
              <a:t>.</a:t>
            </a:r>
          </a:p>
          <a:p>
            <a:pPr lvl="1"/>
            <a:r>
              <a:rPr lang="en-US" sz="1700" dirty="0"/>
              <a:t>The edges of </a:t>
            </a:r>
            <a:r>
              <a:rPr lang="en-US" sz="1700" dirty="0" err="1"/>
              <a:t>G</a:t>
            </a:r>
            <a:r>
              <a:rPr lang="en-US" sz="1700" baseline="-25000" dirty="0" err="1"/>
              <a:t>u</a:t>
            </a:r>
            <a:r>
              <a:rPr lang="en-US" sz="1700" dirty="0"/>
              <a:t> are :</a:t>
            </a:r>
          </a:p>
          <a:p>
            <a:pPr marL="457200" lvl="1" indent="0">
              <a:buNone/>
            </a:pPr>
            <a:r>
              <a:rPr lang="en-US" sz="1700" dirty="0"/>
              <a:t>	1.For all nodes v of </a:t>
            </a:r>
            <a:r>
              <a:rPr lang="en-US" sz="1700" dirty="0" err="1"/>
              <a:t>G</a:t>
            </a:r>
            <a:r>
              <a:rPr lang="en-US" sz="1700" baseline="-25000" dirty="0" err="1"/>
              <a:t>d</a:t>
            </a:r>
            <a:r>
              <a:rPr lang="en-US" sz="1700" dirty="0"/>
              <a:t>, there are edges (v</a:t>
            </a:r>
            <a:r>
              <a:rPr lang="en-US" sz="1700" baseline="30000" dirty="0"/>
              <a:t>(a)</a:t>
            </a:r>
            <a:r>
              <a:rPr lang="en-US" sz="1700" dirty="0"/>
              <a:t>, v</a:t>
            </a:r>
            <a:r>
              <a:rPr lang="en-US" sz="1700" baseline="30000" dirty="0"/>
              <a:t>(1)</a:t>
            </a:r>
            <a:r>
              <a:rPr lang="en-US" sz="1700" dirty="0"/>
              <a:t>) and (v</a:t>
            </a:r>
            <a:r>
              <a:rPr lang="en-US" sz="1700" baseline="30000" dirty="0"/>
              <a:t>(1)</a:t>
            </a:r>
            <a:r>
              <a:rPr lang="en-US" sz="1700" dirty="0"/>
              <a:t>, v</a:t>
            </a:r>
            <a:r>
              <a:rPr lang="en-US" sz="1700" baseline="30000" dirty="0"/>
              <a:t>(2)</a:t>
            </a:r>
            <a:r>
              <a:rPr lang="en-US" sz="1700" dirty="0"/>
              <a:t>) in </a:t>
            </a:r>
            <a:r>
              <a:rPr lang="en-US" sz="1700" dirty="0" err="1"/>
              <a:t>G</a:t>
            </a:r>
            <a:r>
              <a:rPr lang="en-US" sz="1700" baseline="-25000" dirty="0" err="1"/>
              <a:t>u</a:t>
            </a:r>
            <a:r>
              <a:rPr lang="en-US" sz="1700" dirty="0"/>
              <a:t>.</a:t>
            </a:r>
          </a:p>
          <a:p>
            <a:pPr marL="457200" lvl="1" indent="0">
              <a:buNone/>
            </a:pPr>
            <a:r>
              <a:rPr lang="en-US" sz="1700" dirty="0"/>
              <a:t>	2.If there is an are v </a:t>
            </a:r>
            <a:r>
              <a:rPr lang="en-US" sz="1700" dirty="0">
                <a:sym typeface="Symbol"/>
              </a:rPr>
              <a:t></a:t>
            </a:r>
            <a:r>
              <a:rPr lang="en-US" sz="1700" dirty="0"/>
              <a:t> w in </a:t>
            </a:r>
            <a:r>
              <a:rPr lang="en-US" sz="1700" dirty="0" err="1"/>
              <a:t>G</a:t>
            </a:r>
            <a:r>
              <a:rPr lang="en-US" sz="1700" baseline="-25000" dirty="0" err="1"/>
              <a:t>d</a:t>
            </a:r>
            <a:r>
              <a:rPr lang="en-US" sz="1700" dirty="0"/>
              <a:t>, then there is an edge (v</a:t>
            </a:r>
            <a:r>
              <a:rPr lang="en-US" sz="1700" baseline="30000" dirty="0"/>
              <a:t>(2)</a:t>
            </a:r>
            <a:r>
              <a:rPr lang="en-US" sz="1700" dirty="0"/>
              <a:t>, w</a:t>
            </a:r>
            <a:r>
              <a:rPr lang="en-US" sz="1700" baseline="30000" dirty="0"/>
              <a:t>(0)</a:t>
            </a:r>
            <a:r>
              <a:rPr lang="en-US" sz="1700" dirty="0"/>
              <a:t>) in G</a:t>
            </a:r>
            <a:r>
              <a:rPr lang="en-US" sz="1700" baseline="-25000" dirty="0"/>
              <a:t>m</a:t>
            </a:r>
            <a:r>
              <a:rPr lang="en-US" sz="1700" dirty="0"/>
              <a:t>.</a:t>
            </a:r>
          </a:p>
          <a:p>
            <a:endParaRPr lang="en-US" sz="2100" dirty="0"/>
          </a:p>
          <a:p>
            <a:endParaRPr lang="en-U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828800"/>
            <a:ext cx="1295400"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9061268"/>
      </p:ext>
    </p:extLst>
  </p:cSld>
  <p:clrMapOvr>
    <a:masterClrMapping/>
  </p:clrMapOvr>
</p:sld>
</file>

<file path=ppt/theme/theme1.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104</TotalTime>
  <Words>3622</Words>
  <Application>Microsoft Office PowerPoint</Application>
  <PresentationFormat>On-screen Show (4:3)</PresentationFormat>
  <Paragraphs>517</Paragraphs>
  <Slides>35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Calibri</vt:lpstr>
      <vt:lpstr>Georgia</vt:lpstr>
      <vt:lpstr>Segoe UI</vt:lpstr>
      <vt:lpstr>Symbol</vt:lpstr>
      <vt:lpstr>Times New Roman</vt:lpstr>
      <vt:lpstr>Trebuchet MS</vt:lpstr>
      <vt:lpstr>Slipstream</vt:lpstr>
      <vt:lpstr>tractable and intractable </vt:lpstr>
      <vt:lpstr>Sessions </vt:lpstr>
      <vt:lpstr>PowerPoint Presentation</vt:lpstr>
      <vt:lpstr>6.1 Introduction  </vt:lpstr>
      <vt:lpstr>6.2 The classes P and NP </vt:lpstr>
      <vt:lpstr>6.2.2  An example : Kruskal's Algorithm </vt:lpstr>
      <vt:lpstr>Algorithm / Outline of Kruskal's Algorithm </vt:lpstr>
      <vt:lpstr>PowerPoint Presentation</vt:lpstr>
      <vt:lpstr>PowerPoint Presentation</vt:lpstr>
      <vt:lpstr>PowerPoint Presentation</vt:lpstr>
      <vt:lpstr>PowerPoint Presentation</vt:lpstr>
      <vt:lpstr>PowerPoint Presentation</vt:lpstr>
      <vt:lpstr>6.3 Non-deterministic Polynomial Time </vt:lpstr>
      <vt:lpstr>PowerPoint Presentation</vt:lpstr>
      <vt:lpstr>6.4 Polynomial Time Reductions  </vt:lpstr>
      <vt:lpstr>6.5 NP Complete Problems </vt:lpstr>
      <vt:lpstr>PowerPoint Presentation</vt:lpstr>
      <vt:lpstr>6.6 An NP complete problem  </vt:lpstr>
      <vt:lpstr>PowerPoint Presentation</vt:lpstr>
      <vt:lpstr>6.7 Representing SAT Instances  </vt:lpstr>
      <vt:lpstr>6.8 NP Completeness of the SAT Problem [Cook's    Theorem] </vt:lpstr>
      <vt:lpstr>PowerPoint Presentation</vt:lpstr>
      <vt:lpstr>6.9 A Restricted Satisfiability Problem </vt:lpstr>
      <vt:lpstr>PowerPoint Presentation</vt:lpstr>
      <vt:lpstr>6.9.2   Converting Expression to CNF  </vt:lpstr>
      <vt:lpstr>PowerPoint Presentation</vt:lpstr>
      <vt:lpstr>6.9.3   Reduction of SAT to CSAT Process </vt:lpstr>
      <vt:lpstr>PowerPoint Presentation</vt:lpstr>
      <vt:lpstr>6.10 The Problem of Independent Sets </vt:lpstr>
      <vt:lpstr>PowerPoint Presentation</vt:lpstr>
      <vt:lpstr>PowerPoint Presentation</vt:lpstr>
      <vt:lpstr>6.11The Node Cover Problem  </vt:lpstr>
      <vt:lpstr>6.12The Directed Hamilton-Circuit Problem</vt:lpstr>
      <vt:lpstr>PowerPoint Presentation</vt:lpstr>
      <vt:lpstr>6.13 Undirected Hamilton Circuits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tractable and intractable</dc:title>
  <dc:creator>Administrator</dc:creator>
  <cp:lastModifiedBy>LaxmiChaitanya Bhosale</cp:lastModifiedBy>
  <cp:revision>18</cp:revision>
  <dcterms:created xsi:type="dcterms:W3CDTF">2015-06-03T05:13:36Z</dcterms:created>
  <dcterms:modified xsi:type="dcterms:W3CDTF">2020-12-07T07:18:55Z</dcterms:modified>
</cp:coreProperties>
</file>